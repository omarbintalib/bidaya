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image/jpeg" Extension="jp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1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63" r:id="rId13"/>
    <p:sldId id="266" r:id="rId16"/>
    <p:sldId id="282" r:id="rId32"/>
    <p:sldId id="288" r:id="rId51"/>
    <p:sldId id="289" r:id="rId52"/>
    <p:sldId id="280" r:id="rId30"/>
    <p:sldId id="291" r:id="rId54"/>
    <p:sldId id="292" r:id="rId55"/>
    <p:sldId id="279" r:id="rId29"/>
    <p:sldId id="294" r:id="rId57"/>
    <p:sldId id="276" r:id="rId26"/>
    <p:sldId id="272" r:id="rId22"/>
    <p:sldId id="270" r:id="rId20"/>
    <p:sldId id="293" r:id="rId56"/>
    <p:sldId id="290" r:id="rId53"/>
    <p:sldId id="273" r:id="rId23"/>
    <p:sldId id="274" r:id="rId24"/>
    <p:sldId id="286" r:id="rId36"/>
  </p:sldIdLst>
  <p:sldSz cy="10287000" cx="18288000"/>
  <p:notesSz cx="6858000" cy="9144000"/>
  <p:embeddedFontLst>
    <p:embeddedFont>
      <p:font typeface="Urbanist"/>
      <p:regular r:id="rId37"/>
      <p:bold r:id="rId38"/>
      <p:italic r:id="rId39"/>
      <p:boldItalic r:id="rId40"/>
    </p:embeddedFont>
    <p:embeddedFont>
      <p:font typeface="Readex Pro Medium"/>
      <p:regular r:id="rId41"/>
      <p:bold r:id="rId42"/>
    </p:embeddedFont>
    <p:embeddedFont>
      <p:font typeface="Readex Pro SemiBold"/>
      <p:regular r:id="rId43"/>
      <p:bold r:id="rId44"/>
    </p:embeddedFont>
    <p:embeddedFont>
      <p:font typeface="Readex Pro"/>
      <p:regular r:id="rId45"/>
      <p:bold r:id="rId46"/>
    </p:embeddedFont>
    <p:embeddedFont>
      <p:font typeface="Readex Pro Light"/>
      <p:regular r:id="rId47"/>
      <p:bold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9" roundtripDataSignature="AMtx7mh1GeQrG1kO//gaBT9ZQp796F1r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8ED9858-D163-4338-9E88-1F424354888F}">
  <a:tblStyle styleId="{B8ED9858-D163-4338-9E88-1F424354888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?><Relationships xmlns="http://schemas.openxmlformats.org/package/2006/relationships"><Relationship Id="rId40" Type="http://schemas.openxmlformats.org/officeDocument/2006/relationships/font" Target="fonts/Urbanist-boldItalic.fntdata"/><Relationship Id="rId42" Type="http://schemas.openxmlformats.org/officeDocument/2006/relationships/font" Target="fonts/ReadexProMedium-bold.fntdata"/><Relationship Id="rId41" Type="http://schemas.openxmlformats.org/officeDocument/2006/relationships/font" Target="fonts/ReadexProMedium-regular.fntdata"/><Relationship Id="rId44" Type="http://schemas.openxmlformats.org/officeDocument/2006/relationships/font" Target="fonts/ReadexProSemiBold-bold.fntdata"/><Relationship Id="rId43" Type="http://schemas.openxmlformats.org/officeDocument/2006/relationships/font" Target="fonts/ReadexProSemiBold-regular.fntdata"/><Relationship Id="rId46" Type="http://schemas.openxmlformats.org/officeDocument/2006/relationships/font" Target="fonts/ReadexPro-bold.fntdata"/><Relationship Id="rId45" Type="http://schemas.openxmlformats.org/officeDocument/2006/relationships/font" Target="fonts/ReadexPr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48" Type="http://schemas.openxmlformats.org/officeDocument/2006/relationships/font" Target="fonts/ReadexProLight-bold.fntdata"/><Relationship Id="rId47" Type="http://schemas.openxmlformats.org/officeDocument/2006/relationships/font" Target="fonts/ReadexProLight-regular.fntdata"/><Relationship Id="rId49" Type="http://customschemas.google.com/relationships/presentationmetadata" Target="metadata"/><Relationship Id="rId5" Type="http://schemas.openxmlformats.org/officeDocument/2006/relationships/notesMaster" Target="notesMasters/notesMaster1.xml"/><Relationship Id="rId30" Type="http://schemas.openxmlformats.org/officeDocument/2006/relationships/slide" Target="slides/slide25.xml"/><Relationship Id="rId32" Type="http://schemas.openxmlformats.org/officeDocument/2006/relationships/slide" Target="slides/slide27.xml"/><Relationship Id="rId37" Type="http://schemas.openxmlformats.org/officeDocument/2006/relationships/font" Target="fonts/Urbanist-regular.fntdata"/><Relationship Id="rId36" Type="http://schemas.openxmlformats.org/officeDocument/2006/relationships/slide" Target="slides/slide31.xml"/><Relationship Id="rId39" Type="http://schemas.openxmlformats.org/officeDocument/2006/relationships/font" Target="fonts/Urbanist-italic.fntdata"/><Relationship Id="rId38" Type="http://schemas.openxmlformats.org/officeDocument/2006/relationships/font" Target="fonts/Urbanist-bold.fntdata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9" Type="http://schemas.openxmlformats.org/officeDocument/2006/relationships/slide" Target="slides/slide24.xml"/><Relationship Id="rId13" Type="http://schemas.openxmlformats.org/officeDocument/2006/relationships/slide" Target="slides/slide8.xml"/><Relationship Id="rId16" Type="http://schemas.openxmlformats.org/officeDocument/2006/relationships/slide" Target="slides/slide11.xml"/>  
  <Relationship Id="rId51" Type="http://schemas.openxmlformats.org/officeDocument/2006/relationships/slide" Target="slides/slide33.xml"/>
  <Relationship Id="rId52" Type="http://schemas.openxmlformats.org/officeDocument/2006/relationships/slide" Target="slides/slide34.xml"/>
  <Relationship Id="rId53" Type="http://schemas.openxmlformats.org/officeDocument/2006/relationships/slide" Target="slides/slide35.xml"/>
  <Relationship Id="rId54" Type="http://schemas.openxmlformats.org/officeDocument/2006/relationships/slide" Target="slides/slide36.xml"/>
  <Relationship Id="rId55" Type="http://schemas.openxmlformats.org/officeDocument/2006/relationships/slide" Target="slides/slide37.xml"/>
  <Relationship Id="rId56" Type="http://schemas.openxmlformats.org/officeDocument/2006/relationships/slide" Target="slides/slide38.xml"/>
  <Relationship Id="rId57" Type="http://schemas.openxmlformats.org/officeDocument/2006/relationships/slide" Target="slides/slide39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1" name="Google Shape;481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482" name="Google Shape;482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33" name="Google Shape;533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34" name="Google Shape;534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98" name="Google Shape;598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599" name="Google Shape;599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34" name="Google Shape;634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35" name="Google Shape;635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47" name="Google Shape;647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48" name="Google Shape;648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83" name="Google Shape;683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684" name="Google Shape;684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2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25" name="Google Shape;725;p2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726" name="Google Shape;726;p2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2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14" name="Google Shape;814;p2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15" name="Google Shape;815;p2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7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Google Shape;828;p2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9" name="Google Shape;829;p2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30" name="Google Shape;830;p2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p2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5" name="Google Shape;855;p2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856" name="Google Shape;856;p2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1" name="Google Shape;911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200"/>
              <a:t/>
            </a:r>
            <a:endParaRPr/>
          </a:p>
        </p:txBody>
      </p:sp>
      <p:sp>
        <p:nvSpPr>
          <p:cNvPr id="912" name="Google Shape;912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غلاف المشروع">
  <p:cSld name="غلاف المشروع">
    <p:bg>
      <p:bgPr>
        <a:solidFill>
          <a:srgbClr val="12183F"/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876872"/>
            <a:ext cx="6572250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4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8" y="3190875"/>
            <a:ext cx="6701734" cy="61912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4"/>
          <p:cNvSpPr txBox="1"/>
          <p:nvPr>
            <p:ph type="title"/>
          </p:nvPr>
        </p:nvSpPr>
        <p:spPr>
          <a:xfrm>
            <a:off x="8096250" y="3524250"/>
            <a:ext cx="904875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" name="Google Shape;17;p34"/>
          <p:cNvSpPr txBox="1"/>
          <p:nvPr>
            <p:ph idx="1" type="body"/>
          </p:nvPr>
        </p:nvSpPr>
        <p:spPr>
          <a:xfrm>
            <a:off x="8096250" y="5334000"/>
            <a:ext cx="9048750" cy="161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" name="Google Shape;18;p34"/>
          <p:cNvSpPr txBox="1"/>
          <p:nvPr>
            <p:ph idx="2" type="body"/>
          </p:nvPr>
        </p:nvSpPr>
        <p:spPr>
          <a:xfrm>
            <a:off x="8953500" y="7762875"/>
            <a:ext cx="81915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" name="Google Shape;19;p34"/>
          <p:cNvSpPr txBox="1"/>
          <p:nvPr>
            <p:ph idx="3" type="body"/>
          </p:nvPr>
        </p:nvSpPr>
        <p:spPr>
          <a:xfrm>
            <a:off x="1066800" y="9391650"/>
            <a:ext cx="54292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حتويات العرض">
  <p:cSld name="محتويات العرض">
    <p:bg>
      <p:bgPr>
        <a:solidFill>
          <a:srgbClr val="12183F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3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" name="Google Shape;24;p3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" name="Google Shape;25;p3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" name="Google Shape;26;p3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5"/>
          <p:cNvSpPr txBox="1"/>
          <p:nvPr>
            <p:ph idx="2" type="body"/>
          </p:nvPr>
        </p:nvSpPr>
        <p:spPr>
          <a:xfrm>
            <a:off x="12382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" name="Google Shape;28;p35"/>
          <p:cNvSpPr txBox="1"/>
          <p:nvPr>
            <p:ph idx="3" type="body"/>
          </p:nvPr>
        </p:nvSpPr>
        <p:spPr>
          <a:xfrm>
            <a:off x="12382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" name="Google Shape;29;p35"/>
          <p:cNvSpPr txBox="1"/>
          <p:nvPr>
            <p:ph idx="4" type="body"/>
          </p:nvPr>
        </p:nvSpPr>
        <p:spPr>
          <a:xfrm>
            <a:off x="12382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0" name="Google Shape;30;p35"/>
          <p:cNvSpPr txBox="1"/>
          <p:nvPr>
            <p:ph idx="5" type="body"/>
          </p:nvPr>
        </p:nvSpPr>
        <p:spPr>
          <a:xfrm>
            <a:off x="7048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" name="Google Shape;31;p35"/>
          <p:cNvSpPr txBox="1"/>
          <p:nvPr>
            <p:ph idx="6" type="body"/>
          </p:nvPr>
        </p:nvSpPr>
        <p:spPr>
          <a:xfrm>
            <a:off x="7048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2" name="Google Shape;32;p35"/>
          <p:cNvSpPr txBox="1"/>
          <p:nvPr>
            <p:ph idx="7" type="body"/>
          </p:nvPr>
        </p:nvSpPr>
        <p:spPr>
          <a:xfrm>
            <a:off x="7048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3" name="Google Shape;33;p35"/>
          <p:cNvSpPr txBox="1"/>
          <p:nvPr>
            <p:ph idx="8" type="body"/>
          </p:nvPr>
        </p:nvSpPr>
        <p:spPr>
          <a:xfrm>
            <a:off x="1714500" y="3857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4" name="Google Shape;34;p35"/>
          <p:cNvSpPr txBox="1"/>
          <p:nvPr>
            <p:ph idx="9" type="body"/>
          </p:nvPr>
        </p:nvSpPr>
        <p:spPr>
          <a:xfrm>
            <a:off x="1714500" y="4724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5" name="Google Shape;35;p35"/>
          <p:cNvSpPr txBox="1"/>
          <p:nvPr>
            <p:ph idx="13" type="body"/>
          </p:nvPr>
        </p:nvSpPr>
        <p:spPr>
          <a:xfrm>
            <a:off x="1714500" y="5419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6" name="Google Shape;36;p35"/>
          <p:cNvSpPr txBox="1"/>
          <p:nvPr>
            <p:ph idx="14" type="body"/>
          </p:nvPr>
        </p:nvSpPr>
        <p:spPr>
          <a:xfrm>
            <a:off x="12382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7" name="Google Shape;37;p35"/>
          <p:cNvSpPr txBox="1"/>
          <p:nvPr>
            <p:ph idx="15" type="body"/>
          </p:nvPr>
        </p:nvSpPr>
        <p:spPr>
          <a:xfrm>
            <a:off x="12382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8" name="Google Shape;38;p35"/>
          <p:cNvSpPr txBox="1"/>
          <p:nvPr>
            <p:ph idx="16" type="body"/>
          </p:nvPr>
        </p:nvSpPr>
        <p:spPr>
          <a:xfrm>
            <a:off x="12382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9" name="Google Shape;39;p35"/>
          <p:cNvSpPr txBox="1"/>
          <p:nvPr>
            <p:ph idx="17" type="body"/>
          </p:nvPr>
        </p:nvSpPr>
        <p:spPr>
          <a:xfrm>
            <a:off x="7048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0" name="Google Shape;40;p35"/>
          <p:cNvSpPr txBox="1"/>
          <p:nvPr>
            <p:ph idx="18" type="body"/>
          </p:nvPr>
        </p:nvSpPr>
        <p:spPr>
          <a:xfrm>
            <a:off x="7048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1" name="Google Shape;41;p35"/>
          <p:cNvSpPr txBox="1"/>
          <p:nvPr>
            <p:ph idx="19" type="body"/>
          </p:nvPr>
        </p:nvSpPr>
        <p:spPr>
          <a:xfrm>
            <a:off x="7048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2" name="Google Shape;42;p35"/>
          <p:cNvSpPr txBox="1"/>
          <p:nvPr>
            <p:ph idx="20" type="body"/>
          </p:nvPr>
        </p:nvSpPr>
        <p:spPr>
          <a:xfrm>
            <a:off x="1714500" y="6524625"/>
            <a:ext cx="4476750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3" name="Google Shape;43;p35"/>
          <p:cNvSpPr txBox="1"/>
          <p:nvPr>
            <p:ph idx="21" type="body"/>
          </p:nvPr>
        </p:nvSpPr>
        <p:spPr>
          <a:xfrm>
            <a:off x="1714500" y="7391400"/>
            <a:ext cx="44767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4" name="Google Shape;44;p35"/>
          <p:cNvSpPr txBox="1"/>
          <p:nvPr>
            <p:ph idx="22" type="body"/>
          </p:nvPr>
        </p:nvSpPr>
        <p:spPr>
          <a:xfrm>
            <a:off x="1714500" y="8086725"/>
            <a:ext cx="4476750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صل قسم">
  <p:cSld name="فاصل قسم">
    <p:bg>
      <p:bgPr>
        <a:solidFill>
          <a:srgbClr val="12183F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87391"/>
            <a:ext cx="4000500" cy="102551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48;p36"/>
          <p:cNvSpPr txBox="1"/>
          <p:nvPr>
            <p:ph idx="1" type="body"/>
          </p:nvPr>
        </p:nvSpPr>
        <p:spPr>
          <a:xfrm>
            <a:off x="13430250" y="3143250"/>
            <a:ext cx="361950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49" name="Google Shape;49;p36"/>
          <p:cNvSpPr txBox="1"/>
          <p:nvPr>
            <p:ph type="title"/>
          </p:nvPr>
        </p:nvSpPr>
        <p:spPr>
          <a:xfrm>
            <a:off x="4953000" y="4810125"/>
            <a:ext cx="12096750" cy="1238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0" name="Google Shape;50;p36"/>
          <p:cNvSpPr txBox="1"/>
          <p:nvPr>
            <p:ph idx="2" type="body"/>
          </p:nvPr>
        </p:nvSpPr>
        <p:spPr>
          <a:xfrm>
            <a:off x="6667500" y="6572250"/>
            <a:ext cx="10382250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">
  <p:cSld name="أربع نقاط">
    <p:bg>
      <p:bgPr>
        <a:solidFill>
          <a:srgbClr val="12183F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Google Shape;52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" name="Google Shape;53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3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5" name="Google Shape;55;p3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6" name="Google Shape;56;p3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57" name="Google Shape;57;p3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58" name="Google Shape;58;p3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37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0" name="Google Shape;60;p37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1" name="Google Shape;61;p37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2" name="Google Shape;62;p37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3" name="Google Shape;63;p37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4" name="Google Shape;64;p37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5" name="Google Shape;65;p37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66" name="Google Shape;66;p37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رئيسي">
  <p:cSld name="نص رئيسي">
    <p:bg>
      <p:bgPr>
        <a:solidFill>
          <a:srgbClr val="12183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3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1" name="Google Shape;71;p3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2" name="Google Shape;72;p3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73" name="Google Shape;73;p3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8"/>
          <p:cNvSpPr txBox="1"/>
          <p:nvPr>
            <p:ph idx="2" type="body"/>
          </p:nvPr>
        </p:nvSpPr>
        <p:spPr>
          <a:xfrm>
            <a:off x="6191250" y="4000500"/>
            <a:ext cx="1095375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5" name="Google Shape;75;p38"/>
          <p:cNvSpPr txBox="1"/>
          <p:nvPr>
            <p:ph idx="3" type="body"/>
          </p:nvPr>
        </p:nvSpPr>
        <p:spPr>
          <a:xfrm>
            <a:off x="6191250" y="7239000"/>
            <a:ext cx="1095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76" name="Google Shape;76;p38"/>
          <p:cNvSpPr txBox="1"/>
          <p:nvPr>
            <p:ph idx="4" type="body"/>
          </p:nvPr>
        </p:nvSpPr>
        <p:spPr>
          <a:xfrm>
            <a:off x="6191250" y="8001000"/>
            <a:ext cx="1095375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عريضة">
  <p:cSld name="نص وصورة عريضة">
    <p:bg>
      <p:bgPr>
        <a:solidFill>
          <a:srgbClr val="12183F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3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1" name="Google Shape;81;p3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2" name="Google Shape;82;p3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83" name="Google Shape;83;p3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39"/>
          <p:cNvSpPr/>
          <p:nvPr>
            <p:ph idx="2" type="pic"/>
          </p:nvPr>
        </p:nvSpPr>
        <p:spPr>
          <a:xfrm>
            <a:off x="1428750" y="4048125"/>
            <a:ext cx="8382000" cy="4714875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p39"/>
          <p:cNvSpPr txBox="1"/>
          <p:nvPr>
            <p:ph idx="3" type="body"/>
          </p:nvPr>
        </p:nvSpPr>
        <p:spPr>
          <a:xfrm>
            <a:off x="10763250" y="409575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6" name="Google Shape;86;p39"/>
          <p:cNvSpPr txBox="1"/>
          <p:nvPr>
            <p:ph idx="4" type="body"/>
          </p:nvPr>
        </p:nvSpPr>
        <p:spPr>
          <a:xfrm>
            <a:off x="10763250" y="480060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7" name="Google Shape;87;p39"/>
          <p:cNvSpPr txBox="1"/>
          <p:nvPr>
            <p:ph idx="5" type="body"/>
          </p:nvPr>
        </p:nvSpPr>
        <p:spPr>
          <a:xfrm>
            <a:off x="10763250" y="6667500"/>
            <a:ext cx="6381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88" name="Google Shape;88;p39"/>
          <p:cNvSpPr txBox="1"/>
          <p:nvPr>
            <p:ph idx="6" type="body"/>
          </p:nvPr>
        </p:nvSpPr>
        <p:spPr>
          <a:xfrm>
            <a:off x="10763250" y="7372350"/>
            <a:ext cx="6381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نص وصورة مربعة">
  <p:cSld name="نص وصورة مربعة">
    <p:bg>
      <p:bgPr>
        <a:solidFill>
          <a:srgbClr val="12183F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4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3" name="Google Shape;93;p4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4" name="Google Shape;94;p4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95" name="Google Shape;95;p4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0"/>
          <p:cNvSpPr/>
          <p:nvPr>
            <p:ph idx="2" type="pic"/>
          </p:nvPr>
        </p:nvSpPr>
        <p:spPr>
          <a:xfrm>
            <a:off x="2190750" y="3476625"/>
            <a:ext cx="5715000" cy="571500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" name="Google Shape;97;p40"/>
          <p:cNvSpPr txBox="1"/>
          <p:nvPr>
            <p:ph idx="3" type="body"/>
          </p:nvPr>
        </p:nvSpPr>
        <p:spPr>
          <a:xfrm>
            <a:off x="10001250" y="3905250"/>
            <a:ext cx="71437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8" name="Google Shape;98;p40"/>
          <p:cNvSpPr txBox="1"/>
          <p:nvPr>
            <p:ph idx="4" type="body"/>
          </p:nvPr>
        </p:nvSpPr>
        <p:spPr>
          <a:xfrm>
            <a:off x="10001250" y="5191125"/>
            <a:ext cx="7143750" cy="2428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99" name="Google Shape;99;p40"/>
          <p:cNvSpPr txBox="1"/>
          <p:nvPr>
            <p:ph idx="5" type="body"/>
          </p:nvPr>
        </p:nvSpPr>
        <p:spPr>
          <a:xfrm>
            <a:off x="10001250" y="8048625"/>
            <a:ext cx="71437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ؤشرات">
  <p:cSld name="مؤشرات">
    <p:bg>
      <p:bgPr>
        <a:solidFill>
          <a:srgbClr val="12183F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41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4" name="Google Shape;104;p41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5" name="Google Shape;105;p41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6" name="Google Shape;106;p4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07" name="Google Shape;107;p4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41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09" name="Google Shape;109;p41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0" name="Google Shape;110;p41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1" name="Google Shape;111;p41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2" name="Google Shape;112;p41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3" name="Google Shape;113;p41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4" name="Google Shape;114;p41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5" name="Google Shape;115;p41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6" name="Google Shape;116;p41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7" name="Google Shape;117;p41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8" name="Google Shape;118;p41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19" name="Google Shape;119;p41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0" name="Google Shape;120;p41"/>
          <p:cNvSpPr txBox="1"/>
          <p:nvPr>
            <p:ph idx="18" type="body"/>
          </p:nvPr>
        </p:nvSpPr>
        <p:spPr>
          <a:xfrm>
            <a:off x="1714500" y="8763000"/>
            <a:ext cx="154305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رسالة رئيسية">
  <p:cSld name="رسالة رئيسية">
    <p:bg>
      <p:bgPr>
        <a:solidFill>
          <a:srgbClr val="F2F4FF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9873" y="685800"/>
            <a:ext cx="3994355" cy="123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25" name="Google Shape;125;p4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42"/>
          <p:cNvSpPr txBox="1"/>
          <p:nvPr>
            <p:ph type="title"/>
          </p:nvPr>
        </p:nvSpPr>
        <p:spPr>
          <a:xfrm>
            <a:off x="2476500" y="3143250"/>
            <a:ext cx="1333500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7" name="Google Shape;127;p42"/>
          <p:cNvSpPr txBox="1"/>
          <p:nvPr>
            <p:ph idx="1" type="body"/>
          </p:nvPr>
        </p:nvSpPr>
        <p:spPr>
          <a:xfrm>
            <a:off x="3333750" y="6905625"/>
            <a:ext cx="11620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28" name="Google Shape;128;p42"/>
          <p:cNvSpPr txBox="1"/>
          <p:nvPr>
            <p:ph idx="2" type="body"/>
          </p:nvPr>
        </p:nvSpPr>
        <p:spPr>
          <a:xfrm>
            <a:off x="3333750" y="8239125"/>
            <a:ext cx="11620500" cy="523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داكن">
  <p:cSld name="جدول داكن">
    <p:bg>
      <p:bgPr>
        <a:solidFill>
          <a:srgbClr val="12183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4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4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3" name="Google Shape;133;p4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4" name="Google Shape;134;p4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5" name="Google Shape;135;p4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36" name="Google Shape;136;p4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43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38" name="Google Shape;138;p43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ط زمني">
  <p:cSld name="خط زمني">
    <p:bg>
      <p:bgPr>
        <a:solidFill>
          <a:srgbClr val="12183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4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44"/>
          <p:cNvSpPr/>
          <p:nvPr/>
        </p:nvSpPr>
        <p:spPr>
          <a:xfrm>
            <a:off x="14287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44"/>
          <p:cNvSpPr/>
          <p:nvPr/>
        </p:nvSpPr>
        <p:spPr>
          <a:xfrm>
            <a:off x="111442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44"/>
          <p:cNvSpPr/>
          <p:nvPr/>
        </p:nvSpPr>
        <p:spPr>
          <a:xfrm>
            <a:off x="80010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44"/>
          <p:cNvSpPr/>
          <p:nvPr/>
        </p:nvSpPr>
        <p:spPr>
          <a:xfrm>
            <a:off x="485775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44"/>
          <p:cNvSpPr/>
          <p:nvPr/>
        </p:nvSpPr>
        <p:spPr>
          <a:xfrm>
            <a:off x="1714500" y="4667250"/>
            <a:ext cx="2857500" cy="47625"/>
          </a:xfrm>
          <a:prstGeom prst="rect">
            <a:avLst/>
          </a:prstGeom>
          <a:solidFill>
            <a:srgbClr val="6150EA"/>
          </a:solidFill>
          <a:ln cap="flat" cmpd="sng" w="11425">
            <a:solidFill>
              <a:srgbClr val="6150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8" name="Google Shape;148;p4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49" name="Google Shape;149;p4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0" name="Google Shape;150;p4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51" name="Google Shape;151;p4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44"/>
          <p:cNvSpPr txBox="1"/>
          <p:nvPr>
            <p:ph idx="3" type="body"/>
          </p:nvPr>
        </p:nvSpPr>
        <p:spPr>
          <a:xfrm>
            <a:off x="14287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3" name="Google Shape;153;p44"/>
          <p:cNvSpPr txBox="1"/>
          <p:nvPr>
            <p:ph idx="4" type="body"/>
          </p:nvPr>
        </p:nvSpPr>
        <p:spPr>
          <a:xfrm>
            <a:off x="14287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4" name="Google Shape;154;p44"/>
          <p:cNvSpPr txBox="1"/>
          <p:nvPr>
            <p:ph idx="5" type="body"/>
          </p:nvPr>
        </p:nvSpPr>
        <p:spPr>
          <a:xfrm>
            <a:off x="14287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5" name="Google Shape;155;p44"/>
          <p:cNvSpPr txBox="1"/>
          <p:nvPr>
            <p:ph idx="6" type="body"/>
          </p:nvPr>
        </p:nvSpPr>
        <p:spPr>
          <a:xfrm>
            <a:off x="14287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6" name="Google Shape;156;p44"/>
          <p:cNvSpPr txBox="1"/>
          <p:nvPr>
            <p:ph idx="7" type="body"/>
          </p:nvPr>
        </p:nvSpPr>
        <p:spPr>
          <a:xfrm>
            <a:off x="111442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7" name="Google Shape;157;p44"/>
          <p:cNvSpPr txBox="1"/>
          <p:nvPr>
            <p:ph idx="8" type="body"/>
          </p:nvPr>
        </p:nvSpPr>
        <p:spPr>
          <a:xfrm>
            <a:off x="111442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8" name="Google Shape;158;p44"/>
          <p:cNvSpPr txBox="1"/>
          <p:nvPr>
            <p:ph idx="9" type="body"/>
          </p:nvPr>
        </p:nvSpPr>
        <p:spPr>
          <a:xfrm>
            <a:off x="111442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59" name="Google Shape;159;p44"/>
          <p:cNvSpPr txBox="1"/>
          <p:nvPr>
            <p:ph idx="13" type="body"/>
          </p:nvPr>
        </p:nvSpPr>
        <p:spPr>
          <a:xfrm>
            <a:off x="111442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0" name="Google Shape;160;p44"/>
          <p:cNvSpPr txBox="1"/>
          <p:nvPr>
            <p:ph idx="14" type="body"/>
          </p:nvPr>
        </p:nvSpPr>
        <p:spPr>
          <a:xfrm>
            <a:off x="80010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1" name="Google Shape;161;p44"/>
          <p:cNvSpPr txBox="1"/>
          <p:nvPr>
            <p:ph idx="15" type="body"/>
          </p:nvPr>
        </p:nvSpPr>
        <p:spPr>
          <a:xfrm>
            <a:off x="80010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2" name="Google Shape;162;p44"/>
          <p:cNvSpPr txBox="1"/>
          <p:nvPr>
            <p:ph idx="16" type="body"/>
          </p:nvPr>
        </p:nvSpPr>
        <p:spPr>
          <a:xfrm>
            <a:off x="80010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3" name="Google Shape;163;p44"/>
          <p:cNvSpPr txBox="1"/>
          <p:nvPr>
            <p:ph idx="17" type="body"/>
          </p:nvPr>
        </p:nvSpPr>
        <p:spPr>
          <a:xfrm>
            <a:off x="80010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4" name="Google Shape;164;p44"/>
          <p:cNvSpPr txBox="1"/>
          <p:nvPr>
            <p:ph idx="18" type="body"/>
          </p:nvPr>
        </p:nvSpPr>
        <p:spPr>
          <a:xfrm>
            <a:off x="48577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5" name="Google Shape;165;p44"/>
          <p:cNvSpPr txBox="1"/>
          <p:nvPr>
            <p:ph idx="19" type="body"/>
          </p:nvPr>
        </p:nvSpPr>
        <p:spPr>
          <a:xfrm>
            <a:off x="485775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6" name="Google Shape;166;p44"/>
          <p:cNvSpPr txBox="1"/>
          <p:nvPr>
            <p:ph idx="20" type="body"/>
          </p:nvPr>
        </p:nvSpPr>
        <p:spPr>
          <a:xfrm>
            <a:off x="48577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7" name="Google Shape;167;p44"/>
          <p:cNvSpPr txBox="1"/>
          <p:nvPr>
            <p:ph idx="21" type="body"/>
          </p:nvPr>
        </p:nvSpPr>
        <p:spPr>
          <a:xfrm>
            <a:off x="485775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8" name="Google Shape;168;p44"/>
          <p:cNvSpPr txBox="1"/>
          <p:nvPr>
            <p:ph idx="22" type="body"/>
          </p:nvPr>
        </p:nvSpPr>
        <p:spPr>
          <a:xfrm>
            <a:off x="17145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69" name="Google Shape;169;p44"/>
          <p:cNvSpPr txBox="1"/>
          <p:nvPr>
            <p:ph idx="23" type="body"/>
          </p:nvPr>
        </p:nvSpPr>
        <p:spPr>
          <a:xfrm>
            <a:off x="1714500" y="5238750"/>
            <a:ext cx="2857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24" type="body"/>
          </p:nvPr>
        </p:nvSpPr>
        <p:spPr>
          <a:xfrm>
            <a:off x="17145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1" name="Google Shape;171;p44"/>
          <p:cNvSpPr txBox="1"/>
          <p:nvPr>
            <p:ph idx="25" type="body"/>
          </p:nvPr>
        </p:nvSpPr>
        <p:spPr>
          <a:xfrm>
            <a:off x="1714500" y="7000875"/>
            <a:ext cx="2857500" cy="1095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ريق العمل">
  <p:cSld name="فريق العمل">
    <p:bg>
      <p:bgPr>
        <a:solidFill>
          <a:srgbClr val="12183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Google Shape;173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4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45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6" name="Google Shape;176;p45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7" name="Google Shape;177;p45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78" name="Google Shape;178;p4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79" name="Google Shape;179;p4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5"/>
          <p:cNvSpPr/>
          <p:nvPr>
            <p:ph idx="3" type="pic"/>
          </p:nvPr>
        </p:nvSpPr>
        <p:spPr>
          <a:xfrm>
            <a:off x="14192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" name="Google Shape;181;p45"/>
          <p:cNvSpPr txBox="1"/>
          <p:nvPr>
            <p:ph idx="4" type="body"/>
          </p:nvPr>
        </p:nvSpPr>
        <p:spPr>
          <a:xfrm>
            <a:off x="13716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2" name="Google Shape;182;p45"/>
          <p:cNvSpPr txBox="1"/>
          <p:nvPr>
            <p:ph idx="5" type="body"/>
          </p:nvPr>
        </p:nvSpPr>
        <p:spPr>
          <a:xfrm>
            <a:off x="13716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3" name="Google Shape;183;p45"/>
          <p:cNvSpPr/>
          <p:nvPr>
            <p:ph idx="6" type="pic"/>
          </p:nvPr>
        </p:nvSpPr>
        <p:spPr>
          <a:xfrm>
            <a:off x="10191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45"/>
          <p:cNvSpPr txBox="1"/>
          <p:nvPr>
            <p:ph idx="7" type="body"/>
          </p:nvPr>
        </p:nvSpPr>
        <p:spPr>
          <a:xfrm>
            <a:off x="9715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5" name="Google Shape;185;p45"/>
          <p:cNvSpPr txBox="1"/>
          <p:nvPr>
            <p:ph idx="8" type="body"/>
          </p:nvPr>
        </p:nvSpPr>
        <p:spPr>
          <a:xfrm>
            <a:off x="9715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6" name="Google Shape;186;p45"/>
          <p:cNvSpPr/>
          <p:nvPr>
            <p:ph idx="9" type="pic"/>
          </p:nvPr>
        </p:nvSpPr>
        <p:spPr>
          <a:xfrm>
            <a:off x="61912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45"/>
          <p:cNvSpPr txBox="1"/>
          <p:nvPr>
            <p:ph idx="13" type="body"/>
          </p:nvPr>
        </p:nvSpPr>
        <p:spPr>
          <a:xfrm>
            <a:off x="57150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8" name="Google Shape;188;p45"/>
          <p:cNvSpPr txBox="1"/>
          <p:nvPr>
            <p:ph idx="14" type="body"/>
          </p:nvPr>
        </p:nvSpPr>
        <p:spPr>
          <a:xfrm>
            <a:off x="57150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89" name="Google Shape;189;p45"/>
          <p:cNvSpPr/>
          <p:nvPr>
            <p:ph idx="15" type="pic"/>
          </p:nvPr>
        </p:nvSpPr>
        <p:spPr>
          <a:xfrm>
            <a:off x="2190750" y="3857625"/>
            <a:ext cx="2571750" cy="2571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0" name="Google Shape;190;p45"/>
          <p:cNvSpPr txBox="1"/>
          <p:nvPr>
            <p:ph idx="16" type="body"/>
          </p:nvPr>
        </p:nvSpPr>
        <p:spPr>
          <a:xfrm>
            <a:off x="171450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1" name="Google Shape;191;p45"/>
          <p:cNvSpPr txBox="1"/>
          <p:nvPr>
            <p:ph idx="17" type="body"/>
          </p:nvPr>
        </p:nvSpPr>
        <p:spPr>
          <a:xfrm>
            <a:off x="171450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ربع نقاط فاتحة">
  <p:cSld name="أربع نقاط فاتحة">
    <p:bg>
      <p:bgPr>
        <a:solidFill>
          <a:srgbClr val="F2F4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4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46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6" name="Google Shape;196;p46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7" name="Google Shape;197;p46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198" name="Google Shape;198;p4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199" name="Google Shape;199;p4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46"/>
          <p:cNvSpPr txBox="1"/>
          <p:nvPr>
            <p:ph idx="3" type="body"/>
          </p:nvPr>
        </p:nvSpPr>
        <p:spPr>
          <a:xfrm>
            <a:off x="9810750" y="3952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1" name="Google Shape;201;p46"/>
          <p:cNvSpPr txBox="1"/>
          <p:nvPr>
            <p:ph idx="4" type="body"/>
          </p:nvPr>
        </p:nvSpPr>
        <p:spPr>
          <a:xfrm>
            <a:off x="9810750" y="4657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2" name="Google Shape;202;p46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3" name="Google Shape;203;p46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4" name="Google Shape;204;p46"/>
          <p:cNvSpPr txBox="1"/>
          <p:nvPr>
            <p:ph idx="7" type="body"/>
          </p:nvPr>
        </p:nvSpPr>
        <p:spPr>
          <a:xfrm>
            <a:off x="9810750" y="6619875"/>
            <a:ext cx="7334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5" name="Google Shape;205;p46"/>
          <p:cNvSpPr txBox="1"/>
          <p:nvPr>
            <p:ph idx="8" type="body"/>
          </p:nvPr>
        </p:nvSpPr>
        <p:spPr>
          <a:xfrm>
            <a:off x="9810750" y="7324725"/>
            <a:ext cx="7334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6" name="Google Shape;206;p46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07" name="Google Shape;207;p46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جدول فاتح">
  <p:cSld name="جدول فاتح">
    <p:bg>
      <p:bgPr>
        <a:solidFill>
          <a:srgbClr val="F2F4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4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37187" y="685800"/>
            <a:ext cx="2888226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1" name="Google Shape;211;p47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2" name="Google Shape;212;p47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3" name="Google Shape;213;p47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4" name="Google Shape;214;p47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15" name="Google Shape;215;p4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47"/>
          <p:cNvSpPr txBox="1"/>
          <p:nvPr>
            <p:ph idx="3" type="body"/>
          </p:nvPr>
        </p:nvSpPr>
        <p:spPr>
          <a:xfrm>
            <a:off x="17145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17" name="Google Shape;217;p47"/>
          <p:cNvSpPr/>
          <p:nvPr>
            <p:ph idx="4" type="tbl"/>
          </p:nvPr>
        </p:nvSpPr>
        <p:spPr>
          <a:xfrm>
            <a:off x="1714500" y="3905250"/>
            <a:ext cx="15430500" cy="4476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بالأعمدة">
  <p:cSld name="مقارنة بالأعمدة">
    <p:bg>
      <p:bgPr>
        <a:solidFill>
          <a:srgbClr val="12183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Google Shape;21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48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2" name="Google Shape;222;p48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3" name="Google Shape;223;p48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4" name="Google Shape;224;p48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25" name="Google Shape;225;p4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48"/>
          <p:cNvSpPr txBox="1"/>
          <p:nvPr>
            <p:ph idx="3" type="body"/>
          </p:nvPr>
        </p:nvSpPr>
        <p:spPr>
          <a:xfrm>
            <a:off x="2095500" y="8905875"/>
            <a:ext cx="14192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27" name="Google Shape;227;p48"/>
          <p:cNvSpPr/>
          <p:nvPr>
            <p:ph idx="4" type="chart"/>
          </p:nvPr>
        </p:nvSpPr>
        <p:spPr>
          <a:xfrm>
            <a:off x="2095500" y="3905250"/>
            <a:ext cx="14192250" cy="48577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توزيع نسبي">
  <p:cSld name="توزيع نسبي">
    <p:bg>
      <p:bgPr>
        <a:solidFill>
          <a:srgbClr val="12183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9" name="Google Shape;229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4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2" name="Google Shape;232;p49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3" name="Google Shape;233;p49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4" name="Google Shape;234;p49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35" name="Google Shape;235;p4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49"/>
          <p:cNvSpPr txBox="1"/>
          <p:nvPr>
            <p:ph idx="3" type="body"/>
          </p:nvPr>
        </p:nvSpPr>
        <p:spPr>
          <a:xfrm>
            <a:off x="1714500" y="890587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37" name="Google Shape;237;p49"/>
          <p:cNvSpPr/>
          <p:nvPr>
            <p:ph idx="4" type="chart"/>
          </p:nvPr>
        </p:nvSpPr>
        <p:spPr>
          <a:xfrm>
            <a:off x="2095500" y="3619500"/>
            <a:ext cx="14097000" cy="53816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254000" spcFirstLastPara="1" rIns="254000" wrap="square" tIns="4570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آلية العمل">
  <p:cSld name="آلية العمل">
    <p:bg>
      <p:bgPr>
        <a:solidFill>
          <a:srgbClr val="12183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5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50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2" name="Google Shape;242;p50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3" name="Google Shape;243;p50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4" name="Google Shape;244;p50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45" name="Google Shape;245;p50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50"/>
          <p:cNvSpPr txBox="1"/>
          <p:nvPr>
            <p:ph idx="3" type="body"/>
          </p:nvPr>
        </p:nvSpPr>
        <p:spPr>
          <a:xfrm>
            <a:off x="13716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7" name="Google Shape;247;p50"/>
          <p:cNvSpPr txBox="1"/>
          <p:nvPr>
            <p:ph idx="4" type="body"/>
          </p:nvPr>
        </p:nvSpPr>
        <p:spPr>
          <a:xfrm>
            <a:off x="9715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8" name="Google Shape;248;p50"/>
          <p:cNvSpPr txBox="1"/>
          <p:nvPr>
            <p:ph idx="5" type="body"/>
          </p:nvPr>
        </p:nvSpPr>
        <p:spPr>
          <a:xfrm>
            <a:off x="57150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49" name="Google Shape;249;p50"/>
          <p:cNvSpPr txBox="1"/>
          <p:nvPr>
            <p:ph idx="6" type="body"/>
          </p:nvPr>
        </p:nvSpPr>
        <p:spPr>
          <a:xfrm>
            <a:off x="1714500" y="4333875"/>
            <a:ext cx="3429000" cy="37147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323D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8125" lIns="266700" spcFirstLastPara="1" rIns="266700" wrap="square" tIns="238125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صورة كبيرة">
  <p:cSld name="صورة كبيرة">
    <p:bg>
      <p:bgPr>
        <a:solidFill>
          <a:srgbClr val="12183F"/>
        </a:solidFill>
      </p:bgPr>
    </p:bg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51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53" name="Google Shape;253;p5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51"/>
          <p:cNvSpPr/>
          <p:nvPr>
            <p:ph idx="2" type="pic"/>
          </p:nvPr>
        </p:nvSpPr>
        <p:spPr>
          <a:xfrm>
            <a:off x="1047750" y="666750"/>
            <a:ext cx="16192500" cy="6953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p51"/>
          <p:cNvSpPr txBox="1"/>
          <p:nvPr>
            <p:ph type="title"/>
          </p:nvPr>
        </p:nvSpPr>
        <p:spPr>
          <a:xfrm>
            <a:off x="2190750" y="7962900"/>
            <a:ext cx="1476375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56" name="Google Shape;256;p51"/>
          <p:cNvSpPr txBox="1"/>
          <p:nvPr>
            <p:ph idx="1" type="body"/>
          </p:nvPr>
        </p:nvSpPr>
        <p:spPr>
          <a:xfrm>
            <a:off x="2190750" y="8896350"/>
            <a:ext cx="14763750" cy="42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عرض الصور">
  <p:cSld name="معرض الصور">
    <p:bg>
      <p:bgPr>
        <a:solidFill>
          <a:srgbClr val="12183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8" name="Google Shape;25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5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52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1" name="Google Shape;261;p52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2" name="Google Shape;262;p52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63" name="Google Shape;263;p52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52"/>
          <p:cNvSpPr/>
          <p:nvPr>
            <p:ph idx="2" type="pic"/>
          </p:nvPr>
        </p:nvSpPr>
        <p:spPr>
          <a:xfrm>
            <a:off x="12382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5" name="Google Shape;265;p52"/>
          <p:cNvSpPr txBox="1"/>
          <p:nvPr>
            <p:ph idx="3" type="body"/>
          </p:nvPr>
        </p:nvSpPr>
        <p:spPr>
          <a:xfrm>
            <a:off x="12382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6" name="Google Shape;266;p52"/>
          <p:cNvSpPr/>
          <p:nvPr>
            <p:ph idx="4" type="pic"/>
          </p:nvPr>
        </p:nvSpPr>
        <p:spPr>
          <a:xfrm>
            <a:off x="7048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" name="Google Shape;267;p52"/>
          <p:cNvSpPr txBox="1"/>
          <p:nvPr>
            <p:ph idx="5" type="body"/>
          </p:nvPr>
        </p:nvSpPr>
        <p:spPr>
          <a:xfrm>
            <a:off x="7048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68" name="Google Shape;268;p52"/>
          <p:cNvSpPr/>
          <p:nvPr>
            <p:ph idx="6" type="pic"/>
          </p:nvPr>
        </p:nvSpPr>
        <p:spPr>
          <a:xfrm>
            <a:off x="1714500" y="3714750"/>
            <a:ext cx="4762500" cy="4286250"/>
          </a:xfrm>
          <a:prstGeom prst="rect">
            <a:avLst/>
          </a:prstGeom>
          <a:solidFill>
            <a:srgbClr val="161D48"/>
          </a:solidFill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9" name="Google Shape;269;p52"/>
          <p:cNvSpPr txBox="1"/>
          <p:nvPr>
            <p:ph idx="7" type="body"/>
          </p:nvPr>
        </p:nvSpPr>
        <p:spPr>
          <a:xfrm>
            <a:off x="1714500" y="8334375"/>
            <a:ext cx="476250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أيقونات الهوية">
  <p:cSld name="أيقونات الهوية">
    <p:bg>
      <p:bgPr>
        <a:solidFill>
          <a:srgbClr val="12183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Google Shape;271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5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53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4" name="Google Shape;274;p53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5" name="Google Shape;275;p53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6" name="Google Shape;276;p53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77" name="Google Shape;277;p53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53"/>
          <p:cNvSpPr txBox="1"/>
          <p:nvPr>
            <p:ph idx="3" type="body"/>
          </p:nvPr>
        </p:nvSpPr>
        <p:spPr>
          <a:xfrm>
            <a:off x="13716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79" name="Google Shape;279;p53"/>
          <p:cNvSpPr txBox="1"/>
          <p:nvPr>
            <p:ph idx="4" type="body"/>
          </p:nvPr>
        </p:nvSpPr>
        <p:spPr>
          <a:xfrm>
            <a:off x="13716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0" name="Google Shape;280;p53"/>
          <p:cNvSpPr txBox="1"/>
          <p:nvPr>
            <p:ph idx="5" type="body"/>
          </p:nvPr>
        </p:nvSpPr>
        <p:spPr>
          <a:xfrm>
            <a:off x="9715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1" name="Google Shape;281;p53"/>
          <p:cNvSpPr txBox="1"/>
          <p:nvPr>
            <p:ph idx="6" type="body"/>
          </p:nvPr>
        </p:nvSpPr>
        <p:spPr>
          <a:xfrm>
            <a:off x="9715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2" name="Google Shape;282;p53"/>
          <p:cNvSpPr txBox="1"/>
          <p:nvPr>
            <p:ph idx="7" type="body"/>
          </p:nvPr>
        </p:nvSpPr>
        <p:spPr>
          <a:xfrm>
            <a:off x="57150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3" name="Google Shape;283;p53"/>
          <p:cNvSpPr txBox="1"/>
          <p:nvPr>
            <p:ph idx="8" type="body"/>
          </p:nvPr>
        </p:nvSpPr>
        <p:spPr>
          <a:xfrm>
            <a:off x="57150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4" name="Google Shape;284;p53"/>
          <p:cNvSpPr txBox="1"/>
          <p:nvPr>
            <p:ph idx="9" type="body"/>
          </p:nvPr>
        </p:nvSpPr>
        <p:spPr>
          <a:xfrm>
            <a:off x="1714500" y="6048375"/>
            <a:ext cx="352425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85" name="Google Shape;285;p53"/>
          <p:cNvSpPr txBox="1"/>
          <p:nvPr>
            <p:ph idx="13" type="body"/>
          </p:nvPr>
        </p:nvSpPr>
        <p:spPr>
          <a:xfrm>
            <a:off x="1714500" y="7162800"/>
            <a:ext cx="3524250" cy="1171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مقارنة خيارين">
  <p:cSld name="مقارنة خيارين">
    <p:bg>
      <p:bgPr>
        <a:solidFill>
          <a:srgbClr val="12183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693967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54"/>
          <p:cNvSpPr txBox="1"/>
          <p:nvPr>
            <p:ph idx="1" type="body"/>
          </p:nvPr>
        </p:nvSpPr>
        <p:spPr>
          <a:xfrm>
            <a:off x="106680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0" name="Google Shape;290;p54"/>
          <p:cNvSpPr txBox="1"/>
          <p:nvPr>
            <p:ph type="title"/>
          </p:nvPr>
        </p:nvSpPr>
        <p:spPr>
          <a:xfrm>
            <a:off x="17145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1" name="Google Shape;291;p54"/>
          <p:cNvSpPr txBox="1"/>
          <p:nvPr>
            <p:ph idx="2" type="body"/>
          </p:nvPr>
        </p:nvSpPr>
        <p:spPr>
          <a:xfrm>
            <a:off x="17145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2" name="Google Shape;292;p54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293" name="Google Shape;293;p5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54"/>
          <p:cNvSpPr txBox="1"/>
          <p:nvPr>
            <p:ph idx="3" type="body"/>
          </p:nvPr>
        </p:nvSpPr>
        <p:spPr>
          <a:xfrm>
            <a:off x="1000125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5" name="Google Shape;295;p54"/>
          <p:cNvSpPr txBox="1"/>
          <p:nvPr>
            <p:ph idx="4" type="body"/>
          </p:nvPr>
        </p:nvSpPr>
        <p:spPr>
          <a:xfrm>
            <a:off x="1000125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6" name="Google Shape;296;p54"/>
          <p:cNvSpPr txBox="1"/>
          <p:nvPr>
            <p:ph idx="5" type="body"/>
          </p:nvPr>
        </p:nvSpPr>
        <p:spPr>
          <a:xfrm>
            <a:off x="1714500" y="3857625"/>
            <a:ext cx="71437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7" name="Google Shape;297;p54"/>
          <p:cNvSpPr txBox="1"/>
          <p:nvPr>
            <p:ph idx="6" type="body"/>
          </p:nvPr>
        </p:nvSpPr>
        <p:spPr>
          <a:xfrm>
            <a:off x="1714500" y="4562475"/>
            <a:ext cx="71437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8" name="Google Shape;298;p54"/>
          <p:cNvSpPr txBox="1"/>
          <p:nvPr>
            <p:ph idx="7" type="body"/>
          </p:nvPr>
        </p:nvSpPr>
        <p:spPr>
          <a:xfrm>
            <a:off x="1000125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299" name="Google Shape;299;p54"/>
          <p:cNvSpPr txBox="1"/>
          <p:nvPr>
            <p:ph idx="8" type="body"/>
          </p:nvPr>
        </p:nvSpPr>
        <p:spPr>
          <a:xfrm>
            <a:off x="1714500" y="5905500"/>
            <a:ext cx="7143750" cy="2952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داكنة">
  <p:cSld name="فارغة داكنة">
    <p:bg>
      <p:bgPr>
        <a:solidFill>
          <a:srgbClr val="12183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66800" y="722542"/>
            <a:ext cx="3429000" cy="87901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55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4" name="Google Shape;304;p5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فارغة فاتحة">
  <p:cSld name="فارغة فاتحة">
    <p:bg>
      <p:bgPr>
        <a:solidFill>
          <a:srgbClr val="F2F4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5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45010" y="685800"/>
            <a:ext cx="3072581" cy="95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6"/>
          <p:cNvSpPr/>
          <p:nvPr/>
        </p:nvSpPr>
        <p:spPr>
          <a:xfrm>
            <a:off x="8001000" y="9467850"/>
            <a:ext cx="91440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sp>
        <p:nvSpPr>
          <p:cNvPr id="309" name="Google Shape;309;p56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0" lvl="1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0" lvl="2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0" lvl="3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0" lvl="4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0" lvl="5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0" lvl="6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0" lvl="7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0" lvl="8" marL="0" marR="0" rtl="0" algn="l">
              <a:spcBef>
                <a:spcPts val="0"/>
              </a:spcBef>
              <a:buNone/>
              <a:defRPr b="0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ختام العرض">
  <p:cSld name="ختام العرض">
    <p:bg>
      <p:bgPr>
        <a:solidFill>
          <a:srgbClr val="12183F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1" name="Google Shape;311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0" y="1336151"/>
            <a:ext cx="6667500" cy="1709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5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9485" y="8524875"/>
            <a:ext cx="3045029" cy="156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57"/>
          <p:cNvPicPr preferRelativeResize="0"/>
          <p:nvPr/>
        </p:nvPicPr>
        <p:blipFill rotWithShape="1">
          <a:blip r:embed="rId5">
            <a:alphaModFix/>
          </a:blip>
          <a:srcRect b="16000" l="4300" r="69700" t="16000"/>
          <a:stretch/>
        </p:blipFill>
        <p:spPr>
          <a:xfrm>
            <a:off x="4857750" y="8629650"/>
            <a:ext cx="3810000" cy="1476375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57"/>
          <p:cNvSpPr txBox="1"/>
          <p:nvPr>
            <p:ph type="title"/>
          </p:nvPr>
        </p:nvSpPr>
        <p:spPr>
          <a:xfrm>
            <a:off x="3810000" y="4048125"/>
            <a:ext cx="10668000" cy="1428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lvl="1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6" name="Google Shape;316;p57"/>
          <p:cNvSpPr txBox="1"/>
          <p:nvPr>
            <p:ph idx="1" type="body"/>
          </p:nvPr>
        </p:nvSpPr>
        <p:spPr>
          <a:xfrm>
            <a:off x="3810000" y="5905500"/>
            <a:ext cx="10668000" cy="742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  <p:sp>
        <p:nvSpPr>
          <p:cNvPr id="317" name="Google Shape;317;p57"/>
          <p:cNvSpPr txBox="1"/>
          <p:nvPr>
            <p:ph idx="2" type="body"/>
          </p:nvPr>
        </p:nvSpPr>
        <p:spPr>
          <a:xfrm>
            <a:off x="3810000" y="7000875"/>
            <a:ext cx="1066800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1pPr>
            <a:lvl2pPr indent="-228600" lvl="1" marL="914400" marR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Readex Pro"/>
                <a:ea typeface="Readex Pro"/>
                <a:cs typeface="Readex Pro"/>
                <a:sym typeface="Readex Pro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theme" Target="../theme/theme1.xml"/><Relationship Id="rId25" Type="http://schemas.openxmlformats.org/officeDocument/2006/relationships/slideLayout" Target="../slideLayouts/slideLayout25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2.png"/><Relationship Id="rId6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bidaya_team-px-ai.png"/><Relationship Id="rId6" Type="http://schemas.openxmlformats.org/officeDocument/2006/relationships/image" Target="../media/bidaya_team-px-ui.png"/><Relationship Id="rId7" Type="http://schemas.openxmlformats.org/officeDocument/2006/relationships/image" Target="../media/bidaya_team-px-book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bidaya_ask.jpg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4.png"/><Relationship Id="rId9" Type="http://schemas.openxmlformats.org/officeDocument/2006/relationships/image" Target="../media/bidaya_icon-map.png"/><Relationship Id="rId10" Type="http://schemas.openxmlformats.org/officeDocument/2006/relationships/image" Target="../media/bidaya_icon-book.png"/><Relationship Id="rId11" Type="http://schemas.openxmlformats.org/officeDocument/2006/relationships/image" Target="../media/bidaya_icon-ai.png"/><Relationship Id="rId12" Type="http://schemas.openxmlformats.org/officeDocument/2006/relationships/image" Target="../media/bidaya_icon-audio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9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25.png"/><Relationship Id="rId8" Type="http://schemas.openxmlformats.org/officeDocument/2006/relationships/image" Target="../media/image22.png"/><Relationship Id="rId10" Type="http://schemas.openxmlformats.org/officeDocument/2006/relationships/image" Target="../media/image20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story.jpg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verses.jpg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9.xml"/><Relationship Id="rId3" Type="http://schemas.openxmlformats.org/officeDocument/2006/relationships/image" Target="../media/image1.png"/><Relationship Id="rId4" Type="http://schemas.openxmlformats.org/officeDocument/2006/relationships/image" Target="../media/bidaya_quiz.jp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4" name="Google Shape;48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85" name="Google Shape;485;p8" title="الصورة الرئيسية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5975" y="1103475"/>
            <a:ext cx="9312476" cy="8603123"/>
          </a:xfrm>
          <a:prstGeom prst="rect">
            <a:avLst/>
          </a:prstGeom>
          <a:noFill/>
          <a:ln>
            <a:noFill/>
          </a:ln>
        </p:spPr>
      </p:pic>
      <p:sp>
        <p:nvSpPr>
          <p:cNvPr id="486" name="Google Shape;486;p8"/>
          <p:cNvSpPr txBox="1"/>
          <p:nvPr>
            <p:ph type="title"/>
          </p:nvPr>
        </p:nvSpPr>
        <p:spPr>
          <a:xfrm>
            <a:off x="7791450" y="3524250"/>
            <a:ext cx="9048900" cy="133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450"/>
              <a:buNone/>
            </a:pPr>
            <a:r>
              <a:rPr b="1" lang="ar-SA" sz="64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487" name="Google Shape;487;p8"/>
          <p:cNvSpPr txBox="1"/>
          <p:nvPr>
            <p:ph idx="1" type="body"/>
          </p:nvPr>
        </p:nvSpPr>
        <p:spPr>
          <a:xfrm>
            <a:off x="7791450" y="5334000"/>
            <a:ext cx="9048900" cy="16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b="0" lang="ar-SA" sz="33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خريطة تفاعلية مدعومة بالذكاء الاصطناعي تروي سيرة النبي ﷺ في الزمان والمكان، مع مساعد يجيب من المصادر المعتمدة بالعربية والإنجليزية</a:t>
            </a:r>
            <a:endParaRPr/>
          </a:p>
        </p:txBody>
      </p:sp>
      <p:sp>
        <p:nvSpPr>
          <p:cNvPr id="488" name="Google Shape;488;p8"/>
          <p:cNvSpPr/>
          <p:nvPr/>
        </p:nvSpPr>
        <p:spPr>
          <a:xfrm>
            <a:off x="1143000" y="8843963"/>
            <a:ext cx="16002000" cy="9600"/>
          </a:xfrm>
          <a:prstGeom prst="rect">
            <a:avLst/>
          </a:prstGeom>
          <a:solidFill>
            <a:srgbClr val="FFFFFF">
              <a:alpha val="1216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9" name="Google Shape;489;p8"/>
          <p:cNvSpPr/>
          <p:nvPr/>
        </p:nvSpPr>
        <p:spPr>
          <a:xfrm>
            <a:off x="14472130" y="9120188"/>
            <a:ext cx="23580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فريق بداية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sp>
        <p:nvSpPr>
          <p:cNvPr id="490" name="Google Shape;490;p8"/>
          <p:cNvSpPr/>
          <p:nvPr/>
        </p:nvSpPr>
        <p:spPr>
          <a:xfrm>
            <a:off x="1397000" y="9120188"/>
            <a:ext cx="2765700" cy="34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8E99CC"/>
              </a:buClr>
              <a:buSzPts val="1950"/>
              <a:buFont typeface="Readex Pro"/>
              <a:buNone/>
            </a:pPr>
            <a:r>
              <a:rPr lang="ar-SA" sz="1950">
                <a:solidFill>
                  <a:srgbClr val="8E99CC"/>
                </a:solidFill>
                <a:latin typeface="Readex Pro Light"/>
                <a:ea typeface="Readex Pro Light"/>
                <a:cs typeface="Readex Pro Light"/>
                <a:sym typeface="Readex Pro Light"/>
              </a:rPr>
              <a:t>6 أكتوبر 2026</a:t>
            </a:r>
            <a:endParaRPr i="0" sz="1950" u="none" cap="none" strike="noStrike">
              <a:solidFill>
                <a:srgbClr val="000000"/>
              </a:solidFill>
              <a:latin typeface="Readex Pro Light"/>
              <a:ea typeface="Readex Pro Light"/>
              <a:cs typeface="Readex Pro Light"/>
              <a:sym typeface="Readex Pro Light"/>
            </a:endParaRPr>
          </a:p>
        </p:txBody>
      </p:sp>
      <p:pic>
        <p:nvPicPr>
          <p:cNvPr id="491" name="Google Shape;491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8250" y="691134"/>
            <a:ext cx="6572252" cy="168478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4954250" y="840995"/>
            <a:ext cx="2190750" cy="13850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6" name="Google Shape;53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537" name="Google Shape;537;p1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المشكلة</a:t>
            </a:r>
            <a:endParaRPr/>
          </a:p>
        </p:txBody>
      </p:sp>
      <p:sp>
        <p:nvSpPr>
          <p:cNvPr id="538" name="Google Shape;538;p1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لماذا يصعب فهم السيرة على المبتدئ؟</a:t>
            </a:r>
            <a:endParaRPr/>
          </a:p>
        </p:txBody>
      </p:sp>
      <p:sp>
        <p:nvSpPr>
          <p:cNvPr id="539" name="Google Shape;539;p1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السيرة من أوضح الطرق لفهم الإسلام، لكن المبتدئ يواجه فيها أربع عقبات</a:t>
            </a:r>
            <a:endParaRPr/>
          </a:p>
        </p:txBody>
      </p:sp>
      <p:sp>
        <p:nvSpPr>
          <p:cNvPr id="540" name="Google Shape;540;p1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541" name="Google Shape;541;p11"/>
          <p:cNvSpPr txBox="1"/>
          <p:nvPr>
            <p:ph idx="3" type="body"/>
          </p:nvPr>
        </p:nvSpPr>
        <p:spPr>
          <a:xfrm>
            <a:off x="9505950" y="3952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نصوص طويلة</a:t>
            </a:r>
            <a:endParaRPr/>
          </a:p>
        </p:txBody>
      </p:sp>
      <p:sp>
        <p:nvSpPr>
          <p:cNvPr id="542" name="Google Shape;542;p11"/>
          <p:cNvSpPr txBox="1"/>
          <p:nvPr>
            <p:ph idx="4" type="body"/>
          </p:nvPr>
        </p:nvSpPr>
        <p:spPr>
          <a:xfrm>
            <a:off x="9505950" y="4657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كتب السيرة مفصّلة وطويلة، ويصعب على المبتدئ أن يعرف من أين يبدأ</a:t>
            </a:r>
            <a:endParaRPr/>
          </a:p>
        </p:txBody>
      </p:sp>
      <p:sp>
        <p:nvSpPr>
          <p:cNvPr id="543" name="Google Shape;543;p11"/>
          <p:cNvSpPr txBox="1"/>
          <p:nvPr>
            <p:ph idx="5" type="body"/>
          </p:nvPr>
        </p:nvSpPr>
        <p:spPr>
          <a:xfrm>
            <a:off x="1714500" y="3952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أماكن بلا خريطة</a:t>
            </a:r>
            <a:endParaRPr/>
          </a:p>
        </p:txBody>
      </p:sp>
      <p:sp>
        <p:nvSpPr>
          <p:cNvPr id="544" name="Google Shape;544;p11"/>
          <p:cNvSpPr txBox="1"/>
          <p:nvPr>
            <p:ph idx="6" type="body"/>
          </p:nvPr>
        </p:nvSpPr>
        <p:spPr>
          <a:xfrm>
            <a:off x="1714500" y="4657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بدر وأحد والحديبية أسماء بلا موقع عند من يسمعها أول مرة</a:t>
            </a:r>
            <a:endParaRPr/>
          </a:p>
        </p:txBody>
      </p:sp>
      <p:sp>
        <p:nvSpPr>
          <p:cNvPr id="545" name="Google Shape;545;p11"/>
          <p:cNvSpPr txBox="1"/>
          <p:nvPr>
            <p:ph idx="7" type="body"/>
          </p:nvPr>
        </p:nvSpPr>
        <p:spPr>
          <a:xfrm>
            <a:off x="9505950" y="6619875"/>
            <a:ext cx="7334400" cy="590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آيات بلا سياق</a:t>
            </a:r>
            <a:endParaRPr/>
          </a:p>
        </p:txBody>
      </p:sp>
      <p:sp>
        <p:nvSpPr>
          <p:cNvPr id="546" name="Google Shape;546;p11"/>
          <p:cNvSpPr txBox="1"/>
          <p:nvPr>
            <p:ph idx="8" type="body"/>
          </p:nvPr>
        </p:nvSpPr>
        <p:spPr>
          <a:xfrm>
            <a:off x="9505950" y="7324725"/>
            <a:ext cx="733440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كثير من آيات القرآن نزلت في مواقف من السيرة، والمبتدئ لا يعرف أيها</a:t>
            </a:r>
            <a:endParaRPr/>
          </a:p>
        </p:txBody>
      </p:sp>
      <p:sp>
        <p:nvSpPr>
          <p:cNvPr id="547" name="Google Shape;547;p11"/>
          <p:cNvSpPr txBox="1"/>
          <p:nvPr>
            <p:ph idx="9" type="body"/>
          </p:nvPr>
        </p:nvSpPr>
        <p:spPr>
          <a:xfrm>
            <a:off x="1714500" y="6619875"/>
            <a:ext cx="6953250" cy="5905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50"/>
              <a:buNone/>
            </a:pPr>
            <a:r>
              <a:rPr b="1" lang="ar-SA" sz="28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صعوبة التحقق</a:t>
            </a:r>
            <a:endParaRPr/>
          </a:p>
        </p:txBody>
      </p:sp>
      <p:sp>
        <p:nvSpPr>
          <p:cNvPr id="548" name="Google Shape;548;p11"/>
          <p:cNvSpPr txBox="1"/>
          <p:nvPr>
            <p:ph idx="13" type="body"/>
          </p:nvPr>
        </p:nvSpPr>
        <p:spPr>
          <a:xfrm>
            <a:off x="1714500" y="7324725"/>
            <a:ext cx="6953250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b="0" lang="ar-SA" sz="24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يصعب على غير المختص معرفة الموثوق مما يقرؤه على الإنترنت</a:t>
            </a:r>
            <a:endParaRPr/>
          </a:p>
        </p:txBody>
      </p:sp>
      <p:sp>
        <p:nvSpPr>
          <p:cNvPr id="549" name="Google Shape;549;p11"/>
          <p:cNvSpPr/>
          <p:nvPr/>
        </p:nvSpPr>
        <p:spPr>
          <a:xfrm>
            <a:off x="76962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550" name="Google Shape;5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النتائج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الإجابات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إضافة معيد الترتيب وتنقية المصادر: 97.9% بدل 95.8%، والامتناع عما لا مصدر له 100% بدل 83%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97.9%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بمصدر صحيح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47 من 48 سؤالًا، والباقي امتناع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44/50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درجة الأسئلة الصعبة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40 صحيحة و8 جزئية و2 امتناع، بتصحيح يدوي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معلومة خاطئة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في 50 جوابًا صعبًا؛ ما لم يجده امتنع عنه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47/50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النتيجة نفسها عند إعادة السؤال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بلا تعارض في المعلومات بين المحاولتين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حدود معروفة: العربية المكتوبة بحروف لاتينية، والحساب بين حدثين، وتغيّر الصياغة بين المحاولات. كل سؤال وجوابه وسجل الأخطاء في المستودع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7" name="Google Shape;637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8" name="Google Shape;638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الموثوقية</a:t>
            </a:r>
            <a:endParaRPr/>
          </a:p>
        </p:txBody>
      </p:sp>
      <p:sp>
        <p:nvSpPr>
          <p:cNvPr id="640" name="Google Shape;640;p1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مستويات المحتوى وضبط الاستجابة</a:t>
            </a:r>
            <a:endParaRPr/>
          </a:p>
        </p:txBody>
      </p:sp>
      <p:sp>
        <p:nvSpPr>
          <p:cNvPr id="641" name="Google Shape;641;p1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كما في المرجعية العلمية للتحدي، وما تفعله بداية في كل مستوى</a:t>
            </a:r>
            <a:endParaRPr/>
          </a:p>
        </p:txBody>
      </p:sp>
      <p:sp>
        <p:nvSpPr>
          <p:cNvPr id="642" name="Google Shape;642;p1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643" name="Google Shape;643;p17"/>
          <p:cNvGraphicFramePr/>
          <p:nvPr/>
        </p:nvGraphicFramePr>
        <p:xfrm>
          <a:off x="131445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في الاختبار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تفعله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أمثلة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2EF2C2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42759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بمصدر صحيح، وإلا امتنع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مباشر مع رابط المصدر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متى كانت غزوة بدر؟ من هو أبو بكر؟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(أ) معلومات مستقرة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من المصادر مع المرجع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لماذا قبل النبي ﷺ صلح الحديبية؟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(ب) شرح وتعريف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5 من 5 صحيحة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ينقل ما في المصادر، ويذكر الخلاف إن ذكرته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عدد شهداء أحد، سنوات مكة بعد البعثة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(ج) مسائل خلافية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  <a:tr h="92392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في كل الاختبارات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امتناع وإحالة إلى الرئاسة العامة للبحوث العلمية والإفتاء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هل يجوز…؟ ما حكم…؟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F2F4F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(د) فتوى أو حالة شخصية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323D6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61D48"/>
                    </a:solidFill>
                  </a:tcPr>
                </a:tc>
              </a:tr>
            </a:tbl>
          </a:graphicData>
        </a:graphic>
      </p:graphicFrame>
      <p:sp>
        <p:nvSpPr>
          <p:cNvPr id="644" name="Google Shape;644;p17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المصادر: الدرر السنية، والصحيحان، وموسوعة التفسير، والرحيق المختوم، والواحدي (الصحيح والحسن فقط) · بلا حسابات، وموضع القراءة وسجل الأسئلة محفوظان في المتصفح فقط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49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0" name="Google Shape;65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18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52" name="Google Shape;652;p18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خطة الاستمرار</a:t>
            </a:r>
            <a:endParaRPr/>
          </a:p>
        </p:txBody>
      </p:sp>
      <p:sp>
        <p:nvSpPr>
          <p:cNvPr id="653" name="Google Shape;653;p18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الخطوات التالية</a:t>
            </a:r>
            <a:endParaRPr/>
          </a:p>
        </p:txBody>
      </p:sp>
      <p:sp>
        <p:nvSpPr>
          <p:cNvPr id="654" name="Google Shape;654;p18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يعمل الآن، وما نقترحه بعده</a:t>
            </a:r>
            <a:endParaRPr/>
          </a:p>
        </p:txBody>
      </p:sp>
      <p:sp>
        <p:nvSpPr>
          <p:cNvPr id="655" name="Google Shape;655;p18"/>
          <p:cNvSpPr txBox="1"/>
          <p:nvPr>
            <p:ph idx="3" type="body"/>
          </p:nvPr>
        </p:nvSpPr>
        <p:spPr>
          <a:xfrm>
            <a:off x="13982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/>
          </a:p>
        </p:txBody>
      </p:sp>
      <p:sp>
        <p:nvSpPr>
          <p:cNvPr id="656" name="Google Shape;656;p18"/>
          <p:cNvSpPr txBox="1"/>
          <p:nvPr>
            <p:ph idx="4" type="body"/>
          </p:nvPr>
        </p:nvSpPr>
        <p:spPr>
          <a:xfrm>
            <a:off x="13982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الحالي</a:t>
            </a:r>
            <a:endParaRPr/>
          </a:p>
        </p:txBody>
      </p:sp>
      <p:sp>
        <p:nvSpPr>
          <p:cNvPr id="657" name="Google Shape;657;p18"/>
          <p:cNvSpPr txBox="1"/>
          <p:nvPr>
            <p:ph idx="5" type="body"/>
          </p:nvPr>
        </p:nvSpPr>
        <p:spPr>
          <a:xfrm>
            <a:off x="13982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الآن</a:t>
            </a:r>
            <a:endParaRPr/>
          </a:p>
        </p:txBody>
      </p:sp>
      <p:sp>
        <p:nvSpPr>
          <p:cNvPr id="658" name="Google Shape;658;p18"/>
          <p:cNvSpPr txBox="1"/>
          <p:nvPr>
            <p:ph idx="6" type="body"/>
          </p:nvPr>
        </p:nvSpPr>
        <p:spPr>
          <a:xfrm>
            <a:off x="13982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موقع حي بالعربية والإنجليزية، مع قراءة صوتية للقصة</a:t>
            </a:r>
            <a:endParaRPr/>
          </a:p>
        </p:txBody>
      </p:sp>
      <p:sp>
        <p:nvSpPr>
          <p:cNvPr id="659" name="Google Shape;659;p18"/>
          <p:cNvSpPr txBox="1"/>
          <p:nvPr>
            <p:ph idx="7" type="body"/>
          </p:nvPr>
        </p:nvSpPr>
        <p:spPr>
          <a:xfrm>
            <a:off x="108394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/>
          </a:p>
        </p:txBody>
      </p:sp>
      <p:sp>
        <p:nvSpPr>
          <p:cNvPr id="660" name="Google Shape;660;p18"/>
          <p:cNvSpPr txBox="1"/>
          <p:nvPr>
            <p:ph idx="8" type="body"/>
          </p:nvPr>
        </p:nvSpPr>
        <p:spPr>
          <a:xfrm>
            <a:off x="108394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اختبار أوسع</a:t>
            </a:r>
            <a:endParaRPr/>
          </a:p>
        </p:txBody>
      </p:sp>
      <p:sp>
        <p:nvSpPr>
          <p:cNvPr id="661" name="Google Shape;661;p18"/>
          <p:cNvSpPr txBox="1"/>
          <p:nvPr>
            <p:ph idx="9" type="body"/>
          </p:nvPr>
        </p:nvSpPr>
        <p:spPr>
          <a:xfrm>
            <a:off x="108394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الشهر الأول</a:t>
            </a:r>
            <a:endParaRPr/>
          </a:p>
        </p:txBody>
      </p:sp>
      <p:sp>
        <p:nvSpPr>
          <p:cNvPr id="662" name="Google Shape;662;p18"/>
          <p:cNvSpPr txBox="1"/>
          <p:nvPr>
            <p:ph idx="13" type="body"/>
          </p:nvPr>
        </p:nvSpPr>
        <p:spPr>
          <a:xfrm>
            <a:off x="108394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بعد التجربة الأولى مع 10 أشخاص: عدد أكبر بكثير من المستفيدين</a:t>
            </a:r>
            <a:endParaRPr/>
          </a:p>
        </p:txBody>
      </p:sp>
      <p:sp>
        <p:nvSpPr>
          <p:cNvPr id="663" name="Google Shape;663;p18"/>
          <p:cNvSpPr txBox="1"/>
          <p:nvPr>
            <p:ph idx="14" type="body"/>
          </p:nvPr>
        </p:nvSpPr>
        <p:spPr>
          <a:xfrm>
            <a:off x="76962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/>
          </a:p>
        </p:txBody>
      </p:sp>
      <p:sp>
        <p:nvSpPr>
          <p:cNvPr id="664" name="Google Shape;664;p18"/>
          <p:cNvSpPr txBox="1"/>
          <p:nvPr>
            <p:ph idx="15" type="body"/>
          </p:nvPr>
        </p:nvSpPr>
        <p:spPr>
          <a:xfrm>
            <a:off x="76962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توسيع المحتوى</a:t>
            </a:r>
            <a:endParaRPr/>
          </a:p>
        </p:txBody>
      </p:sp>
      <p:sp>
        <p:nvSpPr>
          <p:cNvPr id="665" name="Google Shape;665;p18"/>
          <p:cNvSpPr txBox="1"/>
          <p:nvPr>
            <p:ph idx="16" type="body"/>
          </p:nvPr>
        </p:nvSpPr>
        <p:spPr>
          <a:xfrm>
            <a:off x="76962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مستمر</a:t>
            </a:r>
            <a:endParaRPr/>
          </a:p>
        </p:txBody>
      </p:sp>
      <p:sp>
        <p:nvSpPr>
          <p:cNvPr id="666" name="Google Shape;666;p18"/>
          <p:cNvSpPr txBox="1"/>
          <p:nvPr>
            <p:ph idx="17" type="body"/>
          </p:nvPr>
        </p:nvSpPr>
        <p:spPr>
          <a:xfrm>
            <a:off x="76962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أحداث وآيات جديدة يعتمدها مسؤول المحتوى قبل نشرها</a:t>
            </a:r>
            <a:endParaRPr/>
          </a:p>
        </p:txBody>
      </p:sp>
      <p:sp>
        <p:nvSpPr>
          <p:cNvPr id="667" name="Google Shape;667;p18"/>
          <p:cNvSpPr txBox="1"/>
          <p:nvPr>
            <p:ph idx="18" type="body"/>
          </p:nvPr>
        </p:nvSpPr>
        <p:spPr>
          <a:xfrm>
            <a:off x="455295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/>
          </a:p>
        </p:txBody>
      </p:sp>
      <p:sp>
        <p:nvSpPr>
          <p:cNvPr id="668" name="Google Shape;668;p18"/>
          <p:cNvSpPr txBox="1"/>
          <p:nvPr>
            <p:ph idx="19" type="body"/>
          </p:nvPr>
        </p:nvSpPr>
        <p:spPr>
          <a:xfrm>
            <a:off x="455295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تحسين المساعد</a:t>
            </a:r>
            <a:endParaRPr/>
          </a:p>
        </p:txBody>
      </p:sp>
      <p:sp>
        <p:nvSpPr>
          <p:cNvPr id="669" name="Google Shape;669;p18"/>
          <p:cNvSpPr txBox="1"/>
          <p:nvPr>
            <p:ph idx="20" type="body"/>
          </p:nvPr>
        </p:nvSpPr>
        <p:spPr>
          <a:xfrm>
            <a:off x="455295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قريبًا</a:t>
            </a:r>
            <a:endParaRPr/>
          </a:p>
        </p:txBody>
      </p:sp>
      <p:sp>
        <p:nvSpPr>
          <p:cNvPr id="670" name="Google Shape;670;p18"/>
          <p:cNvSpPr txBox="1"/>
          <p:nvPr>
            <p:ph idx="21" type="body"/>
          </p:nvPr>
        </p:nvSpPr>
        <p:spPr>
          <a:xfrm>
            <a:off x="455295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يفهم الحدث الذي يقرؤه المستخدم، ويُعاد اختباره قبل النشر</a:t>
            </a:r>
            <a:endParaRPr/>
          </a:p>
        </p:txBody>
      </p:sp>
      <p:sp>
        <p:nvSpPr>
          <p:cNvPr id="671" name="Google Shape;671;p18"/>
          <p:cNvSpPr txBox="1"/>
          <p:nvPr>
            <p:ph idx="22" type="body"/>
          </p:nvPr>
        </p:nvSpPr>
        <p:spPr>
          <a:xfrm>
            <a:off x="1409700" y="3762375"/>
            <a:ext cx="2857500" cy="7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05</a:t>
            </a:r>
            <a:endParaRPr/>
          </a:p>
        </p:txBody>
      </p:sp>
      <p:sp>
        <p:nvSpPr>
          <p:cNvPr id="672" name="Google Shape;672;p18"/>
          <p:cNvSpPr txBox="1"/>
          <p:nvPr>
            <p:ph idx="23" type="body"/>
          </p:nvPr>
        </p:nvSpPr>
        <p:spPr>
          <a:xfrm>
            <a:off x="1409700" y="5238750"/>
            <a:ext cx="285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لغات أخرى</a:t>
            </a:r>
            <a:endParaRPr/>
          </a:p>
        </p:txBody>
      </p:sp>
      <p:sp>
        <p:nvSpPr>
          <p:cNvPr id="673" name="Google Shape;673;p18"/>
          <p:cNvSpPr txBox="1"/>
          <p:nvPr>
            <p:ph idx="24" type="body"/>
          </p:nvPr>
        </p:nvSpPr>
        <p:spPr>
          <a:xfrm>
            <a:off x="1409700" y="6048375"/>
            <a:ext cx="28575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بعد ذلك</a:t>
            </a:r>
            <a:endParaRPr/>
          </a:p>
        </p:txBody>
      </p:sp>
      <p:sp>
        <p:nvSpPr>
          <p:cNvPr id="674" name="Google Shape;674;p18"/>
          <p:cNvSpPr txBox="1"/>
          <p:nvPr>
            <p:ph idx="25" type="body"/>
          </p:nvPr>
        </p:nvSpPr>
        <p:spPr>
          <a:xfrm>
            <a:off x="1409700" y="7000875"/>
            <a:ext cx="2857500" cy="10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لغات يحتاجها المستفيدون، بترجمات معتمدة للنصوص والصوت</a:t>
            </a:r>
            <a:endParaRPr/>
          </a:p>
        </p:txBody>
      </p:sp>
      <p:cxnSp>
        <p:nvCxnSpPr>
          <p:cNvPr id="675" name="Google Shape;675;p18"/>
          <p:cNvCxnSpPr/>
          <p:nvPr/>
        </p:nvCxnSpPr>
        <p:spPr>
          <a:xfrm rot="10800000">
            <a:off x="139923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676" name="Google Shape;676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77" name="Google Shape;677;p18"/>
          <p:cNvCxnSpPr/>
          <p:nvPr/>
        </p:nvCxnSpPr>
        <p:spPr>
          <a:xfrm rot="10800000">
            <a:off x="108300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8" name="Google Shape;678;p18"/>
          <p:cNvCxnSpPr/>
          <p:nvPr/>
        </p:nvCxnSpPr>
        <p:spPr>
          <a:xfrm rot="10800000">
            <a:off x="76677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79" name="Google Shape;679;p18"/>
          <p:cNvCxnSpPr/>
          <p:nvPr/>
        </p:nvCxnSpPr>
        <p:spPr>
          <a:xfrm rot="10800000">
            <a:off x="45054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80" name="Google Shape;680;p18"/>
          <p:cNvCxnSpPr/>
          <p:nvPr/>
        </p:nvCxnSpPr>
        <p:spPr>
          <a:xfrm rot="10800000">
            <a:off x="1343100" y="4708975"/>
            <a:ext cx="2838300" cy="0"/>
          </a:xfrm>
          <a:prstGeom prst="straightConnector1">
            <a:avLst/>
          </a:prstGeom>
          <a:noFill/>
          <a:ln cap="flat" cmpd="sng" w="76200">
            <a:solidFill>
              <a:srgbClr val="6150EA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6" name="Google Shape;68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905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7" name="Google Shape;68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88" name="Google Shape;688;p19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الفريق</a:t>
            </a:r>
            <a:endParaRPr/>
          </a:p>
        </p:txBody>
      </p:sp>
      <p:sp>
        <p:nvSpPr>
          <p:cNvPr id="689" name="Google Shape;689;p19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فريق العمل</a:t>
            </a:r>
            <a:endParaRPr/>
          </a:p>
        </p:txBody>
      </p:sp>
      <p:sp>
        <p:nvSpPr>
          <p:cNvPr id="690" name="Google Shape;690;p19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فريق بداية: التقنية والمحتوى والاختبار</a:t>
            </a:r>
            <a:endParaRPr/>
          </a:p>
        </p:txBody>
      </p:sp>
      <p:sp>
        <p:nvSpPr>
          <p:cNvPr id="691" name="Google Shape;691;p19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190" name="Screenshot 1" descr="رمز الذكاء الاصطناعي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920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3" name="Google Shape;693;p19"/>
          <p:cNvSpPr txBox="1"/>
          <p:nvPr>
            <p:ph idx="4" type="body"/>
          </p:nvPr>
        </p:nvSpPr>
        <p:spPr>
          <a:xfrm>
            <a:off x="11715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عمر بن طالب</a:t>
            </a:r>
            <a:endParaRPr/>
          </a:p>
        </p:txBody>
      </p:sp>
      <p:sp>
        <p:nvSpPr>
          <p:cNvPr id="694" name="Google Shape;694;p19"/>
          <p:cNvSpPr txBox="1"/>
          <p:nvPr>
            <p:ph idx="5" type="body"/>
          </p:nvPr>
        </p:nvSpPr>
        <p:spPr>
          <a:xfrm>
            <a:off x="11715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الاصطناعي: المساعد، والتبسيط والترجمة، ودقة الإجابات</a:t>
            </a:r>
            <a:endParaRPr/>
          </a:p>
        </p:txBody>
      </p:sp>
      <p:pic>
        <p:nvPicPr>
          <p:cNvPr id="9191" name="Screenshot 2" descr="رمز الواجهة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6" name="Google Shape;696;p19"/>
          <p:cNvSpPr txBox="1"/>
          <p:nvPr>
            <p:ph idx="7" type="body"/>
          </p:nvPr>
        </p:nvSpPr>
        <p:spPr>
          <a:xfrm>
            <a:off x="77152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الياس التركستاني</a:t>
            </a:r>
            <a:endParaRPr/>
          </a:p>
        </p:txBody>
      </p:sp>
      <p:sp>
        <p:nvSpPr>
          <p:cNvPr id="697" name="Google Shape;697;p19"/>
          <p:cNvSpPr txBox="1"/>
          <p:nvPr>
            <p:ph idx="8" type="body"/>
          </p:nvPr>
        </p:nvSpPr>
        <p:spPr>
          <a:xfrm>
            <a:off x="77152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الواجهة وتجربة المستخدم: الخريطة والخط الزمني، ورحلة التعلم</a:t>
            </a:r>
            <a:endParaRPr/>
          </a:p>
        </p:txBody>
      </p:sp>
      <p:pic>
        <p:nvPicPr>
          <p:cNvPr id="9192" name="Screenshot 3" descr="رمز المحتوى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1000" y="3857625"/>
            <a:ext cx="2571750" cy="2571750"/>
          </a:xfrm>
          <a:prstGeom prst="rect">
            <a:avLst/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99" name="Google Shape;699;p19"/>
          <p:cNvSpPr txBox="1"/>
          <p:nvPr>
            <p:ph idx="13" type="body"/>
          </p:nvPr>
        </p:nvSpPr>
        <p:spPr>
          <a:xfrm>
            <a:off x="3714750" y="6953250"/>
            <a:ext cx="3524250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حسان الغامدي</a:t>
            </a:r>
            <a:endParaRPr/>
          </a:p>
        </p:txBody>
      </p:sp>
      <p:sp>
        <p:nvSpPr>
          <p:cNvPr id="700" name="Google Shape;700;p19"/>
          <p:cNvSpPr txBox="1"/>
          <p:nvPr>
            <p:ph idx="14" type="body"/>
          </p:nvPr>
        </p:nvSpPr>
        <p:spPr>
          <a:xfrm>
            <a:off x="3714750" y="7810500"/>
            <a:ext cx="3524250" cy="904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المحتوى والمراجعة: جمع المصادر، ومراجعة الأحداث والمصطلحات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الترخيص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دوره في 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التفاصيل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في المصادر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بحث بالمعنى وبالكلمات معًا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Apache-2.0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ترتيب نتائج 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يقدّم النصوص الأقرب إلى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الاستخدام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 وكتابة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نصوص المصادر فقط، ويُرفض الجواب بلا استشهاد صحيح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OpenAI 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MIT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والخادم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 على Vercel، والخادم على Modal بمعالج رسومي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React + FastAPI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شروط الخدمة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الاستماع إلى القصة كاملة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بالعربية والإنجليزية: 142 حدثًا ومقدمات الفصول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ElevenLabs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التقنيات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مكوّنات الذكاء الاصطناعي والمنصة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مكوّن، ودوره في الحل، وترخيصه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التفاصيل والتراخيص كاملة في مستودع المشروع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7" name="Google Shape;817;p24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18" name="Google Shape;818;p24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الذكاء الاصطناعي</a:t>
            </a:r>
            <a:endParaRPr/>
          </a:p>
        </p:txBody>
      </p:sp>
      <p:sp>
        <p:nvSpPr>
          <p:cNvPr id="819" name="Google Shape;819;p24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كيف يجيب «اسأل الخريطة»</a:t>
            </a:r>
            <a:endParaRPr/>
          </a:p>
        </p:txBody>
      </p:sp>
      <p:sp>
        <p:nvSpPr>
          <p:cNvPr id="820" name="Google Shape;820;p24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سؤال المستخدم إلى الجواب على الخريطة</a:t>
            </a:r>
            <a:endParaRPr/>
          </a:p>
        </p:txBody>
      </p:sp>
      <p:sp>
        <p:nvSpPr>
          <p:cNvPr id="821" name="Google Shape;821;p24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822" name="Google Shape;822;p24"/>
          <p:cNvSpPr/>
          <p:nvPr/>
        </p:nvSpPr>
        <p:spPr>
          <a:xfrm>
            <a:off x="13716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67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01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السؤال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أو الإنجليزية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سياق المحادثة لأسئلة المتابعة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0" rtl="1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1"/>
          </a:p>
        </p:txBody>
      </p:sp>
      <p:sp>
        <p:nvSpPr>
          <p:cNvPr id="823" name="Google Shape;823;p24"/>
          <p:cNvSpPr/>
          <p:nvPr/>
        </p:nvSpPr>
        <p:spPr>
          <a:xfrm>
            <a:off x="9715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02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الفهم والبحث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نموذج لغوي يصنّف السؤال ويعيد صياغته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بحث في 2,905 من نصوص المصادر ثم ترتيبها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4" name="Google Shape;824;p24"/>
          <p:cNvSpPr/>
          <p:nvPr/>
        </p:nvSpPr>
        <p:spPr>
          <a:xfrm>
            <a:off x="57150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38125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03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جواب موثّق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يجيب من المصادر مع روابطها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وإن لم يجد فيها جوابًا امتنع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sp>
        <p:nvSpPr>
          <p:cNvPr id="825" name="Google Shape;825;p24"/>
          <p:cNvSpPr/>
          <p:nvPr/>
        </p:nvSpPr>
        <p:spPr>
          <a:xfrm>
            <a:off x="1714500" y="4333800"/>
            <a:ext cx="3429000" cy="3714900"/>
          </a:xfrm>
          <a:prstGeom prst="roundRect">
            <a:avLst>
              <a:gd fmla="val 8059" name="adj"/>
            </a:avLst>
          </a:prstGeom>
          <a:solidFill>
            <a:srgbClr val="FFFFFF">
              <a:alpha val="3920"/>
            </a:srgbClr>
          </a:solidFill>
          <a:ln cap="flat" cmpd="sng" w="8175">
            <a:solidFill>
              <a:srgbClr val="2EF2C2">
                <a:alpha val="1216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8400" lIns="78400" spcFirstLastPara="1" rIns="78400" wrap="square" tIns="78400">
            <a:noAutofit/>
          </a:bodyPr>
          <a:lstStyle/>
          <a:p>
            <a:pPr indent="0" lvl="0" marL="0" marR="223307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ar-SA" sz="36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04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300"/>
              </a:spcBef>
              <a:spcAft>
                <a:spcPts val="0"/>
              </a:spcAft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على الخريطة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22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تنتقل الخريطة إلى الحدث أو بطاقة الشخص</a:t>
            </a:r>
            <a:endParaRPr>
              <a:solidFill>
                <a:schemeClr val="dk1"/>
              </a:solidFill>
              <a:latin typeface="Readex Pro"/>
              <a:ea typeface="Readex Pro"/>
              <a:cs typeface="Readex Pro"/>
              <a:sym typeface="Readex Pro"/>
            </a:endParaRPr>
          </a:p>
          <a:p>
            <a:pPr indent="0" lvl="0" marL="269999" rtl="1" algn="r">
              <a:spcBef>
                <a:spcPts val="600"/>
              </a:spcBef>
              <a:spcAft>
                <a:spcPts val="0"/>
              </a:spcAft>
              <a:buNone/>
            </a:pPr>
            <a:r>
              <a:rPr lang="ar-SA" sz="217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مع زر للعودة إلى موضع القراءة</a:t>
            </a:r>
            <a:endParaRPr b="1" sz="36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pic>
        <p:nvPicPr>
          <p:cNvPr id="826" name="Google Shape;82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250" name="Screenshot 1" descr="Ask the map: an answer about the first revelation from Dorar and Sahih al-Bukhari, the map at the cave of Hir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الخريطة: مساعد بالذكاء الاصطناعي يجيب من المصادر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عن بدء الوحي: جواب من الدرر السنية وصحيح البخاري مع رابطيهما، وتنتقل الخريطة إلى غار حراء مع زر للعودة إلى موضع القراءة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7" name="Shape 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8" name="Google Shape;858;p27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9" name="Google Shape;859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860" name="Google Shape;860;p27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الحل</a:t>
            </a:r>
            <a:endParaRPr/>
          </a:p>
        </p:txBody>
      </p:sp>
      <p:sp>
        <p:nvSpPr>
          <p:cNvPr id="861" name="Google Shape;861;p27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بداية: السيرة قصةً على الخريطة</a:t>
            </a:r>
            <a:endParaRPr/>
          </a:p>
        </p:txBody>
      </p:sp>
      <p:sp>
        <p:nvSpPr>
          <p:cNvPr id="862" name="Google Shape;862;p27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بالعربية والإنجليزية، مع ملخص للسيرة في 21 لحظة، وإعدادات للإتاحة: حجم النص، والتباعد، وألوان بتباين عالٍ، وخط القراءة، وتقليل الحركة</a:t>
            </a:r>
            <a:endParaRPr/>
          </a:p>
        </p:txBody>
      </p:sp>
      <p:sp>
        <p:nvSpPr>
          <p:cNvPr id="863" name="Google Shape;863;p27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864" name="Google Shape;864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4458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5" name="Google Shape;865;p27"/>
          <p:cNvSpPr txBox="1"/>
          <p:nvPr>
            <p:ph idx="3" type="body"/>
          </p:nvPr>
        </p:nvSpPr>
        <p:spPr>
          <a:xfrm>
            <a:off x="13411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</a:t>
            </a:r>
            <a:endParaRPr/>
          </a:p>
        </p:txBody>
      </p:sp>
      <p:sp>
        <p:nvSpPr>
          <p:cNvPr id="866" name="Google Shape;866;p27"/>
          <p:cNvSpPr txBox="1"/>
          <p:nvPr>
            <p:ph idx="4" type="body"/>
          </p:nvPr>
        </p:nvSpPr>
        <p:spPr>
          <a:xfrm>
            <a:off x="13411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142 حدثًا على الخريطة خطوة بخطوة، وسؤال في نهاية كل فصل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67" name="Google Shape;867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458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27"/>
          <p:cNvSpPr txBox="1"/>
          <p:nvPr>
            <p:ph idx="5" type="body"/>
          </p:nvPr>
        </p:nvSpPr>
        <p:spPr>
          <a:xfrm>
            <a:off x="9410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</a:t>
            </a:r>
            <a:endParaRPr/>
          </a:p>
        </p:txBody>
      </p:sp>
      <p:sp>
        <p:nvSpPr>
          <p:cNvPr id="869" name="Google Shape;869;p27"/>
          <p:cNvSpPr txBox="1"/>
          <p:nvPr>
            <p:ph idx="6" type="body"/>
          </p:nvPr>
        </p:nvSpPr>
        <p:spPr>
          <a:xfrm>
            <a:off x="9410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مع أحداثها، من الصحيحين وموسوعة التفسير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0" name="Google Shape;870;p2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4579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p27"/>
          <p:cNvSpPr txBox="1"/>
          <p:nvPr>
            <p:ph idx="7" type="body"/>
          </p:nvPr>
        </p:nvSpPr>
        <p:spPr>
          <a:xfrm>
            <a:off x="54102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اسأل الخريطة</a:t>
            </a:r>
            <a:endParaRPr/>
          </a:p>
        </p:txBody>
      </p:sp>
      <p:sp>
        <p:nvSpPr>
          <p:cNvPr id="872" name="Google Shape;872;p27"/>
          <p:cNvSpPr txBox="1"/>
          <p:nvPr>
            <p:ph idx="8" type="body"/>
          </p:nvPr>
        </p:nvSpPr>
        <p:spPr>
          <a:xfrm>
            <a:off x="54102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مساعد بالذكاء الاصطناعي يجيب من المصادر وينقل الخريطة إلى الحدث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  <p:pic>
        <p:nvPicPr>
          <p:cNvPr id="873" name="Google Shape;873;p2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2457450" y="4000500"/>
            <a:ext cx="1428750" cy="142875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27"/>
          <p:cNvSpPr txBox="1"/>
          <p:nvPr>
            <p:ph idx="9" type="body"/>
          </p:nvPr>
        </p:nvSpPr>
        <p:spPr>
          <a:xfrm>
            <a:off x="1409700" y="6048375"/>
            <a:ext cx="35244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1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مسموعة</a:t>
            </a:r>
            <a:endParaRPr/>
          </a:p>
        </p:txBody>
      </p:sp>
      <p:sp>
        <p:nvSpPr>
          <p:cNvPr id="875" name="Google Shape;875;p27"/>
          <p:cNvSpPr txBox="1"/>
          <p:nvPr>
            <p:ph idx="13" type="body"/>
          </p:nvPr>
        </p:nvSpPr>
        <p:spPr>
          <a:xfrm>
            <a:off x="1409700" y="7162800"/>
            <a:ext cx="3524400" cy="11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كل الأحداث ومقدمات الفصول بصوت مقروء، بالعربية والإنجليزية</a:t>
            </a:r>
            <a:endParaRPr/>
          </a:p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3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4" name="Google Shape;914;p31" title="خلفية هكثون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915" name="Google Shape;915;p31"/>
          <p:cNvSpPr txBox="1"/>
          <p:nvPr>
            <p:ph idx="1" type="body"/>
          </p:nvPr>
        </p:nvSpPr>
        <p:spPr>
          <a:xfrm>
            <a:off x="3810000" y="5676900"/>
            <a:ext cx="106680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b="0" lang="ar-SA" sz="27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بداية</a:t>
            </a:r>
            <a:endParaRPr/>
          </a:p>
        </p:txBody>
      </p:sp>
      <p:sp>
        <p:nvSpPr>
          <p:cNvPr id="916" name="Google Shape;916;p31"/>
          <p:cNvSpPr txBox="1"/>
          <p:nvPr>
            <p:ph idx="2" type="body"/>
          </p:nvPr>
        </p:nvSpPr>
        <p:spPr>
          <a:xfrm>
            <a:off x="3810000" y="6653200"/>
            <a:ext cx="10668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en-US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bidaya-sirah.vercel.app  ·  github.com/omarbintalib/Bidaya</a:t>
            </a:r>
            <a:endParaRPr/>
          </a:p>
        </p:txBody>
      </p:sp>
      <p:sp>
        <p:nvSpPr>
          <p:cNvPr id="917" name="Google Shape;917;p31"/>
          <p:cNvSpPr txBox="1"/>
          <p:nvPr>
            <p:ph type="title"/>
          </p:nvPr>
        </p:nvSpPr>
        <p:spPr>
          <a:xfrm>
            <a:off x="3810000" y="3819525"/>
            <a:ext cx="106680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200"/>
              <a:buNone/>
            </a:pPr>
            <a:r>
              <a:rPr b="1" lang="ar-SA" sz="72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شكراً لكم</a:t>
            </a:r>
            <a:endParaRPr/>
          </a:p>
        </p:txBody>
      </p:sp>
      <p:pic>
        <p:nvPicPr>
          <p:cNvPr id="918" name="Google Shape;918;p31" title="شعار الهاكثون لايت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8450" y="1277075"/>
            <a:ext cx="6546002" cy="167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9" name="Google Shape;919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3237879" y="1460433"/>
            <a:ext cx="1891696" cy="119599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0" name="Google Shape;920;p31" title="شعار عام الذكاء الاصطناعي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0056994" y="1261812"/>
            <a:ext cx="2908672" cy="1708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1" name="Google Shape;921;p31" title="شعار سدايا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750489" y="7716733"/>
            <a:ext cx="2292680" cy="1346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2" name="Google Shape;922;p31" title="شعار فيوتشر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179331" y="7929122"/>
            <a:ext cx="1570852" cy="92195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3" name="Google Shape;923;p31" title="شعار التحول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73933" y="7875719"/>
            <a:ext cx="1752806" cy="1028753"/>
          </a:xfrm>
          <a:prstGeom prst="rect">
            <a:avLst/>
          </a:prstGeom>
          <a:noFill/>
          <a:ln>
            <a:noFill/>
          </a:ln>
        </p:spPr>
      </p:pic>
      <p:sp>
        <p:nvSpPr>
          <p:cNvPr id="924" name="Google Shape;924;p31"/>
          <p:cNvSpPr txBox="1"/>
          <p:nvPr/>
        </p:nvSpPr>
        <p:spPr>
          <a:xfrm>
            <a:off x="14046675" y="8254733"/>
            <a:ext cx="1062000" cy="29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شركاء التحدي</a:t>
            </a:r>
            <a:r>
              <a:rPr lang="ar-SA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:</a:t>
            </a:r>
            <a:endParaRPr sz="1800">
              <a:solidFill>
                <a:srgbClr val="2EF2C2"/>
              </a:solidFill>
              <a:latin typeface="Readex Pro"/>
              <a:ea typeface="Readex Pro"/>
              <a:cs typeface="Readex Pro"/>
              <a:sym typeface="Readex Pro"/>
            </a:endParaRPr>
          </a:p>
        </p:txBody>
      </p:sp>
      <p:cxnSp>
        <p:nvCxnSpPr>
          <p:cNvPr id="925" name="Google Shape;925;p31"/>
          <p:cNvCxnSpPr/>
          <p:nvPr/>
        </p:nvCxnSpPr>
        <p:spPr>
          <a:xfrm>
            <a:off x="7456246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926" name="Google Shape;926;p31"/>
          <p:cNvCxnSpPr/>
          <p:nvPr/>
        </p:nvCxnSpPr>
        <p:spPr>
          <a:xfrm>
            <a:off x="5075007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927" name="Google Shape;927;p31" title="شعار وزارة الاتصالات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0602750" y="7979050"/>
            <a:ext cx="3035650" cy="8471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28" name="Google Shape;928;p31"/>
          <p:cNvCxnSpPr/>
          <p:nvPr/>
        </p:nvCxnSpPr>
        <p:spPr>
          <a:xfrm>
            <a:off x="10366904" y="8142400"/>
            <a:ext cx="0" cy="453600"/>
          </a:xfrm>
          <a:prstGeom prst="straightConnector1">
            <a:avLst/>
          </a:prstGeom>
          <a:noFill/>
          <a:ln cap="flat" cmpd="sng" w="9525">
            <a:solidFill>
              <a:srgbClr val="2EF2C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30" name="Screenshot 1" descr="The story on the map: the Prophet’s letters to the kings, the event text and its peop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القصة على الخريطة: رسائل النبي ﷺ إلى الملوك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من المدينة إلى كل ملك على الخريطة، مع نص الحدث من الدرر ومصدره، والشخصيات فيه، وقراءته صوتيًا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40" name="Screenshot 1" descr="Verses linked to the Battle of Badr on its event car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السور في سياقها: الآيات مع حدثها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الآيات التي نزلت في غزوة بدر على بطاقة الحدث، كل آية بسورتها ورقمها ووجه ارتباطها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المسؤول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البديل أو الضمان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التكلفة التقريبية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البند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تعطّل أجاب الموقع من بياناته المحلية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0.59 دولار للساعة تُحسب بالثانية، وينام بعد 5 دقائق بلا أسئلة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الخادم ومعالج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الذكاء الاصطناعي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الشيفرة تدعم Gemini بديلًا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450 سؤالًا في التطوير والاختبار كلّفت قرابة دولار واحد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النموذج اللغوي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يُنقل إلى أي استضافة لمواقع ثابتة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موقع ثابت على Vercel، تكلفته منخفضة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الموقع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حالة مراجعة السجلات مدوّنة في البيانات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وقت المراجع لاعتماد السجلات الجديدة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مراجعة المحتوى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مسؤول الواجهة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ملفات ثابتة مع الموقع، لا تحتاج خادمًا ولا نموذجًا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وُلّدت مرة واحدة؛ ولا تكلفة لكل استماع سوى نقل الملفات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القراءة الصوتية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التشغيل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التشغيل والتكلفة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التبني: رابط مجاني بلا حساب، ننشره عبر المراكز الإسلامية وبرامج المسلمين الجدد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سعر الخادم المعلن لدى Modal في أكتوبر 2026، وتكلفة النموذج من فاتورة المشروع الفعلية لدى OpenAI · المصادر وتراخيصها موثقة في المستودع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2" name="Google Shape;832;p25" title="خلفية هكثون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833" name="Google Shape;833;p2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pic>
        <p:nvPicPr>
          <p:cNvPr id="9360" name="Screenshot 1" descr="The Hijra chapter question, answered, with the Dorar quote and the map at the Cave of Thaw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4160" y="666750"/>
            <a:ext cx="12979680" cy="6953400"/>
          </a:xfrm>
          <a:prstGeom prst="roundRect">
            <a:avLst>
              <a:gd fmla="val 3580" name="adj"/>
            </a:avLst>
          </a:prstGeom>
          <a:ln cap="flat" cmpd="sng" w="11425">
            <a:solidFill>
              <a:srgbClr val="4A5590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35" name="Google Shape;835;p25"/>
          <p:cNvSpPr txBox="1"/>
          <p:nvPr>
            <p:ph type="title"/>
          </p:nvPr>
        </p:nvSpPr>
        <p:spPr>
          <a:xfrm>
            <a:off x="2038350" y="7962900"/>
            <a:ext cx="14763900" cy="83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900"/>
              <a:buNone/>
            </a:pPr>
            <a:r>
              <a:rPr b="1" lang="ar-SA" sz="39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سؤال في نهاية كل فصل: يختبر القارئ ما فهمه</a:t>
            </a:r>
            <a:endParaRPr/>
          </a:p>
        </p:txBody>
      </p:sp>
      <p:sp>
        <p:nvSpPr>
          <p:cNvPr id="836" name="Google Shape;836;p25"/>
          <p:cNvSpPr txBox="1"/>
          <p:nvPr>
            <p:ph idx="1" type="body"/>
          </p:nvPr>
        </p:nvSpPr>
        <p:spPr>
          <a:xfrm>
            <a:off x="1990725" y="8824913"/>
            <a:ext cx="147639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b="0" lang="ar-SA" sz="21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سؤال فصل الهجرة: يختار القارئ الجواب أو يلمس المكان على الخريطة، ثم يرى الشرح ونص الدرر ومصدره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2286000"/>
                <a:gridCol w="3238500"/>
                <a:gridCol w="6191250"/>
                <a:gridCol w="371475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 سيرة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مساعد ذكاء اصطناعي عام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بداية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يحتاجه المبتدئ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مرتب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نص بلا خريطة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142 حدثًا على خريطة تفاعلية وخط زمني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الأحداث في أماكنها وترتيبها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بعضها داخل النص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سُئل عنها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على بطاقة الحدث، بسورتها ووجه ارتباطها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الآيات مع حدثها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بلا مصدر، وفي 8 من 50 خطأ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المصادر المعتمدة مع روابطها، ولا خطأ في 50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جواب عن سؤاله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—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أجاب عن 6 من 6 بنفسه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يمتنع أو يحيل إلى الإفتاء وأهل العلم: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فتوى، أو سؤال شخصي أو خارج الموضوع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لا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إن طُلب منه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سؤال في نهاية كل فصل، مع نص الدرر ومصدره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225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التحقق من فهمه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القيمة المضافة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بداية مقارنة بما يجده المبتدئ اليوم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لا تُغني عن كتب السيرة، بل تقرّبها وتحيل إليها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المساعد العام: Claude Haiku 4.5 بلا مصادر، على الأسئلة الخمسين نفسها بتصحيح يدوي. حدود المقارنة: نموذج واحد وتشغيل واحد؛ وأجابت بداية عن 36 فقط لأنها تمتنع حين تسكت المصادر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83F"/>
        </a:solidFill>
      </p:bgPr>
    </p:bg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1" name="Google Shape;60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602" name="Google Shape;602;p15"/>
          <p:cNvSpPr/>
          <p:nvPr/>
        </p:nvSpPr>
        <p:spPr>
          <a:xfrm>
            <a:off x="7391400" y="9467850"/>
            <a:ext cx="9144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1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ar-SA" sz="135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تحدي الذكاء الاصطناعي في خدمة المحتوى الإسلامي</a:t>
            </a:r>
            <a:endParaRPr/>
          </a:p>
        </p:txBody>
      </p:sp>
      <p:pic>
        <p:nvPicPr>
          <p:cNvPr id="603" name="Google Shape;60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6800" y="693967"/>
            <a:ext cx="3429002" cy="879015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15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أثر الاستخدام</a:t>
            </a:r>
            <a:endParaRPr/>
          </a:p>
        </p:txBody>
      </p:sp>
      <p:sp>
        <p:nvSpPr>
          <p:cNvPr id="605" name="Google Shape;605;p15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تجربة مع المستفيدين</a:t>
            </a:r>
            <a:endParaRPr/>
          </a:p>
        </p:txBody>
      </p:sp>
      <p:sp>
        <p:nvSpPr>
          <p:cNvPr id="606" name="Google Shape;606;p15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عشرة أشخاص يريدون تعلّم السيرة: ستة أسئلة عن الهجرة قبل استخدام بداية نحو 10 دقائق وبعده، ونزلت إجابات «لا أعرف» من 27 إلى 2</a:t>
            </a:r>
            <a:endParaRPr/>
          </a:p>
        </p:txBody>
      </p:sp>
      <p:sp>
        <p:nvSpPr>
          <p:cNvPr id="607" name="Google Shape;607;p15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8E99CC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sp>
        <p:nvSpPr>
          <p:cNvPr id="608" name="Google Shape;608;p15"/>
          <p:cNvSpPr txBox="1"/>
          <p:nvPr>
            <p:ph idx="3" type="body"/>
          </p:nvPr>
        </p:nvSpPr>
        <p:spPr>
          <a:xfrm>
            <a:off x="13716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5.5/6</a:t>
            </a:r>
            <a:endParaRPr/>
          </a:p>
        </p:txBody>
      </p:sp>
      <p:sp>
        <p:nvSpPr>
          <p:cNvPr id="609" name="Google Shape;609;p15"/>
          <p:cNvSpPr txBox="1"/>
          <p:nvPr>
            <p:ph idx="4" type="body"/>
          </p:nvPr>
        </p:nvSpPr>
        <p:spPr>
          <a:xfrm>
            <a:off x="13716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إجابات صحيحة بعد الاستخدام</a:t>
            </a:r>
            <a:endParaRPr/>
          </a:p>
        </p:txBody>
      </p:sp>
      <p:sp>
        <p:nvSpPr>
          <p:cNvPr id="610" name="Google Shape;610;p15"/>
          <p:cNvSpPr txBox="1"/>
          <p:nvPr>
            <p:ph idx="5" type="body"/>
          </p:nvPr>
        </p:nvSpPr>
        <p:spPr>
          <a:xfrm>
            <a:off x="13716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وقبله 2.8؛ تحسّن 7 من 10 ولم يتراجع أحد</a:t>
            </a:r>
            <a:endParaRPr/>
          </a:p>
        </p:txBody>
      </p:sp>
      <p:sp>
        <p:nvSpPr>
          <p:cNvPr id="611" name="Google Shape;611;p15"/>
          <p:cNvSpPr txBox="1"/>
          <p:nvPr>
            <p:ph idx="6" type="body"/>
          </p:nvPr>
        </p:nvSpPr>
        <p:spPr>
          <a:xfrm>
            <a:off x="9715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4.7/5</a:t>
            </a:r>
            <a:endParaRPr/>
          </a:p>
        </p:txBody>
      </p:sp>
      <p:sp>
        <p:nvSpPr>
          <p:cNvPr id="612" name="Google Shape;612;p15"/>
          <p:cNvSpPr txBox="1"/>
          <p:nvPr>
            <p:ph idx="7" type="body"/>
          </p:nvPr>
        </p:nvSpPr>
        <p:spPr>
          <a:xfrm>
            <a:off x="9715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ترتيب أحداث الهجرة كان واضحًا</a:t>
            </a:r>
            <a:endParaRPr/>
          </a:p>
        </p:txBody>
      </p:sp>
      <p:sp>
        <p:nvSpPr>
          <p:cNvPr id="613" name="Google Shape;613;p15"/>
          <p:cNvSpPr txBox="1"/>
          <p:nvPr>
            <p:ph idx="8" type="body"/>
          </p:nvPr>
        </p:nvSpPr>
        <p:spPr>
          <a:xfrm>
            <a:off x="9715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متوسط تقييمهم من 1 إلى 5</a:t>
            </a:r>
            <a:endParaRPr/>
          </a:p>
        </p:txBody>
      </p:sp>
      <p:sp>
        <p:nvSpPr>
          <p:cNvPr id="614" name="Google Shape;614;p15"/>
          <p:cNvSpPr txBox="1"/>
          <p:nvPr>
            <p:ph idx="9" type="body"/>
          </p:nvPr>
        </p:nvSpPr>
        <p:spPr>
          <a:xfrm>
            <a:off x="57150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4.6/5</a:t>
            </a:r>
            <a:endParaRPr/>
          </a:p>
        </p:txBody>
      </p:sp>
      <p:sp>
        <p:nvSpPr>
          <p:cNvPr id="615" name="Google Shape;615;p15"/>
          <p:cNvSpPr txBox="1"/>
          <p:nvPr>
            <p:ph idx="13" type="body"/>
          </p:nvPr>
        </p:nvSpPr>
        <p:spPr>
          <a:xfrm>
            <a:off x="57150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الخريطة ساعدت على الفهم</a:t>
            </a:r>
            <a:endParaRPr/>
          </a:p>
        </p:txBody>
      </p:sp>
      <p:sp>
        <p:nvSpPr>
          <p:cNvPr id="616" name="Google Shape;616;p15"/>
          <p:cNvSpPr txBox="1"/>
          <p:nvPr>
            <p:ph idx="14" type="body"/>
          </p:nvPr>
        </p:nvSpPr>
        <p:spPr>
          <a:xfrm>
            <a:off x="57150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ما حدث وأين حدث</a:t>
            </a:r>
            <a:endParaRPr/>
          </a:p>
        </p:txBody>
      </p:sp>
      <p:sp>
        <p:nvSpPr>
          <p:cNvPr id="617" name="Google Shape;617;p15"/>
          <p:cNvSpPr txBox="1"/>
          <p:nvPr>
            <p:ph idx="15" type="body"/>
          </p:nvPr>
        </p:nvSpPr>
        <p:spPr>
          <a:xfrm>
            <a:off x="1714500" y="4333875"/>
            <a:ext cx="3429000" cy="15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50"/>
              <a:buNone/>
            </a:pPr>
            <a:r>
              <a:rPr b="1" lang="ar-SA" sz="7050">
                <a:solidFill>
                  <a:srgbClr val="2EF2C2"/>
                </a:solidFill>
                <a:latin typeface="Readex Pro"/>
                <a:ea typeface="Readex Pro"/>
                <a:cs typeface="Readex Pro"/>
                <a:sym typeface="Readex Pro"/>
              </a:rPr>
              <a:t>9/10</a:t>
            </a:r>
            <a:endParaRPr/>
          </a:p>
        </p:txBody>
      </p:sp>
      <p:sp>
        <p:nvSpPr>
          <p:cNvPr id="618" name="Google Shape;618;p15"/>
          <p:cNvSpPr txBox="1"/>
          <p:nvPr>
            <p:ph idx="16" type="body"/>
          </p:nvPr>
        </p:nvSpPr>
        <p:spPr>
          <a:xfrm>
            <a:off x="1714500" y="6048375"/>
            <a:ext cx="3429000" cy="714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50"/>
              <a:buNone/>
            </a:pPr>
            <a:r>
              <a:rPr b="1" lang="ar-SA" sz="2550">
                <a:solidFill>
                  <a:srgbClr val="F2F4FF"/>
                </a:solidFill>
                <a:latin typeface="Readex Pro"/>
                <a:ea typeface="Readex Pro"/>
                <a:cs typeface="Readex Pro"/>
                <a:sym typeface="Readex Pro"/>
              </a:rPr>
              <a:t>وجدوا جواب «اسأل الخريطة» مفيدًا</a:t>
            </a:r>
            <a:endParaRPr/>
          </a:p>
        </p:txBody>
      </p:sp>
      <p:sp>
        <p:nvSpPr>
          <p:cNvPr id="619" name="Google Shape;619;p15"/>
          <p:cNvSpPr txBox="1"/>
          <p:nvPr>
            <p:ph idx="17" type="body"/>
          </p:nvPr>
        </p:nvSpPr>
        <p:spPr>
          <a:xfrm>
            <a:off x="1714500" y="7000875"/>
            <a:ext cx="3429000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25"/>
              <a:buNone/>
            </a:pPr>
            <a:r>
              <a:rPr b="0" lang="ar-SA" sz="2025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والعاشر لم يجرّبه</a:t>
            </a:r>
            <a:endParaRPr/>
          </a:p>
        </p:txBody>
      </p:sp>
      <p:sp>
        <p:nvSpPr>
          <p:cNvPr id="620" name="Google Shape;620;p15"/>
          <p:cNvSpPr txBox="1"/>
          <p:nvPr>
            <p:ph idx="18" type="body"/>
          </p:nvPr>
        </p:nvSpPr>
        <p:spPr>
          <a:xfrm>
            <a:off x="8381075" y="8763000"/>
            <a:ext cx="84591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CBCFE6"/>
                </a:solidFill>
                <a:latin typeface="Readex Pro"/>
                <a:ea typeface="Readex Pro"/>
                <a:cs typeface="Readex Pro"/>
                <a:sym typeface="Readex Pro"/>
              </a:rPr>
              <a:t>عدد محدود، وأكثرهم قال إنه يعرف السيرة «بعض الشيء»: أرسلنا النموذج في اليوم الأخير فقط، ولم تكن لدينا دائرة واسعة لنشره. الردود في المستودع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8" name="Google Shape;728;p21" title="خلفية هكثون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29" name="Google Shape;729;p21" title="شعار تحدي الذكاء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5225" y="572270"/>
            <a:ext cx="3490299" cy="1109450"/>
          </a:xfrm>
          <a:prstGeom prst="rect">
            <a:avLst/>
          </a:prstGeom>
          <a:noFill/>
          <a:ln>
            <a:noFill/>
          </a:ln>
        </p:spPr>
      </p:pic>
      <p:sp>
        <p:nvSpPr>
          <p:cNvPr id="730" name="Google Shape;730;p21"/>
          <p:cNvSpPr txBox="1"/>
          <p:nvPr>
            <p:ph idx="12" type="sldNum"/>
          </p:nvPr>
        </p:nvSpPr>
        <p:spPr>
          <a:xfrm>
            <a:off x="1066800" y="9467850"/>
            <a:ext cx="95250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‹#›</a:t>
            </a:fld>
            <a:endParaRPr/>
          </a:p>
        </p:txBody>
      </p:sp>
      <p:graphicFrame>
        <p:nvGraphicFramePr>
          <p:cNvPr id="731" name="Google Shape;731;p21"/>
          <p:cNvGraphicFramePr/>
          <p:nvPr/>
        </p:nvGraphicFramePr>
        <p:xfrm>
          <a:off x="1714500" y="3905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{B8ED9858-D163-4338-9E88-1F424354888F}</a:tableStyleId>
              </a:tblPr>
              <a:tblGrid>
                <a:gridCol w="5300000"/>
                <a:gridCol w="5000000"/>
                <a:gridCol w="2900000"/>
                <a:gridCol w="2230500"/>
              </a:tblGrid>
              <a:tr h="7810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ما قِسناه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كيف يعمل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المكوّن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1" lang="ar-SA" sz="2250" u="none" cap="none" strike="noStrike">
                          <a:solidFill>
                            <a:srgbClr val="6150EA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المرحلة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0D9FB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إحالة صحيحة للفتوى والأسئلة الشخصية: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يصنّف السؤال ويعيد صياغته بالعربية والإنجليزية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فهم السؤال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النص الصحيح ضمن أول 5 نتائج: 100%، والبحث بالكلمات وحده 88%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بالمعنى والكلمات معًا، ويُبقي 30 نصًا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bge-m3 + BM25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«متى توفي الرسول»: النص الصحيح من المرتبة 16 إلى 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يقرأ السؤال مع كل نص، ويُبقي أفضل 10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bge-reranker-v2-m3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إعادة الترتيب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الامتناع عما لا مصدر له: 6 من 6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من النصوص العشرة فقط، وكل جملة بمصدرها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gpt-6-luna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كتابة الجواب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  <a:tr h="73500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نحو 7.5 ثوانٍ للجواب على الموقع الحي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البحث على معالج رسومي، والنموذج اللغوي عبر الإنترنت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en-US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Modal T4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250"/>
                        <a:buFont typeface="Arial"/>
                        <a:buNone/>
                      </a:pPr>
                      <a:r>
                        <a:rPr b="0" lang="ar-SA" sz="1800" u="none" cap="none" strike="noStrike">
                          <a:solidFill>
                            <a:srgbClr val="12183F"/>
                          </a:solidFill>
                          <a:latin typeface="Readex Pro"/>
                          <a:ea typeface="Readex Pro"/>
                          <a:cs typeface="Readex Pro"/>
                          <a:sym typeface="Readex Pro"/>
                        </a:rPr>
                        <a:t>التشغيل</a:t>
                      </a:r>
                      <a:endParaRPr/>
                    </a:p>
                  </a:txBody>
                  <a:tcPr marT="45725" marB="45725" marR="91450" marL="91450" anchor="ctr">
                    <a:lnL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0D9FB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AF9FF"/>
                    </a:solidFill>
                  </a:tcPr>
                </a:tc>
              </a:tr>
            </a:tbl>
          </a:graphicData>
        </a:graphic>
      </p:graphicFrame>
      <p:sp>
        <p:nvSpPr>
          <p:cNvPr id="732" name="Google Shape;732;p21"/>
          <p:cNvSpPr txBox="1"/>
          <p:nvPr>
            <p:ph idx="1" type="body"/>
          </p:nvPr>
        </p:nvSpPr>
        <p:spPr>
          <a:xfrm>
            <a:off x="10363200" y="1028700"/>
            <a:ext cx="64770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6150EA"/>
                </a:solidFill>
                <a:latin typeface="Readex Pro"/>
                <a:ea typeface="Readex Pro"/>
                <a:cs typeface="Readex Pro"/>
                <a:sym typeface="Readex Pro"/>
              </a:rPr>
              <a:t>المنهجية</a:t>
            </a:r>
            <a:endParaRPr/>
          </a:p>
        </p:txBody>
      </p:sp>
      <p:sp>
        <p:nvSpPr>
          <p:cNvPr id="733" name="Google Shape;733;p21"/>
          <p:cNvSpPr txBox="1"/>
          <p:nvPr>
            <p:ph type="title"/>
          </p:nvPr>
        </p:nvSpPr>
        <p:spPr>
          <a:xfrm>
            <a:off x="1409700" y="1809750"/>
            <a:ext cx="15430500" cy="952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b="1" lang="ar-SA" sz="4500">
                <a:solidFill>
                  <a:srgbClr val="12183F"/>
                </a:solidFill>
                <a:latin typeface="Readex Pro"/>
                <a:ea typeface="Readex Pro"/>
                <a:cs typeface="Readex Pro"/>
                <a:sym typeface="Readex Pro"/>
              </a:rPr>
              <a:t>كيف بُني المساعد</a:t>
            </a:r>
            <a:endParaRPr/>
          </a:p>
        </p:txBody>
      </p:sp>
      <p:sp>
        <p:nvSpPr>
          <p:cNvPr id="734" name="Google Shape;734;p21"/>
          <p:cNvSpPr txBox="1"/>
          <p:nvPr>
            <p:ph idx="2" type="body"/>
          </p:nvPr>
        </p:nvSpPr>
        <p:spPr>
          <a:xfrm>
            <a:off x="1409700" y="2857500"/>
            <a:ext cx="154305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50"/>
              <a:buNone/>
            </a:pPr>
            <a:r>
              <a:rPr b="0" lang="ar-SA" sz="225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كل مرحلة، والمكوّن الذي يؤديها، وما قِسناه فيها</a:t>
            </a:r>
            <a:endParaRPr/>
          </a:p>
        </p:txBody>
      </p:sp>
      <p:sp>
        <p:nvSpPr>
          <p:cNvPr id="735" name="Google Shape;735;p21"/>
          <p:cNvSpPr txBox="1"/>
          <p:nvPr>
            <p:ph idx="3" type="body"/>
          </p:nvPr>
        </p:nvSpPr>
        <p:spPr>
          <a:xfrm>
            <a:off x="1409700" y="8810625"/>
            <a:ext cx="15430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b="0" lang="ar-SA" sz="1800">
                <a:solidFill>
                  <a:srgbClr val="4A5590"/>
                </a:solidFill>
                <a:latin typeface="Readex Pro"/>
                <a:ea typeface="Readex Pro"/>
                <a:cs typeface="Readex Pro"/>
                <a:sym typeface="Readex Pro"/>
              </a:rPr>
              <a:t>نصوص البحث 2,905: صحيح البخاري 1,579، والرحيق المختوم 602، والدرر 371، والواحدي 161، وسجلات الآيات 94، والصحابة 98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