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image/jpeg" Extension="jp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26.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88" r:id="rId51"/>
    <p:sldId id="289" r:id="rId52"/>
    <p:sldId id="280" r:id="rId30"/>
    <p:sldId id="281" r:id="rId31"/>
    <p:sldId id="279" r:id="rId29"/>
    <p:sldId id="276" r:id="rId26"/>
    <p:sldId id="272" r:id="rId22"/>
    <p:sldId id="287" r:id="rId50"/>
    <p:sldId id="270" r:id="rId20"/>
    <p:sldId id="283" r:id="rId33"/>
    <p:sldId id="290" r:id="rId53"/>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9" Type="http://schemas.openxmlformats.org/officeDocument/2006/relationships/slide" Target="slides/slide24.xml"/><Relationship Id="rId13" Type="http://schemas.openxmlformats.org/officeDocument/2006/relationships/slide" Target="slides/slide8.xml"/><Relationship Id="rId16" Type="http://schemas.openxmlformats.org/officeDocument/2006/relationships/slide" Target="slides/slide11.xml"/>  <Relationship Id="rId50" Type="http://schemas.openxmlformats.org/officeDocument/2006/relationships/slide" Target="slides/slide32.xml"/>
  <Relationship Id="rId51" Type="http://schemas.openxmlformats.org/officeDocument/2006/relationships/slide" Target="slides/slide33.xml"/>
  <Relationship Id="rId52" Type="http://schemas.openxmlformats.org/officeDocument/2006/relationships/slide" Target="slides/slide34.xml"/>
  <Relationship Id="rId53" Type="http://schemas.openxmlformats.org/officeDocument/2006/relationships/slide" Target="slides/slide3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خريطة تفاعلية تروي السيرة النبوية في الزمان والمكان، مع مساعد ذكي يجيب من المصادر. المسار الثالث.</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المستفيد: غير المسلمين والمسلمين الجدد. السيرة مدخل واضح للإسلام، لكن كتبها طويلة ومفصّلة على من يبدأ.</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لم يُعطِ المساعد معلومة خاطئة في اختبار الأسئلة الخمسين: ما لم يجده في المصادر امتنع عنه. التحسن مقيس على مجموعة الأسئلة الستين نفسها قبل التعديل وبعده. ونذكر الحدود: الأجوبة تختلف بين المحاولات، والعربية بحروف لاتينية. كل سؤال وجوابه منشور في المستودع لإعادة التحقق.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نلتزم مستويات المحتوى في المرجعية العلمية: جواب موثق، ذكر الخلاف، والإحالة في الفتوى.</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المرحلة الأولى تعمل الآن على الموقع الحي، والمراحل التالية خطة مقترحة. لم نختبر بداية بعد مع الفئة المستهدفة؛ هذا أول ما نقترحه، بمعيار نجاح المسار: تحسّن فهم المستفيد. سجلات الآيات والأشخاص كلها اعتمدها مسؤول المحتوى، وحالة مراجعة كل سجل مدوّنة في البيانات. ورواية القصة صوتياً بالعربية قيد التطوير (الإنجليزية متاحة الآن).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فريق من ثلاثة أعضاء يغطي التقنية والمحتوى والاختبار.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نموذجان مفتوحان للبحث (bge-m3 ومعيد الترتيب)، ونموذج لغوي للفهم والصياغة، وتحويل النص إلى كلام لرواية القصة كاملة بالإنجليزية (العربية قيد التطوير)، وموقع وخادم مستضافان.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نموذج لغوي يفهم السؤال، بحث في 2,905 نصًا من المصادر ثم ترتيبها، جواب من المصادر مع روابطها أو امتناع، ثم تنتقل الخريطة إلى الحدث. وفي اختبار 50 سؤالًا صعبًا لم يرد جواب بمعلومة خاطئة.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مثال حي من المساعد الذكي: سؤال عن بدر، والجواب من الدرر السنية والرحيق المختوم مع الروابط، والخريطة تنتقل إلى بدر.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الملخص، وبطاقة الشخص التي يفتحها المساعد، وإعدادات الإتاحة على الجوال. رسائل الامتناع توضح الخطوة التالية: الرئاسة العامة للإفتاء أو أقرب مركز إسلامي.</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أربعة عناصر: القصة على الخريطة، السور في سياقها، اسأل الخريطة، ملخص السيرة. كلها بالعربية والإنجليزية، ويمكن الاستماع إلى القصة كاملة بصوت مقروء بالإنجليزية، والنسخة العربية قيد التطوير.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لا تستبدل كتب السيرة؛ هي باب إليها. قسنا الفرق من ملفات المستودع: في 25 جوابًا من اختبار الأسئلة الخمسين تستند إلى صفحات الدرر، وسيط الجواب 36 كلمة مقابل 433 كلمة في الصفحات المستشهد بها، أي نحو عُشر القراءة، و25 من 36 جوابًا تجمع مصدرين أو أكثر. ومن 68 آية مرتبطة بحدث، 31 لا تذكرها صفحة الحدث في الدرر. القياس لكمية القراءة لا للفهم، والسكربت في docs/evaluation.</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شكرًا لكم. الموقع الحي والمستودع في الشريحة.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bidaya_ask.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bidaya_summary.jpg"/><Relationship Id="rId6" Type="http://schemas.openxmlformats.org/officeDocument/2006/relationships/image" Target="../media/bidaya_person.jpg"/><Relationship Id="rId7" Type="http://schemas.openxmlformats.org/officeDocument/2006/relationships/image" Target="../media/bidaya_phone-a11y.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story.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verses.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بداية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خريطة تفاعلية مدعومة بالذكاء الاصطناعي تروي سيرة النبي ﷺ في الزمان والمكان، مع مساعد يجيب من المصادر المعتمدة بالعربية والإنجليزية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بداية</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يصعب فهم السيرة على المبتدئ؟</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السيرة من أوضح الطرق لفهم الإسلام، لكن كتبها طويلة على من يبدأ</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نصوص طويلة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كتب السيرة مفصّلة وطويلة، ويصعب على المبتدئ أن يعرف من أين يبدأ</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أماكن بلا خريطة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بدر وأحد والحديبية أسماء بلا موقع عند من يسمعها أول مرة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آيات بلا سياق</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كثير من آيات القرآن نزلت في مواقف من السيرة، والمبتدئ لا يعرف أيها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صعوبة التحقق</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يصعب على غير المختص معرفة الموثوق مما يقرؤه على الإنترنت</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اختبار الإجابات</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بعد إضافة معيد الترتيب وتنقية المصادر: 97.9% بدل 95.8%، والامتناع عما لا مصدر له 100% بدل 83%</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97.9%</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إجابات بمصدر صحيح</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47 من 48 سؤالًا، والباقي امتناع</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امتناع صحيح</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12 سؤالًا عن الفتوى وما لا مصدر له</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معلومة خاطئة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50 جوابًا صعبًا؛ ما لم يجده امتنع عنه</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7.5 ث</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زمن الجواب</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الوسيط على الموقع الحي</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حدود معروفة: تختلف صياغة الجواب ومراجعه بين محاولتين، ويُرفض أحيانًا السؤال بالعربية المكتوبة بحروف لاتينية. كل سؤال وجوابه في docs/evaluation</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مستويات المحتوى وضبط الاستجابة</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كما في المرجعية العلمية للتحدي، وما تفعله بداية في كل مستوى</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في الاختبار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تفعله بداية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أمثلة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المستوى</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بمصدر صحيح أو امتناع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مباشر مع رابط المصدر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متى كانت غزوة بدر؟ من هو أبو بكر؟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(أ) معلومات مستقرة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من المصادر مع المرجع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لماذا قبل النبي ﷺ صلح الحديبية؟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 شرح وتعريف</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صحيحة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ينقل ما في المصادر، ويذكر الخلاف إن ذكرته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عدد شهداء أحد، سنوات مكة بعد البعثة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 مسائل خلافية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6 من 6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امتناع وإحالة إلى الرئاسة العامة للإفتاء</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هل يجوز…؟ ما حكم…؟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 فتوى أو حالة شخصية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الخصوصية: بلا حسابات ولا بيانات شخصية؛ موضع القراءة وسجل الأسئلة في متصفح المستخدم فقط، والمساعد يصنّف السؤال لا السائل</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التشغيل بعد التحدي</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يعمل الآن، وما نقترحه بعده</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التشغيل الحالي</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الآن</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موقع حي بالعربية والإنجليزية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اختبار المستفيدين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الشهر الأول</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 فهم قبلي وبعدي مع مسلمين جدد وغير مسلمين</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المحتوى</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مستمر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كل سجل جديد يعتمده مسؤول المحتوى قبل نشره</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تحسين المساعد</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كل تعديل</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إعادة اختبار الأسئلة الخمسين قبل النشر</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رواية القصة صوتياً بالعربية</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قيد التطوير</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القصة كاملة مسموعة بالإنجليزية الآن، ثم العربية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بداية: التقنية والمحتوى والاختبار</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2192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1715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عمر بن طالب</a:t>
            </a:r>
            <a:endParaRPr/>
          </a:p>
        </p:txBody>
      </p:sp>
      <p:sp>
        <p:nvSpPr>
          <p:cNvPr id="694" name="Google Shape;694;p19"/>
          <p:cNvSpPr txBox="1"/>
          <p:nvPr>
            <p:ph idx="5" type="body"/>
          </p:nvPr>
        </p:nvSpPr>
        <p:spPr>
          <a:xfrm>
            <a:off x="11715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الذكاء الاصطناعي: المساعد، والتبسيط والترجمة، ودقة الإجابات</a:t>
            </a:r>
            <a:endParaRPr/>
          </a:p>
        </p:txBody>
      </p:sp>
      <p:sp>
        <p:nvSpPr>
          <p:cNvPr id="695" name="Google Shape;695;p19"/>
          <p:cNvSpPr/>
          <p:nvPr>
            <p:ph idx="6" type="pic"/>
          </p:nvPr>
        </p:nvSpPr>
        <p:spPr>
          <a:xfrm>
            <a:off x="81915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77152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الياس التركستاني</a:t>
            </a:r>
            <a:endParaRPr/>
          </a:p>
        </p:txBody>
      </p:sp>
      <p:sp>
        <p:nvSpPr>
          <p:cNvPr id="697" name="Google Shape;697;p19"/>
          <p:cNvSpPr txBox="1"/>
          <p:nvPr>
            <p:ph idx="8" type="body"/>
          </p:nvPr>
        </p:nvSpPr>
        <p:spPr>
          <a:xfrm>
            <a:off x="77152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المستخدم: الخريطة والخط الزمني، ورحلة التعلم</a:t>
            </a:r>
            <a:endParaRPr/>
          </a:p>
        </p:txBody>
      </p:sp>
      <p:sp>
        <p:nvSpPr>
          <p:cNvPr id="698" name="Google Shape;698;p19"/>
          <p:cNvSpPr/>
          <p:nvPr>
            <p:ph idx="9" type="pic"/>
          </p:nvPr>
        </p:nvSpPr>
        <p:spPr>
          <a:xfrm>
            <a:off x="4191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3714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حسان الغامدي</a:t>
            </a:r>
            <a:endParaRPr/>
          </a:p>
        </p:txBody>
      </p:sp>
      <p:sp>
        <p:nvSpPr>
          <p:cNvPr id="700" name="Google Shape;700;p19"/>
          <p:cNvSpPr txBox="1"/>
          <p:nvPr>
            <p:ph idx="14" type="body"/>
          </p:nvPr>
        </p:nvSpPr>
        <p:spPr>
          <a:xfrm>
            <a:off x="3714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جمع المصادر، ومراجعة الأحداث والمصطلحات</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الترخيص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دوره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المكوّن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البحث في المصادر بالعربية والإنجليزية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بحث بالمعنى وبالكلمات معًا في 2,905 نصًا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Apache-2.0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ترتيب نتائج البحث</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يقدّم النصوص الأقرب إلى السؤال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bge-reranker-v2-m3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terms</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فهم السؤال وكتابة الجواب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نصوص المصادر فقط، ويُرفض الجواب بلا استشهاد صحيح</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gpt-6-luna</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والخادم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على Vercel، والخادم على Modal بمعالج رسومي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React + FastAPI</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الاستماع إلى القصة كاملة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بالإنجليزية الآن، والعربية قيد التطوير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Text-to-speech</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التقنيات</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مكوّنات الذكاء الاصطناعي والمنصة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كل مكوّن، ودوره في الحل، وترخيصه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Details: backend/README.md · docs/SOURCES_AND_LICENSES.md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الذكاء الاصطناعي</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يجيب «اسأل الخريطة»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سؤال المستخدم إلى الجواب على الخريطة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السؤال</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بالعربية أو الإنجليزية</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سياق المحادثة لأسئلة المتابعة</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الفهم والبحث</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يصنّف السؤال ويعيد صياغته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في 2,905 نصًا من المصادر ثم ترتيبها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جواب موثّق</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يجيب من المصادر مع روابطها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وإن لم يجد فيها جوابًا امتنع</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على الخريطة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تنتقل الخريطة إلى الحدث أو بطاقة الشخص</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زر للعودة إلى موضع القراءة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50" name="Screenshot 1" descr="Ask the map: an answer about Badr with its sources, the map at Bad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اسأل الخريطة: مساعد بالذكاء الاصطناعي يجيب من المصادر</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لمساعد الذكاء الاصطناعي عن غزوة بدر: جواب من الدرر السنية والرحيق المختوم مع روابطهما، وتنتقل الخريطة إلى بدر مع زر للعودة</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التجربة</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على الحاسب والجوال، مع إعدادات الإتاحة</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60" name="Screenshot 1" descr="The Sirah summary on the map"/>
          <p:cNvPicPr>
            <a:picLocks noChangeAspect="1"/>
          </p:cNvPicPr>
          <p:nvPr/>
        </p:nvPicPr>
        <p:blipFill>
          <a:blip r:embed="rId5"/>
          <a:stretch>
            <a:fillRect/>
          </a:stretch>
        </p:blipFill>
        <p:spPr>
          <a:xfrm>
            <a:off x="12077700" y="4369669"/>
            <a:ext cx="4762500" cy="2976562"/>
          </a:xfrm>
          <a:prstGeom prst="roundRect">
            <a:avLst>
              <a:gd fmla="val 5252" name="adj"/>
            </a:avLst>
          </a:prstGeom>
          <a:ln cap="flat" cmpd="sng" w="11425">
            <a:solidFill>
              <a:srgbClr val="4A5590"/>
            </a:solidFill>
            <a:prstDash val="solid"/>
            <a:round/>
            <a:headEnd len="sm" w="sm" type="none"/>
            <a:tailEnd len="sm" w="sm" type="none"/>
          </a:ln>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ملخص السيرة بالإنجليزية: 21 لحظة بنصوصها وآياتها</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بطاقة الشخص: يفتحها المساعد الذكي عند السؤال عن شخص</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إعدادات الإتاحة: حجم النص، والتباعد، والألوان، والخط، والحركة</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9261" name="Screenshot 2" descr="A person card opened by the AI assistant"/>
          <p:cNvPicPr>
            <a:picLocks noChangeAspect="1"/>
          </p:cNvPicPr>
          <p:nvPr/>
        </p:nvPicPr>
        <p:blipFill>
          <a:blip r:embed="rId6"/>
          <a:stretch>
            <a:fillRect/>
          </a:stretch>
        </p:blipFill>
        <p:spPr>
          <a:xfrm>
            <a:off x="6743700" y="4369594"/>
            <a:ext cx="4762500" cy="2976562"/>
          </a:xfrm>
          <a:prstGeom prst="roundRect">
            <a:avLst>
              <a:gd fmla="val 5252" name="adj"/>
            </a:avLst>
          </a:prstGeom>
          <a:ln cap="flat" cmpd="sng" w="11425">
            <a:solidFill>
              <a:srgbClr val="4A5590"/>
            </a:solidFill>
            <a:prstDash val="solid"/>
            <a:round/>
            <a:headEnd len="sm" w="sm" type="none"/>
            <a:tailEnd len="sm" w="sm" type="none"/>
          </a:ln>
        </p:spPr>
      </p:pic>
      <p:pic>
        <p:nvPicPr>
          <p:cNvPr id="9262" name="Screenshot 3" descr="Accessibility settings on a phone"/>
          <p:cNvPicPr>
            <a:picLocks noChangeAspect="1"/>
          </p:cNvPicPr>
          <p:nvPr/>
        </p:nvPicPr>
        <p:blipFill>
          <a:blip r:embed="rId7"/>
          <a:stretch>
            <a:fillRect/>
          </a:stretch>
        </p:blipFill>
        <p:spPr>
          <a:xfrm>
            <a:off x="2800609" y="3714750"/>
            <a:ext cx="1980682" cy="4286400"/>
          </a:xfrm>
          <a:prstGeom prst="roundRect">
            <a:avLst>
              <a:gd fmla="val 5252" name="adj"/>
            </a:avLst>
          </a:prstGeom>
          <a:ln cap="flat" cmpd="sng" w="11425">
            <a:solidFill>
              <a:srgbClr val="4A5590"/>
            </a:solidFill>
            <a:prstDash val="solid"/>
            <a:round/>
            <a:headEnd len="sm" w="sm" type="none"/>
            <a:tailEnd len="sm" w="sm" type="none"/>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السيرة قصةً على الخريطة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بالعربية والإنجليزية، وتُروى القصة كاملة صوتياً بالإنجليزية (العربية قيد التطوير)</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القصة على الخريطة</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142 حدثًا بالترتيب على الخريطة، تُروى خطوة بخطوة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السور في سياقها</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الآيات مع أحداثها، من الصحيحين وموسوعة التفسير</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اسأل الخريطة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مساعد بالذكاء الاصطناعي يجيب من المصادر وينقل الخريطة إلى الحدث</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ملخص السيرة</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21 لحظة بنصوص الدرر، مع السؤال عن كل لحظة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مدخل إلى كتب السيرة</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مقارنة مقيسة: لا تُغني عن الكتب بل تقرّبها، والقياس لكمية القراءة لا للفهم</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كتب السيرة والبحث</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مصادر موثوقة، لكنها نصوص طويلة ومفصّلة</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بداية</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المصادر نفسها، قصةً على الخريطة مع مساعد يجيب منها</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عمق وتفصيل كامل</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للجواب الواحد: 433 كلمة في صفحات الدرر (الوسيط)</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للمتعلم المتقدم والباحث</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الآيات على بطاقة الحدث: 31 من 68 لا تذكرها صفحة الدرر</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الجواب نفسه في 36 كلمة مع روابطه (نحو العُشر)</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للمبتدئ وغير المسلم والمسلم الجديد</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بداية</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bidaya-sirah.vercel.app  ·  github.com/omarbintalib/Bidaya</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شركاء التحدي</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الإتاحة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الاستخدام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كيف نتحقق</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المصدر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العناوين والتواريخ والنصوص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كل حدث برابطه؛ ونصوص الملخص حرفية يفحصها 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الدرر السنية: الموسوعة التاريخية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sunnah.com و 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94 سجلًا يربط الآيات بأحداثها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روجع 223 رقم حديث مع نصه، وحُذف الخطأ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الصحيحان وموسوعة التفسير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9820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سياق السيرة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حُذفت الروايات الضعيفة المعروفة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الرحيق المختوم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11314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 والحسن فقط؛ استُبعدت 836 رواية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للواحدي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المصادر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المصادر المعتمدة وكيف نتحقق منها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بيانات بداية من هذه المصادر برابطها، والمساعد يجيب من نصوصها ويذكرها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سجل الأدوات والتراخيص (النماذج، الخطوط، الأصوات، الخرائط): docs/SOURCES_AND_LICENSES.md</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30" name="Screenshot 1" descr="The story on the map: the Prophet’s letters to the kings, the event text and its people"/>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القصة على الخريطة: رسائل النبي ﷺ إلى الملوك</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كل حدث في مكانه مع نصه من الدرر ومصدره: هنا رسائله ﷺ من المدينة إلى الملوك، والشخصيات، وخط زمني للأحداث الـ142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40" name="Screenshot 1" descr="Verses linked to the Battle of Badr on its event card"/>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السور في سياقها: الآيات مع حدثها</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الآيات التي نزلت في غزوة بدر على بطاقة الحدث، كل آية بسورتها ورقمها ووجه ارتباطها</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المسؤول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البديل أو الضمان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التكلفة التقريبية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البند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تعطّل أجاب الموقع من بياناته المحلية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0.59 دولار للساعة تُحسب بالثانية، وينام بعد 5 دقائق بلا أسئلة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الخادم ومعالج T4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الشيفرة تدعم Gemini بديلًا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0.10 دولار لكل مليون رمز مُدخل و0.50 للمُخرج: أقل من سنت للسؤال (تقدير)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النموذج اللغوي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الواجهة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يُنقل إلى أي استضافة لمواقع ثابتة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موقع ثابت على Vercel، تكلفته منخفضة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حالة مراجعة السجلات مدوّنة في البيانات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وقت المراجع لاعتماد السجلات الجديدة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مراجعة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التشغيل</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التشغيل والتكلفة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ما يلزم لاستمرار بداية بعد التحدي: التكلفة، والبديل عند التعطل، والمسؤول</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الأسعار المعلنة لدى Modal و OpenAI في أكتوبر 2026، وتكلفة السؤال تقديرية</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