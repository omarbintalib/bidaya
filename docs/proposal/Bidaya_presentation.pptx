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image/jpeg" Extension="jp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26.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8.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1.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63" r:id="rId13"/>
    <p:sldId id="266" r:id="rId16"/>
    <p:sldId id="282" r:id="rId32"/>
    <p:sldId id="288" r:id="rId51"/>
    <p:sldId id="289" r:id="rId52"/>
    <p:sldId id="280" r:id="rId30"/>
    <p:sldId id="281" r:id="rId31"/>
    <p:sldId id="279" r:id="rId29"/>
    <p:sldId id="276" r:id="rId26"/>
    <p:sldId id="272" r:id="rId22"/>
    <p:sldId id="287" r:id="rId50"/>
    <p:sldId id="270" r:id="rId20"/>
    <p:sldId id="283" r:id="rId33"/>
    <p:sldId id="273" r:id="rId23"/>
    <p:sldId id="274" r:id="rId24"/>
    <p:sldId id="286" r:id="rId36"/>
  </p:sldIdLst>
  <p:sldSz cy="10287000" cx="18288000"/>
  <p:notesSz cx="6858000" cy="9144000"/>
  <p:embeddedFontLst>
    <p:embeddedFont>
      <p:font typeface="Urbanist"/>
      <p:regular r:id="rId37"/>
      <p:bold r:id="rId38"/>
      <p:italic r:id="rId39"/>
      <p:boldItalic r:id="rId40"/>
    </p:embeddedFont>
    <p:embeddedFont>
      <p:font typeface="Readex Pro Medium"/>
      <p:regular r:id="rId41"/>
      <p:bold r:id="rId42"/>
    </p:embeddedFont>
    <p:embeddedFont>
      <p:font typeface="Readex Pro SemiBold"/>
      <p:regular r:id="rId43"/>
      <p:bold r:id="rId44"/>
    </p:embeddedFont>
    <p:embeddedFont>
      <p:font typeface="Readex Pro"/>
      <p:regular r:id="rId45"/>
      <p:bold r:id="rId46"/>
    </p:embeddedFont>
    <p:embeddedFont>
      <p:font typeface="Readex Pro Light"/>
      <p:regular r:id="rId47"/>
      <p:bold r:id="rId4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9" roundtripDataSignature="AMtx7mh1GeQrG1kO//gaBT9ZQp796F1rh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8ED9858-D163-4338-9E88-1F424354888F}">
  <a:tblStyle styleId="{B8ED9858-D163-4338-9E88-1F424354888F}"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Relationships xmlns="http://schemas.openxmlformats.org/package/2006/relationships"><Relationship Id="rId40" Type="http://schemas.openxmlformats.org/officeDocument/2006/relationships/font" Target="fonts/Urbanist-boldItalic.fntdata"/><Relationship Id="rId42" Type="http://schemas.openxmlformats.org/officeDocument/2006/relationships/font" Target="fonts/ReadexProMedium-bold.fntdata"/><Relationship Id="rId41" Type="http://schemas.openxmlformats.org/officeDocument/2006/relationships/font" Target="fonts/ReadexProMedium-regular.fntdata"/><Relationship Id="rId44" Type="http://schemas.openxmlformats.org/officeDocument/2006/relationships/font" Target="fonts/ReadexProSemiBold-bold.fntdata"/><Relationship Id="rId43" Type="http://schemas.openxmlformats.org/officeDocument/2006/relationships/font" Target="fonts/ReadexProSemiBold-regular.fntdata"/><Relationship Id="rId46" Type="http://schemas.openxmlformats.org/officeDocument/2006/relationships/font" Target="fonts/ReadexPro-bold.fntdata"/><Relationship Id="rId45" Type="http://schemas.openxmlformats.org/officeDocument/2006/relationships/font" Target="fonts/ReadexPro-regular.fnt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48" Type="http://schemas.openxmlformats.org/officeDocument/2006/relationships/font" Target="fonts/ReadexProLight-bold.fntdata"/><Relationship Id="rId47" Type="http://schemas.openxmlformats.org/officeDocument/2006/relationships/font" Target="fonts/ReadexProLight-regular.fntdata"/><Relationship Id="rId49" Type="http://customschemas.google.com/relationships/presentationmetadata" Target="metadata"/><Relationship Id="rId5" Type="http://schemas.openxmlformats.org/officeDocument/2006/relationships/notesMaster" Target="notesMasters/notesMaster1.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32" Type="http://schemas.openxmlformats.org/officeDocument/2006/relationships/slide" Target="slides/slide27.xml"/><Relationship Id="rId37" Type="http://schemas.openxmlformats.org/officeDocument/2006/relationships/font" Target="fonts/Urbanist-regular.fntdata"/><Relationship Id="rId36" Type="http://schemas.openxmlformats.org/officeDocument/2006/relationships/slide" Target="slides/slide31.xml"/><Relationship Id="rId39" Type="http://schemas.openxmlformats.org/officeDocument/2006/relationships/font" Target="fonts/Urbanist-italic.fntdata"/><Relationship Id="rId38" Type="http://schemas.openxmlformats.org/officeDocument/2006/relationships/font" Target="fonts/Urbanist-bold.fntdata"/><Relationship Id="rId20" Type="http://schemas.openxmlformats.org/officeDocument/2006/relationships/slide" Target="slides/slide15.xml"/><Relationship Id="rId22" Type="http://schemas.openxmlformats.org/officeDocument/2006/relationships/slide" Target="slides/slide17.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9" Type="http://schemas.openxmlformats.org/officeDocument/2006/relationships/slide" Target="slides/slide24.xml"/><Relationship Id="rId13" Type="http://schemas.openxmlformats.org/officeDocument/2006/relationships/slide" Target="slides/slide8.xml"/><Relationship Id="rId16" Type="http://schemas.openxmlformats.org/officeDocument/2006/relationships/slide" Target="slides/slide11.xml"/>  <Relationship Id="rId50" Type="http://schemas.openxmlformats.org/officeDocument/2006/relationships/slide" Target="slides/slide32.xml"/>
  <Relationship Id="rId51" Type="http://schemas.openxmlformats.org/officeDocument/2006/relationships/slide" Target="slides/slide33.xml"/>
  <Relationship Id="rId52" Type="http://schemas.openxmlformats.org/officeDocument/2006/relationships/slide" Target="slides/slide34.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1" name="Google Shape;481;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بداية: خريطة تفاعلية تروي السيرة النبوية في الزمان والمكان، مع مساعد ذكي يجيب من المصادر. المسار الثالث.</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482" name="Google Shape;482;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3" name="Google Shape;53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المستفيد: غير المسلمين والمسلمين الجدد. السيرة مدخل واضح للإسلام، لكن كتبها طويلة ومفصّلة على من يبدأ.</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534" name="Google Shape;534;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8" name="Google Shape;598;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لم يُعطِ المساعد معلومة خاطئة في الاختبار: ما لم يجده في المصادر امتنع عنه. النتائج قابلة للتحقق: كل سؤال وجوابه منشور في مستودع المشروع.</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599" name="Google Shape;599;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4" name="Google Shape;634;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نلتزم مستويات المحتوى في المرجعية العلمية: جواب موثق، ذكر الخلاف، والإحالة في الفتوى.</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35" name="Google Shape;635;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5" name="Shape 645"/>
        <p:cNvGrpSpPr/>
        <p:nvPr/>
      </p:nvGrpSpPr>
      <p:grpSpPr>
        <a:xfrm>
          <a:off x="0" y="0"/>
          <a:ext cx="0" cy="0"/>
          <a:chOff x="0" y="0"/>
          <a:chExt cx="0" cy="0"/>
        </a:xfrm>
      </p:grpSpPr>
      <p:sp>
        <p:nvSpPr>
          <p:cNvPr id="646" name="Google Shape;646;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7" name="Google Shape;647;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المرحلة الأولى تعمل الآن على الموقع الحي، والمراحل التالية خطة مقترحة: التكلفة الأساسية هي أسئلة النموذج اللغوي والمعالج عند الطلب فقط، ورواية القصة كاملة صوتياً بالعربية قيد التطوير (الإنجليزية متاحة الآن).</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48" name="Google Shape;648;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1" name="Shape 681"/>
        <p:cNvGrpSpPr/>
        <p:nvPr/>
      </p:nvGrpSpPr>
      <p:grpSpPr>
        <a:xfrm>
          <a:off x="0" y="0"/>
          <a:ext cx="0" cy="0"/>
          <a:chOff x="0" y="0"/>
          <a:chExt cx="0" cy="0"/>
        </a:xfrm>
      </p:grpSpPr>
      <p:sp>
        <p:nvSpPr>
          <p:cNvPr id="682" name="Google Shape;682;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83" name="Google Shape;683;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فريق من ثلاثة أعضاء يغطي التقنية والمحتوى والاختبار.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84" name="Google Shape;684;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3" name="Shape 723"/>
        <p:cNvGrpSpPr/>
        <p:nvPr/>
      </p:nvGrpSpPr>
      <p:grpSpPr>
        <a:xfrm>
          <a:off x="0" y="0"/>
          <a:ext cx="0" cy="0"/>
          <a:chOff x="0" y="0"/>
          <a:chExt cx="0" cy="0"/>
        </a:xfrm>
      </p:grpSpPr>
      <p:sp>
        <p:nvSpPr>
          <p:cNvPr id="724" name="Google Shape;724;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25" name="Google Shape;725;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التقنيات: نموذجان مفتوحان للبحث (bge-m3 ومعيد الترتيب)، ونموذج لغوي للفهم والصياغة، وتحويل النص إلى كلام لرواية القصة كاملة بالإنجليزية (العربية قيد التطوير)، وموقع وخادم مستضافان.</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726" name="Google Shape;726;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4" name="Google Shape;814;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آلية العمل: نموذج لغوي يفهم السؤال، بحث في 2,905 نصًا من المصادر ثم ترتيبها، جواب من المصادر مع روابطها أو امتناع، ثم تنتقل الخريطة إلى الحدث. وفي اختبار 50 سؤالًا صعبًا لم يرد جواب بمعلومة خاطئة.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15" name="Google Shape;815;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7" name="Shape 827"/>
        <p:cNvGrpSpPr/>
        <p:nvPr/>
      </p:nvGrpSpPr>
      <p:grpSpPr>
        <a:xfrm>
          <a:off x="0" y="0"/>
          <a:ext cx="0" cy="0"/>
          <a:chOff x="0" y="0"/>
          <a:chExt cx="0" cy="0"/>
        </a:xfrm>
      </p:grpSpPr>
      <p:sp>
        <p:nvSpPr>
          <p:cNvPr id="828" name="Google Shape;828;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9" name="Google Shape;829;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مثال حي من المساعد الذكي: سؤال عن بدر، والجواب من الدرر السنية والرحيق المختوم مع الروابط، والخريطة تنتقل إلى بدر.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30" name="Google Shape;830;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7" name="Shape 837"/>
        <p:cNvGrpSpPr/>
        <p:nvPr/>
      </p:nvGrpSpPr>
      <p:grpSpPr>
        <a:xfrm>
          <a:off x="0" y="0"/>
          <a:ext cx="0" cy="0"/>
          <a:chOff x="0" y="0"/>
          <a:chExt cx="0" cy="0"/>
        </a:xfrm>
      </p:grpSpPr>
      <p:sp>
        <p:nvSpPr>
          <p:cNvPr id="838" name="Google Shape;838;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39" name="Google Shape;839;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الملخص، وبطاقة الشخص، والتجربة على الجوال.</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40" name="Google Shape;840;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55" name="Google Shape;855;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أربعة عناصر: القصة على الخريطة، السور في سياقها، اسأل الخريطة، ملخص السيرة. كلها بالعربية والإنجليزية، ويمكن الاستماع إلى القصة كاملة بصوت مقروء بالإنجليزية، والنسخة العربية قيد التطوير.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56" name="Google Shape;856;p2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6" name="Shape 876"/>
        <p:cNvGrpSpPr/>
        <p:nvPr/>
      </p:nvGrpSpPr>
      <p:grpSpPr>
        <a:xfrm>
          <a:off x="0" y="0"/>
          <a:ext cx="0" cy="0"/>
          <a:chOff x="0" y="0"/>
          <a:chExt cx="0" cy="0"/>
        </a:xfrm>
      </p:grpSpPr>
      <p:sp>
        <p:nvSpPr>
          <p:cNvPr id="877" name="Google Shape;877;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8" name="Google Shape;878;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بداية لا تستبدل كتب السيرة ولا تنافسها؛ هي باب إليها: تعرض محتواها المعتمد مرتبًا على الخريطة، وكل جواب يحيل إلى مصدره ليكمل القارئ من الكتب.</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79" name="Google Shape;879;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9" name="Shape 909"/>
        <p:cNvGrpSpPr/>
        <p:nvPr/>
      </p:nvGrpSpPr>
      <p:grpSpPr>
        <a:xfrm>
          <a:off x="0" y="0"/>
          <a:ext cx="0" cy="0"/>
          <a:chOff x="0" y="0"/>
          <a:chExt cx="0" cy="0"/>
        </a:xfrm>
      </p:grpSpPr>
      <p:sp>
        <p:nvSpPr>
          <p:cNvPr id="910" name="Google Shape;910;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1" name="Google Shape;911;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شكرًا لكم. الموقع الحي والمستودع في الشريحة.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912" name="Google Shape;912;p3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0.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غلاف المشروع">
  <p:cSld name="غلاف المشروع">
    <p:bg>
      <p:bgPr>
        <a:solidFill>
          <a:srgbClr val="12183F"/>
        </a:solidFill>
      </p:bgPr>
    </p:bg>
    <p:spTree>
      <p:nvGrpSpPr>
        <p:cNvPr id="11" name="Shape 11"/>
        <p:cNvGrpSpPr/>
        <p:nvPr/>
      </p:nvGrpSpPr>
      <p:grpSpPr>
        <a:xfrm>
          <a:off x="0" y="0"/>
          <a:ext cx="0" cy="0"/>
          <a:chOff x="0" y="0"/>
          <a:chExt cx="0" cy="0"/>
        </a:xfrm>
      </p:grpSpPr>
      <p:pic>
        <p:nvPicPr>
          <p:cNvPr id="12" name="Google Shape;12;p3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 name="Google Shape;13;p34"/>
          <p:cNvPicPr preferRelativeResize="0"/>
          <p:nvPr/>
        </p:nvPicPr>
        <p:blipFill rotWithShape="1">
          <a:blip r:embed="rId3">
            <a:alphaModFix/>
          </a:blip>
          <a:srcRect b="0" l="0" r="0" t="0"/>
          <a:stretch/>
        </p:blipFill>
        <p:spPr>
          <a:xfrm>
            <a:off x="1066800" y="876872"/>
            <a:ext cx="6572250" cy="1684781"/>
          </a:xfrm>
          <a:prstGeom prst="rect">
            <a:avLst/>
          </a:prstGeom>
          <a:noFill/>
          <a:ln>
            <a:noFill/>
          </a:ln>
        </p:spPr>
      </p:pic>
      <p:pic>
        <p:nvPicPr>
          <p:cNvPr id="14" name="Google Shape;14;p34"/>
          <p:cNvPicPr preferRelativeResize="0"/>
          <p:nvPr/>
        </p:nvPicPr>
        <p:blipFill rotWithShape="1">
          <a:blip r:embed="rId4">
            <a:alphaModFix/>
          </a:blip>
          <a:srcRect b="0" l="0" r="0" t="0"/>
          <a:stretch/>
        </p:blipFill>
        <p:spPr>
          <a:xfrm>
            <a:off x="14954250" y="840995"/>
            <a:ext cx="2190750" cy="1385061"/>
          </a:xfrm>
          <a:prstGeom prst="rect">
            <a:avLst/>
          </a:prstGeom>
          <a:noFill/>
          <a:ln>
            <a:noFill/>
          </a:ln>
        </p:spPr>
      </p:pic>
      <p:pic>
        <p:nvPicPr>
          <p:cNvPr id="15" name="Google Shape;15;p34"/>
          <p:cNvPicPr preferRelativeResize="0"/>
          <p:nvPr/>
        </p:nvPicPr>
        <p:blipFill rotWithShape="1">
          <a:blip r:embed="rId5">
            <a:alphaModFix/>
          </a:blip>
          <a:srcRect b="0" l="0" r="0" t="0"/>
          <a:stretch/>
        </p:blipFill>
        <p:spPr>
          <a:xfrm>
            <a:off x="1078258" y="3190875"/>
            <a:ext cx="6701734" cy="6191250"/>
          </a:xfrm>
          <a:prstGeom prst="rect">
            <a:avLst/>
          </a:prstGeom>
          <a:noFill/>
          <a:ln>
            <a:noFill/>
          </a:ln>
        </p:spPr>
      </p:pic>
      <p:sp>
        <p:nvSpPr>
          <p:cNvPr id="16" name="Google Shape;16;p34"/>
          <p:cNvSpPr txBox="1"/>
          <p:nvPr>
            <p:ph type="title"/>
          </p:nvPr>
        </p:nvSpPr>
        <p:spPr>
          <a:xfrm>
            <a:off x="8096250" y="3524250"/>
            <a:ext cx="9048750" cy="1333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 name="Google Shape;17;p34"/>
          <p:cNvSpPr txBox="1"/>
          <p:nvPr>
            <p:ph idx="1" type="body"/>
          </p:nvPr>
        </p:nvSpPr>
        <p:spPr>
          <a:xfrm>
            <a:off x="8096250" y="5334000"/>
            <a:ext cx="9048750" cy="1619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 name="Google Shape;18;p34"/>
          <p:cNvSpPr txBox="1"/>
          <p:nvPr>
            <p:ph idx="2" type="body"/>
          </p:nvPr>
        </p:nvSpPr>
        <p:spPr>
          <a:xfrm>
            <a:off x="8953500" y="7762875"/>
            <a:ext cx="81915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 name="Google Shape;19;p34"/>
          <p:cNvSpPr txBox="1"/>
          <p:nvPr>
            <p:ph idx="3" type="body"/>
          </p:nvPr>
        </p:nvSpPr>
        <p:spPr>
          <a:xfrm>
            <a:off x="1066800" y="9391650"/>
            <a:ext cx="5429250" cy="4953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حتويات العرض">
  <p:cSld name="محتويات العرض">
    <p:bg>
      <p:bgPr>
        <a:solidFill>
          <a:srgbClr val="12183F"/>
        </a:solidFill>
      </p:bgPr>
    </p:bg>
    <p:spTree>
      <p:nvGrpSpPr>
        <p:cNvPr id="20" name="Shape 20"/>
        <p:cNvGrpSpPr/>
        <p:nvPr/>
      </p:nvGrpSpPr>
      <p:grpSpPr>
        <a:xfrm>
          <a:off x="0" y="0"/>
          <a:ext cx="0" cy="0"/>
          <a:chOff x="0" y="0"/>
          <a:chExt cx="0" cy="0"/>
        </a:xfrm>
      </p:grpSpPr>
      <p:pic>
        <p:nvPicPr>
          <p:cNvPr id="21" name="Google Shape;21;p3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 name="Google Shape;22;p3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 name="Google Shape;23;p3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 name="Google Shape;24;p3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 name="Google Shape;25;p3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 name="Google Shape;26;p3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 name="Google Shape;27;p35"/>
          <p:cNvSpPr txBox="1"/>
          <p:nvPr>
            <p:ph idx="2" type="body"/>
          </p:nvPr>
        </p:nvSpPr>
        <p:spPr>
          <a:xfrm>
            <a:off x="12382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 name="Google Shape;28;p35"/>
          <p:cNvSpPr txBox="1"/>
          <p:nvPr>
            <p:ph idx="3" type="body"/>
          </p:nvPr>
        </p:nvSpPr>
        <p:spPr>
          <a:xfrm>
            <a:off x="12382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 name="Google Shape;29;p35"/>
          <p:cNvSpPr txBox="1"/>
          <p:nvPr>
            <p:ph idx="4" type="body"/>
          </p:nvPr>
        </p:nvSpPr>
        <p:spPr>
          <a:xfrm>
            <a:off x="12382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0" name="Google Shape;30;p35"/>
          <p:cNvSpPr txBox="1"/>
          <p:nvPr>
            <p:ph idx="5" type="body"/>
          </p:nvPr>
        </p:nvSpPr>
        <p:spPr>
          <a:xfrm>
            <a:off x="7048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 name="Google Shape;31;p35"/>
          <p:cNvSpPr txBox="1"/>
          <p:nvPr>
            <p:ph idx="6" type="body"/>
          </p:nvPr>
        </p:nvSpPr>
        <p:spPr>
          <a:xfrm>
            <a:off x="7048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2" name="Google Shape;32;p35"/>
          <p:cNvSpPr txBox="1"/>
          <p:nvPr>
            <p:ph idx="7" type="body"/>
          </p:nvPr>
        </p:nvSpPr>
        <p:spPr>
          <a:xfrm>
            <a:off x="7048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3" name="Google Shape;33;p35"/>
          <p:cNvSpPr txBox="1"/>
          <p:nvPr>
            <p:ph idx="8" type="body"/>
          </p:nvPr>
        </p:nvSpPr>
        <p:spPr>
          <a:xfrm>
            <a:off x="1714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4" name="Google Shape;34;p35"/>
          <p:cNvSpPr txBox="1"/>
          <p:nvPr>
            <p:ph idx="9" type="body"/>
          </p:nvPr>
        </p:nvSpPr>
        <p:spPr>
          <a:xfrm>
            <a:off x="1714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5" name="Google Shape;35;p35"/>
          <p:cNvSpPr txBox="1"/>
          <p:nvPr>
            <p:ph idx="13" type="body"/>
          </p:nvPr>
        </p:nvSpPr>
        <p:spPr>
          <a:xfrm>
            <a:off x="1714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6" name="Google Shape;36;p35"/>
          <p:cNvSpPr txBox="1"/>
          <p:nvPr>
            <p:ph idx="14" type="body"/>
          </p:nvPr>
        </p:nvSpPr>
        <p:spPr>
          <a:xfrm>
            <a:off x="12382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7" name="Google Shape;37;p35"/>
          <p:cNvSpPr txBox="1"/>
          <p:nvPr>
            <p:ph idx="15" type="body"/>
          </p:nvPr>
        </p:nvSpPr>
        <p:spPr>
          <a:xfrm>
            <a:off x="12382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8" name="Google Shape;38;p35"/>
          <p:cNvSpPr txBox="1"/>
          <p:nvPr>
            <p:ph idx="16" type="body"/>
          </p:nvPr>
        </p:nvSpPr>
        <p:spPr>
          <a:xfrm>
            <a:off x="12382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9" name="Google Shape;39;p35"/>
          <p:cNvSpPr txBox="1"/>
          <p:nvPr>
            <p:ph idx="17" type="body"/>
          </p:nvPr>
        </p:nvSpPr>
        <p:spPr>
          <a:xfrm>
            <a:off x="7048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0" name="Google Shape;40;p35"/>
          <p:cNvSpPr txBox="1"/>
          <p:nvPr>
            <p:ph idx="18" type="body"/>
          </p:nvPr>
        </p:nvSpPr>
        <p:spPr>
          <a:xfrm>
            <a:off x="7048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1" name="Google Shape;41;p35"/>
          <p:cNvSpPr txBox="1"/>
          <p:nvPr>
            <p:ph idx="19" type="body"/>
          </p:nvPr>
        </p:nvSpPr>
        <p:spPr>
          <a:xfrm>
            <a:off x="7048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2" name="Google Shape;42;p35"/>
          <p:cNvSpPr txBox="1"/>
          <p:nvPr>
            <p:ph idx="20" type="body"/>
          </p:nvPr>
        </p:nvSpPr>
        <p:spPr>
          <a:xfrm>
            <a:off x="1714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3" name="Google Shape;43;p35"/>
          <p:cNvSpPr txBox="1"/>
          <p:nvPr>
            <p:ph idx="21" type="body"/>
          </p:nvPr>
        </p:nvSpPr>
        <p:spPr>
          <a:xfrm>
            <a:off x="1714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4" name="Google Shape;44;p35"/>
          <p:cNvSpPr txBox="1"/>
          <p:nvPr>
            <p:ph idx="22" type="body"/>
          </p:nvPr>
        </p:nvSpPr>
        <p:spPr>
          <a:xfrm>
            <a:off x="1714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صل قسم">
  <p:cSld name="فاصل قسم">
    <p:bg>
      <p:bgPr>
        <a:solidFill>
          <a:srgbClr val="12183F"/>
        </a:solidFill>
      </p:bgPr>
    </p:bg>
    <p:spTree>
      <p:nvGrpSpPr>
        <p:cNvPr id="45" name="Shape 45"/>
        <p:cNvGrpSpPr/>
        <p:nvPr/>
      </p:nvGrpSpPr>
      <p:grpSpPr>
        <a:xfrm>
          <a:off x="0" y="0"/>
          <a:ext cx="0" cy="0"/>
          <a:chOff x="0" y="0"/>
          <a:chExt cx="0" cy="0"/>
        </a:xfrm>
      </p:grpSpPr>
      <p:pic>
        <p:nvPicPr>
          <p:cNvPr id="46" name="Google Shape;46;p3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47" name="Google Shape;47;p36"/>
          <p:cNvPicPr preferRelativeResize="0"/>
          <p:nvPr/>
        </p:nvPicPr>
        <p:blipFill rotWithShape="1">
          <a:blip r:embed="rId3">
            <a:alphaModFix/>
          </a:blip>
          <a:srcRect b="0" l="0" r="0" t="0"/>
          <a:stretch/>
        </p:blipFill>
        <p:spPr>
          <a:xfrm>
            <a:off x="1066800" y="687391"/>
            <a:ext cx="4000500" cy="1025519"/>
          </a:xfrm>
          <a:prstGeom prst="rect">
            <a:avLst/>
          </a:prstGeom>
          <a:noFill/>
          <a:ln>
            <a:noFill/>
          </a:ln>
        </p:spPr>
      </p:pic>
      <p:sp>
        <p:nvSpPr>
          <p:cNvPr id="48" name="Google Shape;48;p36"/>
          <p:cNvSpPr txBox="1"/>
          <p:nvPr>
            <p:ph idx="1" type="body"/>
          </p:nvPr>
        </p:nvSpPr>
        <p:spPr>
          <a:xfrm>
            <a:off x="13430250" y="3143250"/>
            <a:ext cx="3619500" cy="1238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9" name="Google Shape;49;p36"/>
          <p:cNvSpPr txBox="1"/>
          <p:nvPr>
            <p:ph type="title"/>
          </p:nvPr>
        </p:nvSpPr>
        <p:spPr>
          <a:xfrm>
            <a:off x="4953000" y="4810125"/>
            <a:ext cx="12096750" cy="12382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0" name="Google Shape;50;p36"/>
          <p:cNvSpPr txBox="1"/>
          <p:nvPr>
            <p:ph idx="2" type="body"/>
          </p:nvPr>
        </p:nvSpPr>
        <p:spPr>
          <a:xfrm>
            <a:off x="6667500" y="6572250"/>
            <a:ext cx="10382250" cy="1047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p:cSld name="أربع نقاط">
    <p:bg>
      <p:bgPr>
        <a:solidFill>
          <a:srgbClr val="12183F"/>
        </a:solidFill>
      </p:bgPr>
    </p:bg>
    <p:spTree>
      <p:nvGrpSpPr>
        <p:cNvPr id="51" name="Shape 51"/>
        <p:cNvGrpSpPr/>
        <p:nvPr/>
      </p:nvGrpSpPr>
      <p:grpSpPr>
        <a:xfrm>
          <a:off x="0" y="0"/>
          <a:ext cx="0" cy="0"/>
          <a:chOff x="0" y="0"/>
          <a:chExt cx="0" cy="0"/>
        </a:xfrm>
      </p:grpSpPr>
      <p:pic>
        <p:nvPicPr>
          <p:cNvPr id="52" name="Google Shape;52;p3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53" name="Google Shape;53;p37"/>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54" name="Google Shape;54;p3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5" name="Google Shape;55;p3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6" name="Google Shape;56;p3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7" name="Google Shape;57;p3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58" name="Google Shape;58;p3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59" name="Google Shape;59;p37"/>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0" name="Google Shape;60;p37"/>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1" name="Google Shape;61;p37"/>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2" name="Google Shape;62;p37"/>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3" name="Google Shape;63;p37"/>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4" name="Google Shape;64;p37"/>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5" name="Google Shape;65;p37"/>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6" name="Google Shape;66;p37"/>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رئيسي">
  <p:cSld name="نص رئيسي">
    <p:bg>
      <p:bgPr>
        <a:solidFill>
          <a:srgbClr val="12183F"/>
        </a:solidFill>
      </p:bgPr>
    </p:bg>
    <p:spTree>
      <p:nvGrpSpPr>
        <p:cNvPr id="67" name="Shape 67"/>
        <p:cNvGrpSpPr/>
        <p:nvPr/>
      </p:nvGrpSpPr>
      <p:grpSpPr>
        <a:xfrm>
          <a:off x="0" y="0"/>
          <a:ext cx="0" cy="0"/>
          <a:chOff x="0" y="0"/>
          <a:chExt cx="0" cy="0"/>
        </a:xfrm>
      </p:grpSpPr>
      <p:pic>
        <p:nvPicPr>
          <p:cNvPr id="68" name="Google Shape;68;p3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69" name="Google Shape;69;p3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70" name="Google Shape;70;p3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1" name="Google Shape;71;p3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2" name="Google Shape;72;p3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73" name="Google Shape;73;p3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74" name="Google Shape;74;p38"/>
          <p:cNvSpPr txBox="1"/>
          <p:nvPr>
            <p:ph idx="2" type="body"/>
          </p:nvPr>
        </p:nvSpPr>
        <p:spPr>
          <a:xfrm>
            <a:off x="6191250" y="4000500"/>
            <a:ext cx="10953750" cy="2667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5" name="Google Shape;75;p38"/>
          <p:cNvSpPr txBox="1"/>
          <p:nvPr>
            <p:ph idx="3" type="body"/>
          </p:nvPr>
        </p:nvSpPr>
        <p:spPr>
          <a:xfrm>
            <a:off x="6191250" y="7239000"/>
            <a:ext cx="1095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6" name="Google Shape;76;p38"/>
          <p:cNvSpPr txBox="1"/>
          <p:nvPr>
            <p:ph idx="4" type="body"/>
          </p:nvPr>
        </p:nvSpPr>
        <p:spPr>
          <a:xfrm>
            <a:off x="6191250" y="8001000"/>
            <a:ext cx="1095375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عريضة">
  <p:cSld name="نص وصورة عريضة">
    <p:bg>
      <p:bgPr>
        <a:solidFill>
          <a:srgbClr val="12183F"/>
        </a:solidFill>
      </p:bgPr>
    </p:bg>
    <p:spTree>
      <p:nvGrpSpPr>
        <p:cNvPr id="77" name="Shape 77"/>
        <p:cNvGrpSpPr/>
        <p:nvPr/>
      </p:nvGrpSpPr>
      <p:grpSpPr>
        <a:xfrm>
          <a:off x="0" y="0"/>
          <a:ext cx="0" cy="0"/>
          <a:chOff x="0" y="0"/>
          <a:chExt cx="0" cy="0"/>
        </a:xfrm>
      </p:grpSpPr>
      <p:pic>
        <p:nvPicPr>
          <p:cNvPr id="78" name="Google Shape;78;p3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79" name="Google Shape;79;p3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80" name="Google Shape;80;p3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1" name="Google Shape;81;p3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2" name="Google Shape;82;p3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83" name="Google Shape;83;p3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84" name="Google Shape;84;p39"/>
          <p:cNvSpPr/>
          <p:nvPr>
            <p:ph idx="2" type="pic"/>
          </p:nvPr>
        </p:nvSpPr>
        <p:spPr>
          <a:xfrm>
            <a:off x="1428750" y="4048125"/>
            <a:ext cx="8382000" cy="4714875"/>
          </a:xfrm>
          <a:prstGeom prst="rect">
            <a:avLst/>
          </a:prstGeom>
          <a:solidFill>
            <a:srgbClr val="161D48"/>
          </a:solidFill>
          <a:ln cap="flat" cmpd="sng" w="11425">
            <a:solidFill>
              <a:srgbClr val="4A5590"/>
            </a:solidFill>
            <a:prstDash val="solid"/>
            <a:round/>
            <a:headEnd len="sm" w="sm" type="none"/>
            <a:tailEnd len="sm" w="sm" type="none"/>
          </a:ln>
        </p:spPr>
      </p:sp>
      <p:sp>
        <p:nvSpPr>
          <p:cNvPr id="85" name="Google Shape;85;p39"/>
          <p:cNvSpPr txBox="1"/>
          <p:nvPr>
            <p:ph idx="3" type="body"/>
          </p:nvPr>
        </p:nvSpPr>
        <p:spPr>
          <a:xfrm>
            <a:off x="10763250" y="409575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6" name="Google Shape;86;p39"/>
          <p:cNvSpPr txBox="1"/>
          <p:nvPr>
            <p:ph idx="4" type="body"/>
          </p:nvPr>
        </p:nvSpPr>
        <p:spPr>
          <a:xfrm>
            <a:off x="10763250" y="480060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7" name="Google Shape;87;p39"/>
          <p:cNvSpPr txBox="1"/>
          <p:nvPr>
            <p:ph idx="5" type="body"/>
          </p:nvPr>
        </p:nvSpPr>
        <p:spPr>
          <a:xfrm>
            <a:off x="10763250" y="666750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8" name="Google Shape;88;p39"/>
          <p:cNvSpPr txBox="1"/>
          <p:nvPr>
            <p:ph idx="6" type="body"/>
          </p:nvPr>
        </p:nvSpPr>
        <p:spPr>
          <a:xfrm>
            <a:off x="10763250" y="737235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مربعة">
  <p:cSld name="نص وصورة مربعة">
    <p:bg>
      <p:bgPr>
        <a:solidFill>
          <a:srgbClr val="12183F"/>
        </a:solidFill>
      </p:bgPr>
    </p:bg>
    <p:spTree>
      <p:nvGrpSpPr>
        <p:cNvPr id="89" name="Shape 89"/>
        <p:cNvGrpSpPr/>
        <p:nvPr/>
      </p:nvGrpSpPr>
      <p:grpSpPr>
        <a:xfrm>
          <a:off x="0" y="0"/>
          <a:ext cx="0" cy="0"/>
          <a:chOff x="0" y="0"/>
          <a:chExt cx="0" cy="0"/>
        </a:xfrm>
      </p:grpSpPr>
      <p:pic>
        <p:nvPicPr>
          <p:cNvPr id="90" name="Google Shape;90;p4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91" name="Google Shape;91;p4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92" name="Google Shape;92;p4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3" name="Google Shape;93;p4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4" name="Google Shape;94;p4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95" name="Google Shape;95;p4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96" name="Google Shape;96;p40"/>
          <p:cNvSpPr/>
          <p:nvPr>
            <p:ph idx="2" type="pic"/>
          </p:nvPr>
        </p:nvSpPr>
        <p:spPr>
          <a:xfrm>
            <a:off x="2190750" y="3476625"/>
            <a:ext cx="5715000" cy="5715000"/>
          </a:xfrm>
          <a:prstGeom prst="rect">
            <a:avLst/>
          </a:prstGeom>
          <a:solidFill>
            <a:srgbClr val="161D48"/>
          </a:solidFill>
          <a:ln cap="flat" cmpd="sng" w="11425">
            <a:solidFill>
              <a:srgbClr val="4A5590"/>
            </a:solidFill>
            <a:prstDash val="solid"/>
            <a:round/>
            <a:headEnd len="sm" w="sm" type="none"/>
            <a:tailEnd len="sm" w="sm" type="none"/>
          </a:ln>
        </p:spPr>
      </p:sp>
      <p:sp>
        <p:nvSpPr>
          <p:cNvPr id="97" name="Google Shape;97;p40"/>
          <p:cNvSpPr txBox="1"/>
          <p:nvPr>
            <p:ph idx="3" type="body"/>
          </p:nvPr>
        </p:nvSpPr>
        <p:spPr>
          <a:xfrm>
            <a:off x="10001250" y="3905250"/>
            <a:ext cx="7143750" cy="800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8" name="Google Shape;98;p40"/>
          <p:cNvSpPr txBox="1"/>
          <p:nvPr>
            <p:ph idx="4" type="body"/>
          </p:nvPr>
        </p:nvSpPr>
        <p:spPr>
          <a:xfrm>
            <a:off x="10001250" y="5191125"/>
            <a:ext cx="7143750" cy="2428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9" name="Google Shape;99;p40"/>
          <p:cNvSpPr txBox="1"/>
          <p:nvPr>
            <p:ph idx="5" type="body"/>
          </p:nvPr>
        </p:nvSpPr>
        <p:spPr>
          <a:xfrm>
            <a:off x="10001250" y="8048625"/>
            <a:ext cx="71437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ؤشرات">
  <p:cSld name="مؤشرات">
    <p:bg>
      <p:bgPr>
        <a:solidFill>
          <a:srgbClr val="12183F"/>
        </a:solidFill>
      </p:bgPr>
    </p:bg>
    <p:spTree>
      <p:nvGrpSpPr>
        <p:cNvPr id="100" name="Shape 100"/>
        <p:cNvGrpSpPr/>
        <p:nvPr/>
      </p:nvGrpSpPr>
      <p:grpSpPr>
        <a:xfrm>
          <a:off x="0" y="0"/>
          <a:ext cx="0" cy="0"/>
          <a:chOff x="0" y="0"/>
          <a:chExt cx="0" cy="0"/>
        </a:xfrm>
      </p:grpSpPr>
      <p:pic>
        <p:nvPicPr>
          <p:cNvPr id="101" name="Google Shape;101;p41"/>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02" name="Google Shape;102;p41"/>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03" name="Google Shape;103;p41"/>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4" name="Google Shape;104;p41"/>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5" name="Google Shape;105;p41"/>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6" name="Google Shape;106;p4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07" name="Google Shape;107;p4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08" name="Google Shape;108;p41"/>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9" name="Google Shape;109;p41"/>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0" name="Google Shape;110;p41"/>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1" name="Google Shape;111;p41"/>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2" name="Google Shape;112;p41"/>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3" name="Google Shape;113;p41"/>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4" name="Google Shape;114;p41"/>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5" name="Google Shape;115;p41"/>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6" name="Google Shape;116;p41"/>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7" name="Google Shape;117;p41"/>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8" name="Google Shape;118;p41"/>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9" name="Google Shape;119;p41"/>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0" name="Google Shape;120;p41"/>
          <p:cNvSpPr txBox="1"/>
          <p:nvPr>
            <p:ph idx="18" type="body"/>
          </p:nvPr>
        </p:nvSpPr>
        <p:spPr>
          <a:xfrm>
            <a:off x="1714500" y="8763000"/>
            <a:ext cx="15430500" cy="476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رسالة رئيسية">
  <p:cSld name="رسالة رئيسية">
    <p:bg>
      <p:bgPr>
        <a:solidFill>
          <a:srgbClr val="F2F4FF"/>
        </a:solidFill>
      </p:bgPr>
    </p:bg>
    <p:spTree>
      <p:nvGrpSpPr>
        <p:cNvPr id="121" name="Shape 121"/>
        <p:cNvGrpSpPr/>
        <p:nvPr/>
      </p:nvGrpSpPr>
      <p:grpSpPr>
        <a:xfrm>
          <a:off x="0" y="0"/>
          <a:ext cx="0" cy="0"/>
          <a:chOff x="0" y="0"/>
          <a:chExt cx="0" cy="0"/>
        </a:xfrm>
      </p:grpSpPr>
      <p:pic>
        <p:nvPicPr>
          <p:cNvPr id="122" name="Google Shape;122;p4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23" name="Google Shape;123;p42"/>
          <p:cNvPicPr preferRelativeResize="0"/>
          <p:nvPr/>
        </p:nvPicPr>
        <p:blipFill rotWithShape="1">
          <a:blip r:embed="rId3">
            <a:alphaModFix/>
          </a:blip>
          <a:srcRect b="0" l="0" r="0" t="0"/>
          <a:stretch/>
        </p:blipFill>
        <p:spPr>
          <a:xfrm>
            <a:off x="1069873" y="685800"/>
            <a:ext cx="3994355" cy="1238250"/>
          </a:xfrm>
          <a:prstGeom prst="rect">
            <a:avLst/>
          </a:prstGeom>
          <a:noFill/>
          <a:ln>
            <a:noFill/>
          </a:ln>
        </p:spPr>
      </p:pic>
      <p:sp>
        <p:nvSpPr>
          <p:cNvPr id="124" name="Google Shape;124;p4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25" name="Google Shape;125;p4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26" name="Google Shape;126;p42"/>
          <p:cNvSpPr txBox="1"/>
          <p:nvPr>
            <p:ph type="title"/>
          </p:nvPr>
        </p:nvSpPr>
        <p:spPr>
          <a:xfrm>
            <a:off x="2476500" y="3143250"/>
            <a:ext cx="13335000" cy="2952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7" name="Google Shape;127;p42"/>
          <p:cNvSpPr txBox="1"/>
          <p:nvPr>
            <p:ph idx="1" type="body"/>
          </p:nvPr>
        </p:nvSpPr>
        <p:spPr>
          <a:xfrm>
            <a:off x="3333750" y="6905625"/>
            <a:ext cx="1162050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8" name="Google Shape;128;p42"/>
          <p:cNvSpPr txBox="1"/>
          <p:nvPr>
            <p:ph idx="2" type="body"/>
          </p:nvPr>
        </p:nvSpPr>
        <p:spPr>
          <a:xfrm>
            <a:off x="3333750" y="8239125"/>
            <a:ext cx="11620500" cy="523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داكن">
  <p:cSld name="جدول داكن">
    <p:bg>
      <p:bgPr>
        <a:solidFill>
          <a:srgbClr val="12183F"/>
        </a:solidFill>
      </p:bgPr>
    </p:bg>
    <p:spTree>
      <p:nvGrpSpPr>
        <p:cNvPr id="129" name="Shape 129"/>
        <p:cNvGrpSpPr/>
        <p:nvPr/>
      </p:nvGrpSpPr>
      <p:grpSpPr>
        <a:xfrm>
          <a:off x="0" y="0"/>
          <a:ext cx="0" cy="0"/>
          <a:chOff x="0" y="0"/>
          <a:chExt cx="0" cy="0"/>
        </a:xfrm>
      </p:grpSpPr>
      <p:pic>
        <p:nvPicPr>
          <p:cNvPr id="130" name="Google Shape;130;p4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1" name="Google Shape;131;p4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32" name="Google Shape;132;p4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3" name="Google Shape;133;p4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4" name="Google Shape;134;p4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5" name="Google Shape;135;p4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36" name="Google Shape;136;p4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37" name="Google Shape;137;p43"/>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8" name="Google Shape;138;p43"/>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ط زمني">
  <p:cSld name="خط زمني">
    <p:bg>
      <p:bgPr>
        <a:solidFill>
          <a:srgbClr val="12183F"/>
        </a:solidFill>
      </p:bgPr>
    </p:bg>
    <p:spTree>
      <p:nvGrpSpPr>
        <p:cNvPr id="139" name="Shape 139"/>
        <p:cNvGrpSpPr/>
        <p:nvPr/>
      </p:nvGrpSpPr>
      <p:grpSpPr>
        <a:xfrm>
          <a:off x="0" y="0"/>
          <a:ext cx="0" cy="0"/>
          <a:chOff x="0" y="0"/>
          <a:chExt cx="0" cy="0"/>
        </a:xfrm>
      </p:grpSpPr>
      <p:pic>
        <p:nvPicPr>
          <p:cNvPr id="140" name="Google Shape;140;p4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41" name="Google Shape;141;p4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42" name="Google Shape;142;p44"/>
          <p:cNvSpPr/>
          <p:nvPr/>
        </p:nvSpPr>
        <p:spPr>
          <a:xfrm>
            <a:off x="14287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44"/>
          <p:cNvSpPr/>
          <p:nvPr/>
        </p:nvSpPr>
        <p:spPr>
          <a:xfrm>
            <a:off x="111442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44"/>
          <p:cNvSpPr/>
          <p:nvPr/>
        </p:nvSpPr>
        <p:spPr>
          <a:xfrm>
            <a:off x="80010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44"/>
          <p:cNvSpPr/>
          <p:nvPr/>
        </p:nvSpPr>
        <p:spPr>
          <a:xfrm>
            <a:off x="48577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44"/>
          <p:cNvSpPr/>
          <p:nvPr/>
        </p:nvSpPr>
        <p:spPr>
          <a:xfrm>
            <a:off x="1714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4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8" name="Google Shape;148;p4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9" name="Google Shape;149;p4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0" name="Google Shape;150;p4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51" name="Google Shape;151;p4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52" name="Google Shape;152;p44"/>
          <p:cNvSpPr txBox="1"/>
          <p:nvPr>
            <p:ph idx="3" type="body"/>
          </p:nvPr>
        </p:nvSpPr>
        <p:spPr>
          <a:xfrm>
            <a:off x="14287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3" name="Google Shape;153;p44"/>
          <p:cNvSpPr txBox="1"/>
          <p:nvPr>
            <p:ph idx="4" type="body"/>
          </p:nvPr>
        </p:nvSpPr>
        <p:spPr>
          <a:xfrm>
            <a:off x="14287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4" name="Google Shape;154;p44"/>
          <p:cNvSpPr txBox="1"/>
          <p:nvPr>
            <p:ph idx="5" type="body"/>
          </p:nvPr>
        </p:nvSpPr>
        <p:spPr>
          <a:xfrm>
            <a:off x="14287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5" name="Google Shape;155;p44"/>
          <p:cNvSpPr txBox="1"/>
          <p:nvPr>
            <p:ph idx="6" type="body"/>
          </p:nvPr>
        </p:nvSpPr>
        <p:spPr>
          <a:xfrm>
            <a:off x="14287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6" name="Google Shape;156;p44"/>
          <p:cNvSpPr txBox="1"/>
          <p:nvPr>
            <p:ph idx="7" type="body"/>
          </p:nvPr>
        </p:nvSpPr>
        <p:spPr>
          <a:xfrm>
            <a:off x="111442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7" name="Google Shape;157;p44"/>
          <p:cNvSpPr txBox="1"/>
          <p:nvPr>
            <p:ph idx="8" type="body"/>
          </p:nvPr>
        </p:nvSpPr>
        <p:spPr>
          <a:xfrm>
            <a:off x="111442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8" name="Google Shape;158;p44"/>
          <p:cNvSpPr txBox="1"/>
          <p:nvPr>
            <p:ph idx="9" type="body"/>
          </p:nvPr>
        </p:nvSpPr>
        <p:spPr>
          <a:xfrm>
            <a:off x="111442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9" name="Google Shape;159;p44"/>
          <p:cNvSpPr txBox="1"/>
          <p:nvPr>
            <p:ph idx="13" type="body"/>
          </p:nvPr>
        </p:nvSpPr>
        <p:spPr>
          <a:xfrm>
            <a:off x="111442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0" name="Google Shape;160;p44"/>
          <p:cNvSpPr txBox="1"/>
          <p:nvPr>
            <p:ph idx="14" type="body"/>
          </p:nvPr>
        </p:nvSpPr>
        <p:spPr>
          <a:xfrm>
            <a:off x="80010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1" name="Google Shape;161;p44"/>
          <p:cNvSpPr txBox="1"/>
          <p:nvPr>
            <p:ph idx="15" type="body"/>
          </p:nvPr>
        </p:nvSpPr>
        <p:spPr>
          <a:xfrm>
            <a:off x="80010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2" name="Google Shape;162;p44"/>
          <p:cNvSpPr txBox="1"/>
          <p:nvPr>
            <p:ph idx="16" type="body"/>
          </p:nvPr>
        </p:nvSpPr>
        <p:spPr>
          <a:xfrm>
            <a:off x="80010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3" name="Google Shape;163;p44"/>
          <p:cNvSpPr txBox="1"/>
          <p:nvPr>
            <p:ph idx="17" type="body"/>
          </p:nvPr>
        </p:nvSpPr>
        <p:spPr>
          <a:xfrm>
            <a:off x="80010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4" name="Google Shape;164;p44"/>
          <p:cNvSpPr txBox="1"/>
          <p:nvPr>
            <p:ph idx="18" type="body"/>
          </p:nvPr>
        </p:nvSpPr>
        <p:spPr>
          <a:xfrm>
            <a:off x="48577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5" name="Google Shape;165;p44"/>
          <p:cNvSpPr txBox="1"/>
          <p:nvPr>
            <p:ph idx="19" type="body"/>
          </p:nvPr>
        </p:nvSpPr>
        <p:spPr>
          <a:xfrm>
            <a:off x="48577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6" name="Google Shape;166;p44"/>
          <p:cNvSpPr txBox="1"/>
          <p:nvPr>
            <p:ph idx="20" type="body"/>
          </p:nvPr>
        </p:nvSpPr>
        <p:spPr>
          <a:xfrm>
            <a:off x="48577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7" name="Google Shape;167;p44"/>
          <p:cNvSpPr txBox="1"/>
          <p:nvPr>
            <p:ph idx="21" type="body"/>
          </p:nvPr>
        </p:nvSpPr>
        <p:spPr>
          <a:xfrm>
            <a:off x="48577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8" name="Google Shape;168;p44"/>
          <p:cNvSpPr txBox="1"/>
          <p:nvPr>
            <p:ph idx="22" type="body"/>
          </p:nvPr>
        </p:nvSpPr>
        <p:spPr>
          <a:xfrm>
            <a:off x="1714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9" name="Google Shape;169;p44"/>
          <p:cNvSpPr txBox="1"/>
          <p:nvPr>
            <p:ph idx="23" type="body"/>
          </p:nvPr>
        </p:nvSpPr>
        <p:spPr>
          <a:xfrm>
            <a:off x="1714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0" name="Google Shape;170;p44"/>
          <p:cNvSpPr txBox="1"/>
          <p:nvPr>
            <p:ph idx="24" type="body"/>
          </p:nvPr>
        </p:nvSpPr>
        <p:spPr>
          <a:xfrm>
            <a:off x="1714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1" name="Google Shape;171;p44"/>
          <p:cNvSpPr txBox="1"/>
          <p:nvPr>
            <p:ph idx="25" type="body"/>
          </p:nvPr>
        </p:nvSpPr>
        <p:spPr>
          <a:xfrm>
            <a:off x="1714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ريق العمل">
  <p:cSld name="فريق العمل">
    <p:bg>
      <p:bgPr>
        <a:solidFill>
          <a:srgbClr val="12183F"/>
        </a:solidFill>
      </p:bgPr>
    </p:bg>
    <p:spTree>
      <p:nvGrpSpPr>
        <p:cNvPr id="172" name="Shape 172"/>
        <p:cNvGrpSpPr/>
        <p:nvPr/>
      </p:nvGrpSpPr>
      <p:grpSpPr>
        <a:xfrm>
          <a:off x="0" y="0"/>
          <a:ext cx="0" cy="0"/>
          <a:chOff x="0" y="0"/>
          <a:chExt cx="0" cy="0"/>
        </a:xfrm>
      </p:grpSpPr>
      <p:pic>
        <p:nvPicPr>
          <p:cNvPr id="173" name="Google Shape;173;p4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74" name="Google Shape;174;p4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75" name="Google Shape;175;p4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6" name="Google Shape;176;p4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7" name="Google Shape;177;p45"/>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8" name="Google Shape;178;p4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79" name="Google Shape;179;p4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80" name="Google Shape;180;p45"/>
          <p:cNvSpPr/>
          <p:nvPr>
            <p:ph idx="3" type="pic"/>
          </p:nvPr>
        </p:nvSpPr>
        <p:spPr>
          <a:xfrm>
            <a:off x="14192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1" name="Google Shape;181;p45"/>
          <p:cNvSpPr txBox="1"/>
          <p:nvPr>
            <p:ph idx="4" type="body"/>
          </p:nvPr>
        </p:nvSpPr>
        <p:spPr>
          <a:xfrm>
            <a:off x="13716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2" name="Google Shape;182;p45"/>
          <p:cNvSpPr txBox="1"/>
          <p:nvPr>
            <p:ph idx="5" type="body"/>
          </p:nvPr>
        </p:nvSpPr>
        <p:spPr>
          <a:xfrm>
            <a:off x="13716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3" name="Google Shape;183;p45"/>
          <p:cNvSpPr/>
          <p:nvPr>
            <p:ph idx="6" type="pic"/>
          </p:nvPr>
        </p:nvSpPr>
        <p:spPr>
          <a:xfrm>
            <a:off x="10191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4" name="Google Shape;184;p45"/>
          <p:cNvSpPr txBox="1"/>
          <p:nvPr>
            <p:ph idx="7" type="body"/>
          </p:nvPr>
        </p:nvSpPr>
        <p:spPr>
          <a:xfrm>
            <a:off x="9715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5" name="Google Shape;185;p45"/>
          <p:cNvSpPr txBox="1"/>
          <p:nvPr>
            <p:ph idx="8" type="body"/>
          </p:nvPr>
        </p:nvSpPr>
        <p:spPr>
          <a:xfrm>
            <a:off x="9715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6" name="Google Shape;186;p45"/>
          <p:cNvSpPr/>
          <p:nvPr>
            <p:ph idx="9" type="pic"/>
          </p:nvPr>
        </p:nvSpPr>
        <p:spPr>
          <a:xfrm>
            <a:off x="6191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7" name="Google Shape;187;p45"/>
          <p:cNvSpPr txBox="1"/>
          <p:nvPr>
            <p:ph idx="13" type="body"/>
          </p:nvPr>
        </p:nvSpPr>
        <p:spPr>
          <a:xfrm>
            <a:off x="5715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8" name="Google Shape;188;p45"/>
          <p:cNvSpPr txBox="1"/>
          <p:nvPr>
            <p:ph idx="14" type="body"/>
          </p:nvPr>
        </p:nvSpPr>
        <p:spPr>
          <a:xfrm>
            <a:off x="5715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9" name="Google Shape;189;p45"/>
          <p:cNvSpPr/>
          <p:nvPr>
            <p:ph idx="15" type="pic"/>
          </p:nvPr>
        </p:nvSpPr>
        <p:spPr>
          <a:xfrm>
            <a:off x="2190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90" name="Google Shape;190;p45"/>
          <p:cNvSpPr txBox="1"/>
          <p:nvPr>
            <p:ph idx="16" type="body"/>
          </p:nvPr>
        </p:nvSpPr>
        <p:spPr>
          <a:xfrm>
            <a:off x="1714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1" name="Google Shape;191;p45"/>
          <p:cNvSpPr txBox="1"/>
          <p:nvPr>
            <p:ph idx="17" type="body"/>
          </p:nvPr>
        </p:nvSpPr>
        <p:spPr>
          <a:xfrm>
            <a:off x="1714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فاتحة">
  <p:cSld name="أربع نقاط فاتحة">
    <p:bg>
      <p:bgPr>
        <a:solidFill>
          <a:srgbClr val="F2F4FF"/>
        </a:solidFill>
      </p:bgPr>
    </p:bg>
    <p:spTree>
      <p:nvGrpSpPr>
        <p:cNvPr id="192" name="Shape 192"/>
        <p:cNvGrpSpPr/>
        <p:nvPr/>
      </p:nvGrpSpPr>
      <p:grpSpPr>
        <a:xfrm>
          <a:off x="0" y="0"/>
          <a:ext cx="0" cy="0"/>
          <a:chOff x="0" y="0"/>
          <a:chExt cx="0" cy="0"/>
        </a:xfrm>
      </p:grpSpPr>
      <p:pic>
        <p:nvPicPr>
          <p:cNvPr id="193" name="Google Shape;193;p4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94" name="Google Shape;194;p46"/>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195" name="Google Shape;195;p46"/>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6" name="Google Shape;196;p46"/>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7" name="Google Shape;197;p46"/>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8" name="Google Shape;198;p4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99" name="Google Shape;199;p4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00" name="Google Shape;200;p46"/>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1" name="Google Shape;201;p46"/>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2" name="Google Shape;202;p46"/>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3" name="Google Shape;203;p46"/>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4" name="Google Shape;204;p46"/>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5" name="Google Shape;205;p46"/>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6" name="Google Shape;206;p46"/>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7" name="Google Shape;207;p46"/>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فاتح">
  <p:cSld name="جدول فاتح">
    <p:bg>
      <p:bgPr>
        <a:solidFill>
          <a:srgbClr val="F2F4FF"/>
        </a:solidFill>
      </p:bgPr>
    </p:bg>
    <p:spTree>
      <p:nvGrpSpPr>
        <p:cNvPr id="208" name="Shape 208"/>
        <p:cNvGrpSpPr/>
        <p:nvPr/>
      </p:nvGrpSpPr>
      <p:grpSpPr>
        <a:xfrm>
          <a:off x="0" y="0"/>
          <a:ext cx="0" cy="0"/>
          <a:chOff x="0" y="0"/>
          <a:chExt cx="0" cy="0"/>
        </a:xfrm>
      </p:grpSpPr>
      <p:pic>
        <p:nvPicPr>
          <p:cNvPr id="209" name="Google Shape;209;p4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10" name="Google Shape;210;p47"/>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211" name="Google Shape;211;p4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2" name="Google Shape;212;p4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3" name="Google Shape;213;p4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4" name="Google Shape;214;p4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215" name="Google Shape;215;p4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16" name="Google Shape;216;p47"/>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7" name="Google Shape;217;p47"/>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بالأعمدة">
  <p:cSld name="مقارنة بالأعمدة">
    <p:bg>
      <p:bgPr>
        <a:solidFill>
          <a:srgbClr val="12183F"/>
        </a:solidFill>
      </p:bgPr>
    </p:bg>
    <p:spTree>
      <p:nvGrpSpPr>
        <p:cNvPr id="218" name="Shape 218"/>
        <p:cNvGrpSpPr/>
        <p:nvPr/>
      </p:nvGrpSpPr>
      <p:grpSpPr>
        <a:xfrm>
          <a:off x="0" y="0"/>
          <a:ext cx="0" cy="0"/>
          <a:chOff x="0" y="0"/>
          <a:chExt cx="0" cy="0"/>
        </a:xfrm>
      </p:grpSpPr>
      <p:pic>
        <p:nvPicPr>
          <p:cNvPr id="219" name="Google Shape;219;p4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0" name="Google Shape;220;p4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21" name="Google Shape;221;p4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2" name="Google Shape;222;p4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3" name="Google Shape;223;p48"/>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4" name="Google Shape;224;p4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25" name="Google Shape;225;p4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26" name="Google Shape;226;p48"/>
          <p:cNvSpPr txBox="1"/>
          <p:nvPr>
            <p:ph idx="3" type="body"/>
          </p:nvPr>
        </p:nvSpPr>
        <p:spPr>
          <a:xfrm>
            <a:off x="2095500" y="8905875"/>
            <a:ext cx="1419225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7" name="Google Shape;227;p48"/>
          <p:cNvSpPr/>
          <p:nvPr>
            <p:ph idx="4" type="chart"/>
          </p:nvPr>
        </p:nvSpPr>
        <p:spPr>
          <a:xfrm>
            <a:off x="2095500" y="3905250"/>
            <a:ext cx="14192250" cy="4857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توزيع نسبي">
  <p:cSld name="توزيع نسبي">
    <p:bg>
      <p:bgPr>
        <a:solidFill>
          <a:srgbClr val="12183F"/>
        </a:solidFill>
      </p:bgPr>
    </p:bg>
    <p:spTree>
      <p:nvGrpSpPr>
        <p:cNvPr id="228" name="Shape 228"/>
        <p:cNvGrpSpPr/>
        <p:nvPr/>
      </p:nvGrpSpPr>
      <p:grpSpPr>
        <a:xfrm>
          <a:off x="0" y="0"/>
          <a:ext cx="0" cy="0"/>
          <a:chOff x="0" y="0"/>
          <a:chExt cx="0" cy="0"/>
        </a:xfrm>
      </p:grpSpPr>
      <p:pic>
        <p:nvPicPr>
          <p:cNvPr id="229" name="Google Shape;229;p4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30" name="Google Shape;230;p4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1" name="Google Shape;231;p4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2" name="Google Shape;232;p4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3" name="Google Shape;233;p49"/>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4" name="Google Shape;234;p4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35" name="Google Shape;235;p4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36" name="Google Shape;236;p49"/>
          <p:cNvSpPr txBox="1"/>
          <p:nvPr>
            <p:ph idx="3" type="body"/>
          </p:nvPr>
        </p:nvSpPr>
        <p:spPr>
          <a:xfrm>
            <a:off x="1714500" y="890587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7" name="Google Shape;237;p49"/>
          <p:cNvSpPr/>
          <p:nvPr>
            <p:ph idx="4" type="chart"/>
          </p:nvPr>
        </p:nvSpPr>
        <p:spPr>
          <a:xfrm>
            <a:off x="2095500" y="3619500"/>
            <a:ext cx="14097000" cy="5381625"/>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آلية العمل">
  <p:cSld name="آلية العمل">
    <p:bg>
      <p:bgPr>
        <a:solidFill>
          <a:srgbClr val="12183F"/>
        </a:solidFill>
      </p:bgPr>
    </p:bg>
    <p:spTree>
      <p:nvGrpSpPr>
        <p:cNvPr id="238" name="Shape 238"/>
        <p:cNvGrpSpPr/>
        <p:nvPr/>
      </p:nvGrpSpPr>
      <p:grpSpPr>
        <a:xfrm>
          <a:off x="0" y="0"/>
          <a:ext cx="0" cy="0"/>
          <a:chOff x="0" y="0"/>
          <a:chExt cx="0" cy="0"/>
        </a:xfrm>
      </p:grpSpPr>
      <p:pic>
        <p:nvPicPr>
          <p:cNvPr id="239" name="Google Shape;239;p5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40" name="Google Shape;240;p5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41" name="Google Shape;241;p5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2" name="Google Shape;242;p5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3" name="Google Shape;243;p50"/>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4" name="Google Shape;244;p5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45" name="Google Shape;245;p5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46" name="Google Shape;246;p50"/>
          <p:cNvSpPr txBox="1"/>
          <p:nvPr>
            <p:ph idx="3" type="body"/>
          </p:nvPr>
        </p:nvSpPr>
        <p:spPr>
          <a:xfrm>
            <a:off x="13716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7" name="Google Shape;247;p50"/>
          <p:cNvSpPr txBox="1"/>
          <p:nvPr>
            <p:ph idx="4" type="body"/>
          </p:nvPr>
        </p:nvSpPr>
        <p:spPr>
          <a:xfrm>
            <a:off x="9715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8" name="Google Shape;248;p50"/>
          <p:cNvSpPr txBox="1"/>
          <p:nvPr>
            <p:ph idx="5" type="body"/>
          </p:nvPr>
        </p:nvSpPr>
        <p:spPr>
          <a:xfrm>
            <a:off x="5715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9" name="Google Shape;249;p50"/>
          <p:cNvSpPr txBox="1"/>
          <p:nvPr>
            <p:ph idx="6" type="body"/>
          </p:nvPr>
        </p:nvSpPr>
        <p:spPr>
          <a:xfrm>
            <a:off x="1714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صورة كبيرة">
  <p:cSld name="صورة كبيرة">
    <p:bg>
      <p:bgPr>
        <a:solidFill>
          <a:srgbClr val="12183F"/>
        </a:solidFill>
      </p:bgPr>
    </p:bg>
    <p:spTree>
      <p:nvGrpSpPr>
        <p:cNvPr id="250" name="Shape 250"/>
        <p:cNvGrpSpPr/>
        <p:nvPr/>
      </p:nvGrpSpPr>
      <p:grpSpPr>
        <a:xfrm>
          <a:off x="0" y="0"/>
          <a:ext cx="0" cy="0"/>
          <a:chOff x="0" y="0"/>
          <a:chExt cx="0" cy="0"/>
        </a:xfrm>
      </p:grpSpPr>
      <p:pic>
        <p:nvPicPr>
          <p:cNvPr id="251" name="Google Shape;251;p51"/>
          <p:cNvPicPr preferRelativeResize="0"/>
          <p:nvPr/>
        </p:nvPicPr>
        <p:blipFill rotWithShape="1">
          <a:blip r:embed="rId2">
            <a:alphaModFix/>
          </a:blip>
          <a:srcRect b="0" l="0" r="0" t="0"/>
          <a:stretch/>
        </p:blipFill>
        <p:spPr>
          <a:xfrm>
            <a:off x="0" y="0"/>
            <a:ext cx="18288000" cy="10287000"/>
          </a:xfrm>
          <a:prstGeom prst="rect">
            <a:avLst/>
          </a:prstGeom>
          <a:noFill/>
          <a:ln>
            <a:noFill/>
          </a:ln>
        </p:spPr>
      </p:pic>
      <p:sp>
        <p:nvSpPr>
          <p:cNvPr id="252" name="Google Shape;252;p5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53" name="Google Shape;253;p5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54" name="Google Shape;254;p51"/>
          <p:cNvSpPr/>
          <p:nvPr>
            <p:ph idx="2" type="pic"/>
          </p:nvPr>
        </p:nvSpPr>
        <p:spPr>
          <a:xfrm>
            <a:off x="1047750" y="666750"/>
            <a:ext cx="16192500" cy="6953250"/>
          </a:xfrm>
          <a:prstGeom prst="rect">
            <a:avLst/>
          </a:prstGeom>
          <a:solidFill>
            <a:srgbClr val="161D48"/>
          </a:solidFill>
          <a:ln cap="flat" cmpd="sng" w="11425">
            <a:solidFill>
              <a:srgbClr val="4A5590"/>
            </a:solidFill>
            <a:prstDash val="solid"/>
            <a:round/>
            <a:headEnd len="sm" w="sm" type="none"/>
            <a:tailEnd len="sm" w="sm" type="none"/>
          </a:ln>
        </p:spPr>
      </p:sp>
      <p:sp>
        <p:nvSpPr>
          <p:cNvPr id="255" name="Google Shape;255;p51"/>
          <p:cNvSpPr txBox="1"/>
          <p:nvPr>
            <p:ph type="title"/>
          </p:nvPr>
        </p:nvSpPr>
        <p:spPr>
          <a:xfrm>
            <a:off x="2190750" y="7962900"/>
            <a:ext cx="14763750" cy="8382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6" name="Google Shape;256;p51"/>
          <p:cNvSpPr txBox="1"/>
          <p:nvPr>
            <p:ph idx="1" type="body"/>
          </p:nvPr>
        </p:nvSpPr>
        <p:spPr>
          <a:xfrm>
            <a:off x="2190750" y="8896350"/>
            <a:ext cx="14763750" cy="4286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عرض الصور">
  <p:cSld name="معرض الصور">
    <p:bg>
      <p:bgPr>
        <a:solidFill>
          <a:srgbClr val="12183F"/>
        </a:solidFill>
      </p:bgPr>
    </p:bg>
    <p:spTree>
      <p:nvGrpSpPr>
        <p:cNvPr id="257" name="Shape 257"/>
        <p:cNvGrpSpPr/>
        <p:nvPr/>
      </p:nvGrpSpPr>
      <p:grpSpPr>
        <a:xfrm>
          <a:off x="0" y="0"/>
          <a:ext cx="0" cy="0"/>
          <a:chOff x="0" y="0"/>
          <a:chExt cx="0" cy="0"/>
        </a:xfrm>
      </p:grpSpPr>
      <p:pic>
        <p:nvPicPr>
          <p:cNvPr id="258" name="Google Shape;258;p5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59" name="Google Shape;259;p52"/>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60" name="Google Shape;260;p52"/>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1" name="Google Shape;261;p52"/>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2" name="Google Shape;262;p5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3" name="Google Shape;263;p5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64" name="Google Shape;264;p52"/>
          <p:cNvSpPr/>
          <p:nvPr>
            <p:ph idx="2" type="pic"/>
          </p:nvPr>
        </p:nvSpPr>
        <p:spPr>
          <a:xfrm>
            <a:off x="12382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5" name="Google Shape;265;p52"/>
          <p:cNvSpPr txBox="1"/>
          <p:nvPr>
            <p:ph idx="3" type="body"/>
          </p:nvPr>
        </p:nvSpPr>
        <p:spPr>
          <a:xfrm>
            <a:off x="12382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6" name="Google Shape;266;p52"/>
          <p:cNvSpPr/>
          <p:nvPr>
            <p:ph idx="4" type="pic"/>
          </p:nvPr>
        </p:nvSpPr>
        <p:spPr>
          <a:xfrm>
            <a:off x="7048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7" name="Google Shape;267;p52"/>
          <p:cNvSpPr txBox="1"/>
          <p:nvPr>
            <p:ph idx="5" type="body"/>
          </p:nvPr>
        </p:nvSpPr>
        <p:spPr>
          <a:xfrm>
            <a:off x="7048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8" name="Google Shape;268;p52"/>
          <p:cNvSpPr/>
          <p:nvPr>
            <p:ph idx="6" type="pic"/>
          </p:nvPr>
        </p:nvSpPr>
        <p:spPr>
          <a:xfrm>
            <a:off x="1714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9" name="Google Shape;269;p52"/>
          <p:cNvSpPr txBox="1"/>
          <p:nvPr>
            <p:ph idx="7" type="body"/>
          </p:nvPr>
        </p:nvSpPr>
        <p:spPr>
          <a:xfrm>
            <a:off x="1714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يقونات الهوية">
  <p:cSld name="أيقونات الهوية">
    <p:bg>
      <p:bgPr>
        <a:solidFill>
          <a:srgbClr val="12183F"/>
        </a:solidFill>
      </p:bgPr>
    </p:bg>
    <p:spTree>
      <p:nvGrpSpPr>
        <p:cNvPr id="270" name="Shape 270"/>
        <p:cNvGrpSpPr/>
        <p:nvPr/>
      </p:nvGrpSpPr>
      <p:grpSpPr>
        <a:xfrm>
          <a:off x="0" y="0"/>
          <a:ext cx="0" cy="0"/>
          <a:chOff x="0" y="0"/>
          <a:chExt cx="0" cy="0"/>
        </a:xfrm>
      </p:grpSpPr>
      <p:pic>
        <p:nvPicPr>
          <p:cNvPr id="271" name="Google Shape;271;p5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72" name="Google Shape;272;p5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73" name="Google Shape;273;p5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4" name="Google Shape;274;p5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5" name="Google Shape;275;p5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6" name="Google Shape;276;p5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77" name="Google Shape;277;p5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8" name="Google Shape;278;p53"/>
          <p:cNvSpPr txBox="1"/>
          <p:nvPr>
            <p:ph idx="3" type="body"/>
          </p:nvPr>
        </p:nvSpPr>
        <p:spPr>
          <a:xfrm>
            <a:off x="13716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9" name="Google Shape;279;p53"/>
          <p:cNvSpPr txBox="1"/>
          <p:nvPr>
            <p:ph idx="4" type="body"/>
          </p:nvPr>
        </p:nvSpPr>
        <p:spPr>
          <a:xfrm>
            <a:off x="13716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0" name="Google Shape;280;p53"/>
          <p:cNvSpPr txBox="1"/>
          <p:nvPr>
            <p:ph idx="5" type="body"/>
          </p:nvPr>
        </p:nvSpPr>
        <p:spPr>
          <a:xfrm>
            <a:off x="9715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1" name="Google Shape;281;p53"/>
          <p:cNvSpPr txBox="1"/>
          <p:nvPr>
            <p:ph idx="6" type="body"/>
          </p:nvPr>
        </p:nvSpPr>
        <p:spPr>
          <a:xfrm>
            <a:off x="9715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2" name="Google Shape;282;p53"/>
          <p:cNvSpPr txBox="1"/>
          <p:nvPr>
            <p:ph idx="7" type="body"/>
          </p:nvPr>
        </p:nvSpPr>
        <p:spPr>
          <a:xfrm>
            <a:off x="5715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3" name="Google Shape;283;p53"/>
          <p:cNvSpPr txBox="1"/>
          <p:nvPr>
            <p:ph idx="8" type="body"/>
          </p:nvPr>
        </p:nvSpPr>
        <p:spPr>
          <a:xfrm>
            <a:off x="5715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4" name="Google Shape;284;p53"/>
          <p:cNvSpPr txBox="1"/>
          <p:nvPr>
            <p:ph idx="9" type="body"/>
          </p:nvPr>
        </p:nvSpPr>
        <p:spPr>
          <a:xfrm>
            <a:off x="1714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5" name="Google Shape;285;p53"/>
          <p:cNvSpPr txBox="1"/>
          <p:nvPr>
            <p:ph idx="13" type="body"/>
          </p:nvPr>
        </p:nvSpPr>
        <p:spPr>
          <a:xfrm>
            <a:off x="1714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خيارين">
  <p:cSld name="مقارنة خيارين">
    <p:bg>
      <p:bgPr>
        <a:solidFill>
          <a:srgbClr val="12183F"/>
        </a:solidFill>
      </p:bgPr>
    </p:bg>
    <p:spTree>
      <p:nvGrpSpPr>
        <p:cNvPr id="286" name="Shape 286"/>
        <p:cNvGrpSpPr/>
        <p:nvPr/>
      </p:nvGrpSpPr>
      <p:grpSpPr>
        <a:xfrm>
          <a:off x="0" y="0"/>
          <a:ext cx="0" cy="0"/>
          <a:chOff x="0" y="0"/>
          <a:chExt cx="0" cy="0"/>
        </a:xfrm>
      </p:grpSpPr>
      <p:pic>
        <p:nvPicPr>
          <p:cNvPr id="287" name="Google Shape;287;p5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88" name="Google Shape;288;p5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89" name="Google Shape;289;p5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0" name="Google Shape;290;p5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1" name="Google Shape;291;p5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2" name="Google Shape;292;p5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93" name="Google Shape;293;p5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94" name="Google Shape;294;p54"/>
          <p:cNvSpPr txBox="1"/>
          <p:nvPr>
            <p:ph idx="3" type="body"/>
          </p:nvPr>
        </p:nvSpPr>
        <p:spPr>
          <a:xfrm>
            <a:off x="1000125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5" name="Google Shape;295;p54"/>
          <p:cNvSpPr txBox="1"/>
          <p:nvPr>
            <p:ph idx="4" type="body"/>
          </p:nvPr>
        </p:nvSpPr>
        <p:spPr>
          <a:xfrm>
            <a:off x="1000125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6" name="Google Shape;296;p54"/>
          <p:cNvSpPr txBox="1"/>
          <p:nvPr>
            <p:ph idx="5" type="body"/>
          </p:nvPr>
        </p:nvSpPr>
        <p:spPr>
          <a:xfrm>
            <a:off x="171450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7" name="Google Shape;297;p54"/>
          <p:cNvSpPr txBox="1"/>
          <p:nvPr>
            <p:ph idx="6" type="body"/>
          </p:nvPr>
        </p:nvSpPr>
        <p:spPr>
          <a:xfrm>
            <a:off x="171450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8" name="Google Shape;298;p54"/>
          <p:cNvSpPr txBox="1"/>
          <p:nvPr>
            <p:ph idx="7" type="body"/>
          </p:nvPr>
        </p:nvSpPr>
        <p:spPr>
          <a:xfrm>
            <a:off x="1000125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9" name="Google Shape;299;p54"/>
          <p:cNvSpPr txBox="1"/>
          <p:nvPr>
            <p:ph idx="8" type="body"/>
          </p:nvPr>
        </p:nvSpPr>
        <p:spPr>
          <a:xfrm>
            <a:off x="171450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داكنة">
  <p:cSld name="فارغة داكنة">
    <p:bg>
      <p:bgPr>
        <a:solidFill>
          <a:srgbClr val="12183F"/>
        </a:solidFill>
      </p:bgPr>
    </p:bg>
    <p:spTree>
      <p:nvGrpSpPr>
        <p:cNvPr id="300" name="Shape 300"/>
        <p:cNvGrpSpPr/>
        <p:nvPr/>
      </p:nvGrpSpPr>
      <p:grpSpPr>
        <a:xfrm>
          <a:off x="0" y="0"/>
          <a:ext cx="0" cy="0"/>
          <a:chOff x="0" y="0"/>
          <a:chExt cx="0" cy="0"/>
        </a:xfrm>
      </p:grpSpPr>
      <p:pic>
        <p:nvPicPr>
          <p:cNvPr id="301" name="Google Shape;301;p5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2" name="Google Shape;302;p55"/>
          <p:cNvPicPr preferRelativeResize="0"/>
          <p:nvPr/>
        </p:nvPicPr>
        <p:blipFill rotWithShape="1">
          <a:blip r:embed="rId3">
            <a:alphaModFix/>
          </a:blip>
          <a:srcRect b="0" l="0" r="0" t="0"/>
          <a:stretch/>
        </p:blipFill>
        <p:spPr>
          <a:xfrm>
            <a:off x="1066800" y="722542"/>
            <a:ext cx="3429000" cy="879016"/>
          </a:xfrm>
          <a:prstGeom prst="rect">
            <a:avLst/>
          </a:prstGeom>
          <a:noFill/>
          <a:ln>
            <a:noFill/>
          </a:ln>
        </p:spPr>
      </p:pic>
      <p:sp>
        <p:nvSpPr>
          <p:cNvPr id="303" name="Google Shape;303;p5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304" name="Google Shape;304;p5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فاتحة">
  <p:cSld name="فارغة فاتحة">
    <p:bg>
      <p:bgPr>
        <a:solidFill>
          <a:srgbClr val="F2F4FF"/>
        </a:solidFill>
      </p:bgPr>
    </p:bg>
    <p:spTree>
      <p:nvGrpSpPr>
        <p:cNvPr id="305" name="Shape 305"/>
        <p:cNvGrpSpPr/>
        <p:nvPr/>
      </p:nvGrpSpPr>
      <p:grpSpPr>
        <a:xfrm>
          <a:off x="0" y="0"/>
          <a:ext cx="0" cy="0"/>
          <a:chOff x="0" y="0"/>
          <a:chExt cx="0" cy="0"/>
        </a:xfrm>
      </p:grpSpPr>
      <p:pic>
        <p:nvPicPr>
          <p:cNvPr id="306" name="Google Shape;306;p5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7" name="Google Shape;307;p56"/>
          <p:cNvPicPr preferRelativeResize="0"/>
          <p:nvPr/>
        </p:nvPicPr>
        <p:blipFill rotWithShape="1">
          <a:blip r:embed="rId3">
            <a:alphaModFix/>
          </a:blip>
          <a:srcRect b="0" l="0" r="0" t="0"/>
          <a:stretch/>
        </p:blipFill>
        <p:spPr>
          <a:xfrm>
            <a:off x="1245010" y="685800"/>
            <a:ext cx="3072581" cy="952500"/>
          </a:xfrm>
          <a:prstGeom prst="rect">
            <a:avLst/>
          </a:prstGeom>
          <a:noFill/>
          <a:ln>
            <a:noFill/>
          </a:ln>
        </p:spPr>
      </p:pic>
      <p:sp>
        <p:nvSpPr>
          <p:cNvPr id="308" name="Google Shape;308;p5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309" name="Google Shape;309;p5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تام العرض">
  <p:cSld name="ختام العرض">
    <p:bg>
      <p:bgPr>
        <a:solidFill>
          <a:srgbClr val="12183F"/>
        </a:solidFill>
      </p:bgPr>
    </p:bg>
    <p:spTree>
      <p:nvGrpSpPr>
        <p:cNvPr id="310" name="Shape 310"/>
        <p:cNvGrpSpPr/>
        <p:nvPr/>
      </p:nvGrpSpPr>
      <p:grpSpPr>
        <a:xfrm>
          <a:off x="0" y="0"/>
          <a:ext cx="0" cy="0"/>
          <a:chOff x="0" y="0"/>
          <a:chExt cx="0" cy="0"/>
        </a:xfrm>
      </p:grpSpPr>
      <p:pic>
        <p:nvPicPr>
          <p:cNvPr id="311" name="Google Shape;311;p5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12" name="Google Shape;312;p57"/>
          <p:cNvPicPr preferRelativeResize="0"/>
          <p:nvPr/>
        </p:nvPicPr>
        <p:blipFill rotWithShape="1">
          <a:blip r:embed="rId3">
            <a:alphaModFix/>
          </a:blip>
          <a:srcRect b="0" l="0" r="0" t="0"/>
          <a:stretch/>
        </p:blipFill>
        <p:spPr>
          <a:xfrm>
            <a:off x="5810250" y="1336151"/>
            <a:ext cx="6667500" cy="1709198"/>
          </a:xfrm>
          <a:prstGeom prst="rect">
            <a:avLst/>
          </a:prstGeom>
          <a:noFill/>
          <a:ln>
            <a:noFill/>
          </a:ln>
        </p:spPr>
      </p:pic>
      <p:pic>
        <p:nvPicPr>
          <p:cNvPr id="313" name="Google Shape;313;p57"/>
          <p:cNvPicPr preferRelativeResize="0"/>
          <p:nvPr/>
        </p:nvPicPr>
        <p:blipFill rotWithShape="1">
          <a:blip r:embed="rId4">
            <a:alphaModFix/>
          </a:blip>
          <a:srcRect b="0" l="0" r="0" t="0"/>
          <a:stretch/>
        </p:blipFill>
        <p:spPr>
          <a:xfrm>
            <a:off x="10669485" y="8524875"/>
            <a:ext cx="3045029" cy="1562100"/>
          </a:xfrm>
          <a:prstGeom prst="rect">
            <a:avLst/>
          </a:prstGeom>
          <a:noFill/>
          <a:ln>
            <a:noFill/>
          </a:ln>
        </p:spPr>
      </p:pic>
      <p:pic>
        <p:nvPicPr>
          <p:cNvPr id="314" name="Google Shape;314;p57"/>
          <p:cNvPicPr preferRelativeResize="0"/>
          <p:nvPr/>
        </p:nvPicPr>
        <p:blipFill rotWithShape="1">
          <a:blip r:embed="rId5">
            <a:alphaModFix/>
          </a:blip>
          <a:srcRect b="16000" l="4300" r="69700" t="16000"/>
          <a:stretch/>
        </p:blipFill>
        <p:spPr>
          <a:xfrm>
            <a:off x="4857750" y="8629650"/>
            <a:ext cx="3810000" cy="1476375"/>
          </a:xfrm>
          <a:prstGeom prst="rect">
            <a:avLst/>
          </a:prstGeom>
          <a:noFill/>
          <a:ln>
            <a:noFill/>
          </a:ln>
        </p:spPr>
      </p:pic>
      <p:sp>
        <p:nvSpPr>
          <p:cNvPr id="315" name="Google Shape;315;p57"/>
          <p:cNvSpPr txBox="1"/>
          <p:nvPr>
            <p:ph type="title"/>
          </p:nvPr>
        </p:nvSpPr>
        <p:spPr>
          <a:xfrm>
            <a:off x="3810000" y="4048125"/>
            <a:ext cx="10668000" cy="1428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6" name="Google Shape;316;p57"/>
          <p:cNvSpPr txBox="1"/>
          <p:nvPr>
            <p:ph idx="1" type="body"/>
          </p:nvPr>
        </p:nvSpPr>
        <p:spPr>
          <a:xfrm>
            <a:off x="3810000" y="5905500"/>
            <a:ext cx="1066800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7" name="Google Shape;317;p57"/>
          <p:cNvSpPr txBox="1"/>
          <p:nvPr>
            <p:ph idx="2" type="body"/>
          </p:nvPr>
        </p:nvSpPr>
        <p:spPr>
          <a:xfrm>
            <a:off x="3810000" y="7000875"/>
            <a:ext cx="10668000" cy="666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1.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2.png"/><Relationship Id="rId6"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1.pn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1.xml"/><Relationship Id="rId3" Type="http://schemas.openxmlformats.org/officeDocument/2006/relationships/image" Target="../media/image7.pn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4.xml"/><Relationship Id="rId3" Type="http://schemas.openxmlformats.org/officeDocument/2006/relationships/image" Target="../media/image1.pn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5.xml"/><Relationship Id="rId3" Type="http://schemas.openxmlformats.org/officeDocument/2006/relationships/image" Target="../media/image1.png"/><Relationship Id="rId4" Type="http://schemas.openxmlformats.org/officeDocument/2006/relationships/image" Target="../media/bidaya_ask.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26.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bidaya_summary.jpg"/><Relationship Id="rId6" Type="http://schemas.openxmlformats.org/officeDocument/2006/relationships/image" Target="../media/bidaya_person.jpg"/><Relationship Id="rId7" Type="http://schemas.openxmlformats.org/officeDocument/2006/relationships/image" Target="../media/bidaya_phone.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7.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3.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2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8.xml"/><Relationship Id="rId3" Type="http://schemas.openxmlformats.org/officeDocument/2006/relationships/image" Target="../media/image1.png"/><Relationship Id="rId4"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1.xml"/><Relationship Id="rId3" Type="http://schemas.openxmlformats.org/officeDocument/2006/relationships/image" Target="../media/image4.png"/><Relationship Id="rId4" Type="http://schemas.openxmlformats.org/officeDocument/2006/relationships/image" Target="../media/image2.png"/><Relationship Id="rId9" Type="http://schemas.openxmlformats.org/officeDocument/2006/relationships/image" Target="../media/image1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5.png"/><Relationship Id="rId8" Type="http://schemas.openxmlformats.org/officeDocument/2006/relationships/image" Target="../media/image22.png"/><Relationship Id="rId10" Type="http://schemas.openxmlformats.org/officeDocument/2006/relationships/image" Target="../media/image2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5.xml"/><Relationship Id="rId3" Type="http://schemas.openxmlformats.org/officeDocument/2006/relationships/image" Target="../media/image7.png"/><Relationship Id="rId4"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9.xml"/><Relationship Id="rId3" Type="http://schemas.openxmlformats.org/officeDocument/2006/relationships/image" Target="../media/image1.png"/><Relationship Id="rId4" Type="http://schemas.openxmlformats.org/officeDocument/2006/relationships/image" Target="../media/bidaya_story.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9.xml"/><Relationship Id="rId3" Type="http://schemas.openxmlformats.org/officeDocument/2006/relationships/image" Target="../media/image1.png"/><Relationship Id="rId4" Type="http://schemas.openxmlformats.org/officeDocument/2006/relationships/image" Target="../media/bidaya_verses.jpg"/></Relationships>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483" name="Shape 483"/>
        <p:cNvGrpSpPr/>
        <p:nvPr/>
      </p:nvGrpSpPr>
      <p:grpSpPr>
        <a:xfrm>
          <a:off x="0" y="0"/>
          <a:ext cx="0" cy="0"/>
          <a:chOff x="0" y="0"/>
          <a:chExt cx="0" cy="0"/>
        </a:xfrm>
      </p:grpSpPr>
      <p:pic>
        <p:nvPicPr>
          <p:cNvPr id="484" name="Google Shape;484;p8"/>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485" name="Google Shape;485;p8" title="الصورة الرئيسية.png"/>
          <p:cNvPicPr preferRelativeResize="0"/>
          <p:nvPr/>
        </p:nvPicPr>
        <p:blipFill>
          <a:blip r:embed="rId4">
            <a:alphaModFix/>
          </a:blip>
          <a:stretch>
            <a:fillRect/>
          </a:stretch>
        </p:blipFill>
        <p:spPr>
          <a:xfrm>
            <a:off x="195975" y="1103475"/>
            <a:ext cx="9312476" cy="8603123"/>
          </a:xfrm>
          <a:prstGeom prst="rect">
            <a:avLst/>
          </a:prstGeom>
          <a:noFill/>
          <a:ln>
            <a:noFill/>
          </a:ln>
        </p:spPr>
      </p:pic>
      <p:sp>
        <p:nvSpPr>
          <p:cNvPr id="486" name="Google Shape;486;p8"/>
          <p:cNvSpPr txBox="1"/>
          <p:nvPr>
            <p:ph type="title"/>
          </p:nvPr>
        </p:nvSpPr>
        <p:spPr>
          <a:xfrm>
            <a:off x="7791450" y="3524250"/>
            <a:ext cx="9048900" cy="1333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450"/>
              <a:buNone/>
            </a:pPr>
            <a:r>
              <a:rPr b="1" lang="ar-SA" sz="6450">
                <a:solidFill>
                  <a:srgbClr val="F2F4FF"/>
                </a:solidFill>
                <a:latin typeface="Readex Pro"/>
                <a:ea typeface="Readex Pro"/>
                <a:cs typeface="Readex Pro"/>
                <a:sym typeface="Readex Pro"/>
              </a:rPr>
              <a:t>بداية</a:t>
            </a:r>
            <a:endParaRPr/>
          </a:p>
        </p:txBody>
      </p:sp>
      <p:sp>
        <p:nvSpPr>
          <p:cNvPr id="487" name="Google Shape;487;p8"/>
          <p:cNvSpPr txBox="1"/>
          <p:nvPr>
            <p:ph idx="1" type="body"/>
          </p:nvPr>
        </p:nvSpPr>
        <p:spPr>
          <a:xfrm>
            <a:off x="7791450" y="5334000"/>
            <a:ext cx="9048900" cy="16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300"/>
              <a:buNone/>
            </a:pPr>
            <a:r>
              <a:rPr b="0" lang="ar-SA" sz="3300">
                <a:solidFill>
                  <a:srgbClr val="2EF2C2"/>
                </a:solidFill>
                <a:latin typeface="Readex Pro"/>
                <a:ea typeface="Readex Pro"/>
                <a:cs typeface="Readex Pro"/>
                <a:sym typeface="Readex Pro"/>
              </a:rPr>
              <a:t>خريطة تفاعلية مدعومة بالذكاء الاصطناعي تروي سيرة النبي ﷺ في الزمان والمكان، مع مساعد يجيب من المصادر المعتمدة بالعربية والإنجليزية</a:t>
            </a:r>
            <a:endParaRPr/>
          </a:p>
        </p:txBody>
      </p:sp>
      <p:sp>
        <p:nvSpPr>
          <p:cNvPr id="488" name="Google Shape;488;p8"/>
          <p:cNvSpPr/>
          <p:nvPr/>
        </p:nvSpPr>
        <p:spPr>
          <a:xfrm>
            <a:off x="1143000" y="8843963"/>
            <a:ext cx="16002000" cy="9600"/>
          </a:xfrm>
          <a:prstGeom prst="rect">
            <a:avLst/>
          </a:prstGeom>
          <a:solidFill>
            <a:srgbClr val="FFFFFF">
              <a:alpha val="12160"/>
            </a:srgbClr>
          </a:solidFill>
          <a:ln>
            <a:noFill/>
          </a:ln>
        </p:spPr>
        <p:txBody>
          <a:bodyPr anchorCtr="0" anchor="ctr" bIns="91425" lIns="91425" spcFirstLastPara="1" rIns="91425" wrap="square" tIns="91425">
            <a:noAutofit/>
          </a:bodyPr>
          <a:lstStyle/>
          <a:p>
            <a:pPr indent="0" lvl="0" marL="0" rtl="1" algn="r">
              <a:lnSpc>
                <a:spcPct val="115000"/>
              </a:lnSpc>
              <a:spcBef>
                <a:spcPts val="0"/>
              </a:spcBef>
              <a:spcAft>
                <a:spcPts val="0"/>
              </a:spcAft>
              <a:buNone/>
            </a:pPr>
            <a:r>
              <a:t/>
            </a:r>
            <a:endParaRPr/>
          </a:p>
        </p:txBody>
      </p:sp>
      <p:sp>
        <p:nvSpPr>
          <p:cNvPr id="489" name="Google Shape;489;p8"/>
          <p:cNvSpPr/>
          <p:nvPr/>
        </p:nvSpPr>
        <p:spPr>
          <a:xfrm>
            <a:off x="14472130" y="9120188"/>
            <a:ext cx="2358000" cy="347700"/>
          </a:xfrm>
          <a:prstGeom prst="rect">
            <a:avLst/>
          </a:prstGeom>
          <a:noFill/>
          <a:ln>
            <a:noFill/>
          </a:ln>
        </p:spPr>
        <p:txBody>
          <a:bodyPr anchorCtr="0" anchor="ctr" bIns="25400" lIns="25400" spcFirstLastPara="1" rIns="25400" wrap="square" tIns="25400">
            <a:noAutofit/>
          </a:bodyPr>
          <a:lstStyle/>
          <a:p>
            <a:pPr indent="0" lvl="0" marL="0" marR="0" rtl="1" algn="r">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فريق بداية</a:t>
            </a:r>
            <a:endParaRPr i="0" sz="1950" u="none" cap="none" strike="noStrike">
              <a:solidFill>
                <a:srgbClr val="000000"/>
              </a:solidFill>
              <a:latin typeface="Readex Pro Light"/>
              <a:ea typeface="Readex Pro Light"/>
              <a:cs typeface="Readex Pro Light"/>
              <a:sym typeface="Readex Pro Light"/>
            </a:endParaRPr>
          </a:p>
        </p:txBody>
      </p:sp>
      <p:sp>
        <p:nvSpPr>
          <p:cNvPr id="490" name="Google Shape;490;p8"/>
          <p:cNvSpPr/>
          <p:nvPr/>
        </p:nvSpPr>
        <p:spPr>
          <a:xfrm>
            <a:off x="1397000" y="9120188"/>
            <a:ext cx="2765700" cy="347700"/>
          </a:xfrm>
          <a:prstGeom prst="rect">
            <a:avLst/>
          </a:prstGeom>
          <a:noFill/>
          <a:ln>
            <a:noFill/>
          </a:ln>
        </p:spPr>
        <p:txBody>
          <a:bodyPr anchorCtr="0" anchor="ctr" bIns="25400" lIns="25400" spcFirstLastPara="1" rIns="25400" wrap="square" tIns="25400">
            <a:noAutofit/>
          </a:bodyPr>
          <a:lstStyle/>
          <a:p>
            <a:pPr indent="0" lvl="0" marL="0" marR="0" rtl="1" algn="l">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6 أكتوبر 2026</a:t>
            </a:r>
            <a:endParaRPr i="0" sz="1950" u="none" cap="none" strike="noStrike">
              <a:solidFill>
                <a:srgbClr val="000000"/>
              </a:solidFill>
              <a:latin typeface="Readex Pro Light"/>
              <a:ea typeface="Readex Pro Light"/>
              <a:cs typeface="Readex Pro Light"/>
              <a:sym typeface="Readex Pro Light"/>
            </a:endParaRPr>
          </a:p>
        </p:txBody>
      </p:sp>
      <p:pic>
        <p:nvPicPr>
          <p:cNvPr id="491" name="Google Shape;491;p8"/>
          <p:cNvPicPr preferRelativeResize="0"/>
          <p:nvPr/>
        </p:nvPicPr>
        <p:blipFill rotWithShape="1">
          <a:blip r:embed="rId5">
            <a:alphaModFix/>
          </a:blip>
          <a:srcRect b="0" l="0" r="0" t="0"/>
          <a:stretch/>
        </p:blipFill>
        <p:spPr>
          <a:xfrm>
            <a:off x="1078250" y="691134"/>
            <a:ext cx="6572252" cy="1684781"/>
          </a:xfrm>
          <a:prstGeom prst="rect">
            <a:avLst/>
          </a:prstGeom>
          <a:noFill/>
          <a:ln>
            <a:noFill/>
          </a:ln>
        </p:spPr>
      </p:pic>
      <p:pic>
        <p:nvPicPr>
          <p:cNvPr id="492" name="Google Shape;492;p8"/>
          <p:cNvPicPr preferRelativeResize="0"/>
          <p:nvPr/>
        </p:nvPicPr>
        <p:blipFill rotWithShape="1">
          <a:blip r:embed="rId6">
            <a:alphaModFix/>
          </a:blip>
          <a:srcRect b="0" l="0" r="0" t="0"/>
          <a:stretch/>
        </p:blipFill>
        <p:spPr>
          <a:xfrm>
            <a:off x="14954250" y="840995"/>
            <a:ext cx="2190750" cy="1385061"/>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35" name="Shape 535"/>
        <p:cNvGrpSpPr/>
        <p:nvPr/>
      </p:nvGrpSpPr>
      <p:grpSpPr>
        <a:xfrm>
          <a:off x="0" y="0"/>
          <a:ext cx="0" cy="0"/>
          <a:chOff x="0" y="0"/>
          <a:chExt cx="0" cy="0"/>
        </a:xfrm>
      </p:grpSpPr>
      <p:pic>
        <p:nvPicPr>
          <p:cNvPr id="536" name="Google Shape;536;p11"/>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37" name="Google Shape;537;p1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المشكلة</a:t>
            </a:r>
            <a:endParaRPr/>
          </a:p>
        </p:txBody>
      </p:sp>
      <p:sp>
        <p:nvSpPr>
          <p:cNvPr id="538" name="Google Shape;538;p1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لماذا يصعب فهم السيرة على المبتدئ؟</a:t>
            </a:r>
            <a:endParaRPr/>
          </a:p>
        </p:txBody>
      </p:sp>
      <p:sp>
        <p:nvSpPr>
          <p:cNvPr id="539" name="Google Shape;539;p1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السيرة من أوضح الطرق لفهم الإسلام، لكن كتبها طويلة على من يبدأ</a:t>
            </a:r>
            <a:endParaRPr/>
          </a:p>
        </p:txBody>
      </p:sp>
      <p:sp>
        <p:nvSpPr>
          <p:cNvPr id="540" name="Google Shape;540;p1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541" name="Google Shape;541;p11"/>
          <p:cNvSpPr txBox="1"/>
          <p:nvPr>
            <p:ph idx="3" type="body"/>
          </p:nvPr>
        </p:nvSpPr>
        <p:spPr>
          <a:xfrm>
            <a:off x="9505950" y="3952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نصوص طويلة</a:t>
            </a:r>
            <a:endParaRPr/>
          </a:p>
        </p:txBody>
      </p:sp>
      <p:sp>
        <p:nvSpPr>
          <p:cNvPr id="542" name="Google Shape;542;p11"/>
          <p:cNvSpPr txBox="1"/>
          <p:nvPr>
            <p:ph idx="4" type="body"/>
          </p:nvPr>
        </p:nvSpPr>
        <p:spPr>
          <a:xfrm>
            <a:off x="9505950" y="4657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كتب السيرة مفصّلة وطويلة، ويصعب على المبتدئ أن يعرف من أين يبدأ</a:t>
            </a:r>
            <a:endParaRPr/>
          </a:p>
        </p:txBody>
      </p:sp>
      <p:sp>
        <p:nvSpPr>
          <p:cNvPr id="543" name="Google Shape;543;p11"/>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أماكن بلا خريطة</a:t>
            </a:r>
            <a:endParaRPr/>
          </a:p>
        </p:txBody>
      </p:sp>
      <p:sp>
        <p:nvSpPr>
          <p:cNvPr id="544" name="Google Shape;544;p11"/>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بدر وأحد والحديبية أسماء بلا موقع عند من يسمعها أول مرة</a:t>
            </a:r>
            <a:endParaRPr/>
          </a:p>
        </p:txBody>
      </p:sp>
      <p:sp>
        <p:nvSpPr>
          <p:cNvPr id="545" name="Google Shape;545;p11"/>
          <p:cNvSpPr txBox="1"/>
          <p:nvPr>
            <p:ph idx="7" type="body"/>
          </p:nvPr>
        </p:nvSpPr>
        <p:spPr>
          <a:xfrm>
            <a:off x="9505950" y="6619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آيات بلا سياق</a:t>
            </a:r>
            <a:endParaRPr/>
          </a:p>
        </p:txBody>
      </p:sp>
      <p:sp>
        <p:nvSpPr>
          <p:cNvPr id="546" name="Google Shape;546;p11"/>
          <p:cNvSpPr txBox="1"/>
          <p:nvPr>
            <p:ph idx="8" type="body"/>
          </p:nvPr>
        </p:nvSpPr>
        <p:spPr>
          <a:xfrm>
            <a:off x="9505950" y="7324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كثير من آيات القرآن نزلت في مواقف من السيرة، والمبتدئ لا يعرف أيها</a:t>
            </a:r>
            <a:endParaRPr/>
          </a:p>
        </p:txBody>
      </p:sp>
      <p:sp>
        <p:nvSpPr>
          <p:cNvPr id="547" name="Google Shape;547;p11"/>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صعوبة التحقق</a:t>
            </a:r>
            <a:endParaRPr/>
          </a:p>
        </p:txBody>
      </p:sp>
      <p:sp>
        <p:nvSpPr>
          <p:cNvPr id="548" name="Google Shape;548;p11"/>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يصعب على غير المختص معرفة الموثوق مما يقرؤه على الإنترنت</a:t>
            </a:r>
            <a:endParaRPr/>
          </a:p>
        </p:txBody>
      </p:sp>
      <p:sp>
        <p:nvSpPr>
          <p:cNvPr id="549" name="Google Shape;549;p11"/>
          <p:cNvSpPr/>
          <p:nvPr/>
        </p:nvSpPr>
        <p:spPr>
          <a:xfrm>
            <a:off x="76962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50" name="Google Shape;550;p11"/>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00" name="Shape 600"/>
        <p:cNvGrpSpPr/>
        <p:nvPr/>
      </p:nvGrpSpPr>
      <p:grpSpPr>
        <a:xfrm>
          <a:off x="0" y="0"/>
          <a:ext cx="0" cy="0"/>
          <a:chOff x="0" y="0"/>
          <a:chExt cx="0" cy="0"/>
        </a:xfrm>
      </p:grpSpPr>
      <p:pic>
        <p:nvPicPr>
          <p:cNvPr id="601" name="Google Shape;601;p15"/>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602" name="Google Shape;602;p15"/>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603" name="Google Shape;603;p15"/>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04" name="Google Shape;604;p15"/>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النتائج</a:t>
            </a:r>
            <a:endParaRPr/>
          </a:p>
        </p:txBody>
      </p:sp>
      <p:sp>
        <p:nvSpPr>
          <p:cNvPr id="605" name="Google Shape;605;p15"/>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اختبار الإجابات</a:t>
            </a:r>
            <a:endParaRPr/>
          </a:p>
        </p:txBody>
      </p:sp>
      <p:sp>
        <p:nvSpPr>
          <p:cNvPr id="606" name="Google Shape;606;p15"/>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اختبارات 5–6 أكتوبر 2026، بأسئلة محدودة العدد</a:t>
            </a:r>
            <a:endParaRPr/>
          </a:p>
        </p:txBody>
      </p:sp>
      <p:sp>
        <p:nvSpPr>
          <p:cNvPr id="607" name="Google Shape;607;p1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08" name="Google Shape;608;p15"/>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97.9%</a:t>
            </a:r>
            <a:endParaRPr/>
          </a:p>
        </p:txBody>
      </p:sp>
      <p:sp>
        <p:nvSpPr>
          <p:cNvPr id="609" name="Google Shape;609;p15"/>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إجابات بمصدر صحيح</a:t>
            </a:r>
            <a:endParaRPr/>
          </a:p>
        </p:txBody>
      </p:sp>
      <p:sp>
        <p:nvSpPr>
          <p:cNvPr id="610" name="Google Shape;610;p15"/>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47 من 48 سؤالًا، والباقي امتناع</a:t>
            </a:r>
            <a:endParaRPr/>
          </a:p>
        </p:txBody>
      </p:sp>
      <p:sp>
        <p:nvSpPr>
          <p:cNvPr id="611" name="Google Shape;611;p15"/>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100%</a:t>
            </a:r>
            <a:endParaRPr/>
          </a:p>
        </p:txBody>
      </p:sp>
      <p:sp>
        <p:nvSpPr>
          <p:cNvPr id="612" name="Google Shape;612;p15"/>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امتناع صحيح</a:t>
            </a:r>
            <a:endParaRPr/>
          </a:p>
        </p:txBody>
      </p:sp>
      <p:sp>
        <p:nvSpPr>
          <p:cNvPr id="613" name="Google Shape;613;p15"/>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12 سؤالًا عن الفتوى وما لا مصدر له</a:t>
            </a:r>
            <a:endParaRPr/>
          </a:p>
        </p:txBody>
      </p:sp>
      <p:sp>
        <p:nvSpPr>
          <p:cNvPr id="614" name="Google Shape;614;p15"/>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0</a:t>
            </a:r>
            <a:endParaRPr/>
          </a:p>
        </p:txBody>
      </p:sp>
      <p:sp>
        <p:nvSpPr>
          <p:cNvPr id="615" name="Google Shape;615;p15"/>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معلومة خاطئة</a:t>
            </a:r>
            <a:endParaRPr/>
          </a:p>
        </p:txBody>
      </p:sp>
      <p:sp>
        <p:nvSpPr>
          <p:cNvPr id="616" name="Google Shape;616;p15"/>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في 50 جوابًا صعبًا؛ ما لم يجده امتنع عنه</a:t>
            </a:r>
            <a:endParaRPr/>
          </a:p>
        </p:txBody>
      </p:sp>
      <p:sp>
        <p:nvSpPr>
          <p:cNvPr id="617" name="Google Shape;617;p15"/>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7.5 ث</a:t>
            </a:r>
            <a:endParaRPr/>
          </a:p>
        </p:txBody>
      </p:sp>
      <p:sp>
        <p:nvSpPr>
          <p:cNvPr id="618" name="Google Shape;618;p15"/>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زمن الجواب</a:t>
            </a:r>
            <a:endParaRPr/>
          </a:p>
        </p:txBody>
      </p:sp>
      <p:sp>
        <p:nvSpPr>
          <p:cNvPr id="619" name="Google Shape;619;p15"/>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الوسيط على الموقع الحي</a:t>
            </a:r>
            <a:endParaRPr/>
          </a:p>
        </p:txBody>
      </p:sp>
      <p:sp>
        <p:nvSpPr>
          <p:cNvPr id="620" name="Google Shape;620;p15"/>
          <p:cNvSpPr txBox="1"/>
          <p:nvPr>
            <p:ph idx="18" type="body"/>
          </p:nvPr>
        </p:nvSpPr>
        <p:spPr>
          <a:xfrm>
            <a:off x="8381075" y="8763000"/>
            <a:ext cx="8459100" cy="476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المصدر: docs/evaluation في مستودع المشروع، مع كل سؤال وجوابه</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36" name="Shape 636"/>
        <p:cNvGrpSpPr/>
        <p:nvPr/>
      </p:nvGrpSpPr>
      <p:grpSpPr>
        <a:xfrm>
          <a:off x="0" y="0"/>
          <a:ext cx="0" cy="0"/>
          <a:chOff x="0" y="0"/>
          <a:chExt cx="0" cy="0"/>
        </a:xfrm>
      </p:grpSpPr>
      <p:pic>
        <p:nvPicPr>
          <p:cNvPr id="637" name="Google Shape;637;p17"/>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638" name="Google Shape;638;p1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39" name="Google Shape;639;p1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الموثوقية</a:t>
            </a:r>
            <a:endParaRPr/>
          </a:p>
        </p:txBody>
      </p:sp>
      <p:sp>
        <p:nvSpPr>
          <p:cNvPr id="640" name="Google Shape;640;p1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مستويات المحتوى وضبط الاستجابة</a:t>
            </a:r>
            <a:endParaRPr/>
          </a:p>
        </p:txBody>
      </p:sp>
      <p:sp>
        <p:nvSpPr>
          <p:cNvPr id="641" name="Google Shape;641;p1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كما في المرجعية العلمية للتحدي، وما تفعله بداية في كل مستوى</a:t>
            </a:r>
            <a:endParaRPr/>
          </a:p>
        </p:txBody>
      </p:sp>
      <p:sp>
        <p:nvSpPr>
          <p:cNvPr id="642" name="Google Shape;642;p1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graphicFrame>
        <p:nvGraphicFramePr>
          <p:cNvPr id="643" name="Google Shape;643;p17"/>
          <p:cNvGraphicFramePr/>
          <p:nvPr/>
        </p:nvGraphicFramePr>
        <p:xfrm>
          <a:off x="131445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في الاختبار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ما تفعله بداية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أمثلة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المستوى</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بمصدر صحيح أو امتناع</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جواب مباشر مع رابط المصدر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متى كانت غزوة بدر؟ من هو أبو بكر؟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(أ) معلومات مستقرة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5 من 5 أسئلة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جواب من المصادر مع المرجع</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لماذا قبل النبي ﷺ صلح الحديبية؟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(ب) شرح وتعريف</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5 من 5 صحيحة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ينقل ما في المصادر، ويذكر الخلاف إن ذكرته</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عدد شهداء أحد، سنوات مكة بعد البعثة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 مسائل خلافية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6 من 6 أسئلة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امتناع وإحالة إلى الرئاسة العامة للإفتاء</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هل يجوز…؟ ما حكم…؟</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(د) فتوى أو حالة شخصية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bl>
          </a:graphicData>
        </a:graphic>
      </p:graphicFrame>
      <p:sp>
        <p:nvSpPr>
          <p:cNvPr id="644" name="Google Shape;644;p17"/>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المصدر: اختبارا 60 و50 سؤالًا، مجلد docs/evaluation في المستودع</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49" name="Shape 649"/>
        <p:cNvGrpSpPr/>
        <p:nvPr/>
      </p:nvGrpSpPr>
      <p:grpSpPr>
        <a:xfrm>
          <a:off x="0" y="0"/>
          <a:ext cx="0" cy="0"/>
          <a:chOff x="0" y="0"/>
          <a:chExt cx="0" cy="0"/>
        </a:xfrm>
      </p:grpSpPr>
      <p:pic>
        <p:nvPicPr>
          <p:cNvPr id="650" name="Google Shape;650;p18"/>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sp>
        <p:nvSpPr>
          <p:cNvPr id="651" name="Google Shape;651;p1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52" name="Google Shape;652;p1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خطة الاستمرار</a:t>
            </a:r>
            <a:endParaRPr/>
          </a:p>
        </p:txBody>
      </p:sp>
      <p:sp>
        <p:nvSpPr>
          <p:cNvPr id="653" name="Google Shape;653;p1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التشغيل بعد التحدي</a:t>
            </a:r>
            <a:endParaRPr/>
          </a:p>
        </p:txBody>
      </p:sp>
      <p:sp>
        <p:nvSpPr>
          <p:cNvPr id="654" name="Google Shape;654;p1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الخادم ينام عند الخمول: لا تُدفع تكلفة المعالج إلا حين يُسأل</a:t>
            </a:r>
            <a:endParaRPr/>
          </a:p>
        </p:txBody>
      </p:sp>
      <p:sp>
        <p:nvSpPr>
          <p:cNvPr id="655" name="Google Shape;655;p18"/>
          <p:cNvSpPr txBox="1"/>
          <p:nvPr>
            <p:ph idx="3" type="body"/>
          </p:nvPr>
        </p:nvSpPr>
        <p:spPr>
          <a:xfrm>
            <a:off x="13982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01</a:t>
            </a:r>
            <a:endParaRPr/>
          </a:p>
        </p:txBody>
      </p:sp>
      <p:sp>
        <p:nvSpPr>
          <p:cNvPr id="656" name="Google Shape;656;p18"/>
          <p:cNvSpPr txBox="1"/>
          <p:nvPr>
            <p:ph idx="4" type="body"/>
          </p:nvPr>
        </p:nvSpPr>
        <p:spPr>
          <a:xfrm>
            <a:off x="13982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التشغيل الحالي</a:t>
            </a:r>
            <a:endParaRPr/>
          </a:p>
        </p:txBody>
      </p:sp>
      <p:sp>
        <p:nvSpPr>
          <p:cNvPr id="657" name="Google Shape;657;p18"/>
          <p:cNvSpPr txBox="1"/>
          <p:nvPr>
            <p:ph idx="5" type="body"/>
          </p:nvPr>
        </p:nvSpPr>
        <p:spPr>
          <a:xfrm>
            <a:off x="13982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الآن</a:t>
            </a:r>
            <a:endParaRPr/>
          </a:p>
        </p:txBody>
      </p:sp>
      <p:sp>
        <p:nvSpPr>
          <p:cNvPr id="658" name="Google Shape;658;p18"/>
          <p:cNvSpPr txBox="1"/>
          <p:nvPr>
            <p:ph idx="6" type="body"/>
          </p:nvPr>
        </p:nvSpPr>
        <p:spPr>
          <a:xfrm>
            <a:off x="13982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موقع حي بالعربية والإنجليزية</a:t>
            </a:r>
            <a:endParaRPr/>
          </a:p>
        </p:txBody>
      </p:sp>
      <p:sp>
        <p:nvSpPr>
          <p:cNvPr id="659" name="Google Shape;659;p18"/>
          <p:cNvSpPr txBox="1"/>
          <p:nvPr>
            <p:ph idx="7" type="body"/>
          </p:nvPr>
        </p:nvSpPr>
        <p:spPr>
          <a:xfrm>
            <a:off x="108394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02</a:t>
            </a:r>
            <a:endParaRPr/>
          </a:p>
        </p:txBody>
      </p:sp>
      <p:sp>
        <p:nvSpPr>
          <p:cNvPr id="660" name="Google Shape;660;p18"/>
          <p:cNvSpPr txBox="1"/>
          <p:nvPr>
            <p:ph idx="8" type="body"/>
          </p:nvPr>
        </p:nvSpPr>
        <p:spPr>
          <a:xfrm>
            <a:off x="108394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اختبار المستفيدين</a:t>
            </a:r>
            <a:endParaRPr/>
          </a:p>
        </p:txBody>
      </p:sp>
      <p:sp>
        <p:nvSpPr>
          <p:cNvPr id="661" name="Google Shape;661;p18"/>
          <p:cNvSpPr txBox="1"/>
          <p:nvPr>
            <p:ph idx="9" type="body"/>
          </p:nvPr>
        </p:nvSpPr>
        <p:spPr>
          <a:xfrm>
            <a:off x="108394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الشهر الأول</a:t>
            </a:r>
            <a:endParaRPr/>
          </a:p>
        </p:txBody>
      </p:sp>
      <p:sp>
        <p:nvSpPr>
          <p:cNvPr id="662" name="Google Shape;662;p18"/>
          <p:cNvSpPr txBox="1"/>
          <p:nvPr>
            <p:ph idx="13" type="body"/>
          </p:nvPr>
        </p:nvSpPr>
        <p:spPr>
          <a:xfrm>
            <a:off x="108394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قياس الفهم قبل الاستخدام وبعده</a:t>
            </a:r>
            <a:endParaRPr/>
          </a:p>
        </p:txBody>
      </p:sp>
      <p:sp>
        <p:nvSpPr>
          <p:cNvPr id="663" name="Google Shape;663;p18"/>
          <p:cNvSpPr txBox="1"/>
          <p:nvPr>
            <p:ph idx="14" type="body"/>
          </p:nvPr>
        </p:nvSpPr>
        <p:spPr>
          <a:xfrm>
            <a:off x="76962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03</a:t>
            </a:r>
            <a:endParaRPr/>
          </a:p>
        </p:txBody>
      </p:sp>
      <p:sp>
        <p:nvSpPr>
          <p:cNvPr id="664" name="Google Shape;664;p18"/>
          <p:cNvSpPr txBox="1"/>
          <p:nvPr>
            <p:ph idx="15" type="body"/>
          </p:nvPr>
        </p:nvSpPr>
        <p:spPr>
          <a:xfrm>
            <a:off x="76962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مراجعة المحتوى</a:t>
            </a:r>
            <a:endParaRPr/>
          </a:p>
        </p:txBody>
      </p:sp>
      <p:sp>
        <p:nvSpPr>
          <p:cNvPr id="665" name="Google Shape;665;p18"/>
          <p:cNvSpPr txBox="1"/>
          <p:nvPr>
            <p:ph idx="16" type="body"/>
          </p:nvPr>
        </p:nvSpPr>
        <p:spPr>
          <a:xfrm>
            <a:off x="76962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مستمر</a:t>
            </a:r>
            <a:endParaRPr/>
          </a:p>
        </p:txBody>
      </p:sp>
      <p:sp>
        <p:nvSpPr>
          <p:cNvPr id="666" name="Google Shape;666;p18"/>
          <p:cNvSpPr txBox="1"/>
          <p:nvPr>
            <p:ph idx="17" type="body"/>
          </p:nvPr>
        </p:nvSpPr>
        <p:spPr>
          <a:xfrm>
            <a:off x="76962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اعتماد السجلات الجديدة من مسؤول المحتوى</a:t>
            </a:r>
            <a:endParaRPr/>
          </a:p>
        </p:txBody>
      </p:sp>
      <p:sp>
        <p:nvSpPr>
          <p:cNvPr id="667" name="Google Shape;667;p18"/>
          <p:cNvSpPr txBox="1"/>
          <p:nvPr>
            <p:ph idx="18" type="body"/>
          </p:nvPr>
        </p:nvSpPr>
        <p:spPr>
          <a:xfrm>
            <a:off x="45529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04</a:t>
            </a:r>
            <a:endParaRPr/>
          </a:p>
        </p:txBody>
      </p:sp>
      <p:sp>
        <p:nvSpPr>
          <p:cNvPr id="668" name="Google Shape;668;p18"/>
          <p:cNvSpPr txBox="1"/>
          <p:nvPr>
            <p:ph idx="19" type="body"/>
          </p:nvPr>
        </p:nvSpPr>
        <p:spPr>
          <a:xfrm>
            <a:off x="45529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تحسين المساعد</a:t>
            </a:r>
            <a:endParaRPr/>
          </a:p>
        </p:txBody>
      </p:sp>
      <p:sp>
        <p:nvSpPr>
          <p:cNvPr id="669" name="Google Shape;669;p18"/>
          <p:cNvSpPr txBox="1"/>
          <p:nvPr>
            <p:ph idx="20" type="body"/>
          </p:nvPr>
        </p:nvSpPr>
        <p:spPr>
          <a:xfrm>
            <a:off x="45529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كل تعديل</a:t>
            </a:r>
            <a:endParaRPr/>
          </a:p>
        </p:txBody>
      </p:sp>
      <p:sp>
        <p:nvSpPr>
          <p:cNvPr id="670" name="Google Shape;670;p18"/>
          <p:cNvSpPr txBox="1"/>
          <p:nvPr>
            <p:ph idx="21" type="body"/>
          </p:nvPr>
        </p:nvSpPr>
        <p:spPr>
          <a:xfrm>
            <a:off x="45529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إعادة اختبار الأسئلة الخمسين قبل النشر</a:t>
            </a:r>
            <a:endParaRPr/>
          </a:p>
        </p:txBody>
      </p:sp>
      <p:sp>
        <p:nvSpPr>
          <p:cNvPr id="671" name="Google Shape;671;p18"/>
          <p:cNvSpPr txBox="1"/>
          <p:nvPr>
            <p:ph idx="22" type="body"/>
          </p:nvPr>
        </p:nvSpPr>
        <p:spPr>
          <a:xfrm>
            <a:off x="1409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05</a:t>
            </a:r>
            <a:endParaRPr/>
          </a:p>
        </p:txBody>
      </p:sp>
      <p:sp>
        <p:nvSpPr>
          <p:cNvPr id="672" name="Google Shape;672;p18"/>
          <p:cNvSpPr txBox="1"/>
          <p:nvPr>
            <p:ph idx="23" type="body"/>
          </p:nvPr>
        </p:nvSpPr>
        <p:spPr>
          <a:xfrm>
            <a:off x="1409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رواية القصة صوتياً بالعربية</a:t>
            </a:r>
            <a:endParaRPr/>
          </a:p>
        </p:txBody>
      </p:sp>
      <p:sp>
        <p:nvSpPr>
          <p:cNvPr id="673" name="Google Shape;673;p18"/>
          <p:cNvSpPr txBox="1"/>
          <p:nvPr>
            <p:ph idx="24" type="body"/>
          </p:nvPr>
        </p:nvSpPr>
        <p:spPr>
          <a:xfrm>
            <a:off x="1409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قيد التطوير</a:t>
            </a:r>
            <a:endParaRPr/>
          </a:p>
        </p:txBody>
      </p:sp>
      <p:sp>
        <p:nvSpPr>
          <p:cNvPr id="674" name="Google Shape;674;p18"/>
          <p:cNvSpPr txBox="1"/>
          <p:nvPr>
            <p:ph idx="25" type="body"/>
          </p:nvPr>
        </p:nvSpPr>
        <p:spPr>
          <a:xfrm>
            <a:off x="1409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القصة كاملة مسموعة بالإنجليزية الآن، ثم العربية</a:t>
            </a:r>
            <a:endParaRPr/>
          </a:p>
        </p:txBody>
      </p:sp>
      <p:cxnSp>
        <p:nvCxnSpPr>
          <p:cNvPr id="675" name="Google Shape;675;p18"/>
          <p:cNvCxnSpPr/>
          <p:nvPr/>
        </p:nvCxnSpPr>
        <p:spPr>
          <a:xfrm rot="10800000">
            <a:off x="13992300" y="4708975"/>
            <a:ext cx="2838300" cy="0"/>
          </a:xfrm>
          <a:prstGeom prst="straightConnector1">
            <a:avLst/>
          </a:prstGeom>
          <a:noFill/>
          <a:ln cap="flat" cmpd="sng" w="76200">
            <a:solidFill>
              <a:srgbClr val="6150EA"/>
            </a:solidFill>
            <a:prstDash val="solid"/>
            <a:round/>
            <a:headEnd len="med" w="med" type="none"/>
            <a:tailEnd len="med" w="med" type="none"/>
          </a:ln>
        </p:spPr>
      </p:cxnSp>
      <p:pic>
        <p:nvPicPr>
          <p:cNvPr id="676" name="Google Shape;676;p1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cxnSp>
        <p:nvCxnSpPr>
          <p:cNvPr id="677" name="Google Shape;677;p18"/>
          <p:cNvCxnSpPr/>
          <p:nvPr/>
        </p:nvCxnSpPr>
        <p:spPr>
          <a:xfrm rot="10800000">
            <a:off x="108300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8" name="Google Shape;678;p18"/>
          <p:cNvCxnSpPr/>
          <p:nvPr/>
        </p:nvCxnSpPr>
        <p:spPr>
          <a:xfrm rot="10800000">
            <a:off x="76677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9" name="Google Shape;679;p18"/>
          <p:cNvCxnSpPr/>
          <p:nvPr/>
        </p:nvCxnSpPr>
        <p:spPr>
          <a:xfrm rot="10800000">
            <a:off x="45054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80" name="Google Shape;680;p18"/>
          <p:cNvCxnSpPr/>
          <p:nvPr/>
        </p:nvCxnSpPr>
        <p:spPr>
          <a:xfrm rot="10800000">
            <a:off x="1343100" y="4708975"/>
            <a:ext cx="2838300" cy="0"/>
          </a:xfrm>
          <a:prstGeom prst="straightConnector1">
            <a:avLst/>
          </a:prstGeom>
          <a:noFill/>
          <a:ln cap="flat" cmpd="sng" w="76200">
            <a:solidFill>
              <a:srgbClr val="6150EA"/>
            </a:solidFill>
            <a:prstDash val="solid"/>
            <a:round/>
            <a:headEnd len="med" w="med" type="none"/>
            <a:tailEnd len="med" w="med" type="none"/>
          </a:ln>
        </p:spPr>
      </p:cxn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5" name="Shape 685"/>
        <p:cNvGrpSpPr/>
        <p:nvPr/>
      </p:nvGrpSpPr>
      <p:grpSpPr>
        <a:xfrm>
          <a:off x="0" y="0"/>
          <a:ext cx="0" cy="0"/>
          <a:chOff x="0" y="0"/>
          <a:chExt cx="0" cy="0"/>
        </a:xfrm>
      </p:grpSpPr>
      <p:pic>
        <p:nvPicPr>
          <p:cNvPr id="686" name="Google Shape;686;p19"/>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pic>
        <p:nvPicPr>
          <p:cNvPr id="687" name="Google Shape;687;p19"/>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88" name="Google Shape;688;p19"/>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الفريق</a:t>
            </a:r>
            <a:endParaRPr/>
          </a:p>
        </p:txBody>
      </p:sp>
      <p:sp>
        <p:nvSpPr>
          <p:cNvPr id="689" name="Google Shape;689;p19"/>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فريق العمل</a:t>
            </a:r>
            <a:endParaRPr/>
          </a:p>
        </p:txBody>
      </p:sp>
      <p:sp>
        <p:nvSpPr>
          <p:cNvPr id="690" name="Google Shape;690;p19"/>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فريق بداية: التقنية والمحتوى والاختبار</a:t>
            </a:r>
            <a:endParaRPr/>
          </a:p>
        </p:txBody>
      </p:sp>
      <p:sp>
        <p:nvSpPr>
          <p:cNvPr id="691" name="Google Shape;691;p1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92" name="Google Shape;692;p19"/>
          <p:cNvSpPr/>
          <p:nvPr>
            <p:ph idx="3" type="pic"/>
          </p:nvPr>
        </p:nvSpPr>
        <p:spPr>
          <a:xfrm>
            <a:off x="121920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3" name="Google Shape;693;p19"/>
          <p:cNvSpPr txBox="1"/>
          <p:nvPr>
            <p:ph idx="4" type="body"/>
          </p:nvPr>
        </p:nvSpPr>
        <p:spPr>
          <a:xfrm>
            <a:off x="117157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عمر بن طالب</a:t>
            </a:r>
            <a:endParaRPr/>
          </a:p>
        </p:txBody>
      </p:sp>
      <p:sp>
        <p:nvSpPr>
          <p:cNvPr id="694" name="Google Shape;694;p19"/>
          <p:cNvSpPr txBox="1"/>
          <p:nvPr>
            <p:ph idx="5" type="body"/>
          </p:nvPr>
        </p:nvSpPr>
        <p:spPr>
          <a:xfrm>
            <a:off x="117157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الذكاء الاصطناعي: المساعد، والتبسيط والترجمة، ودقة الإجابات</a:t>
            </a:r>
            <a:endParaRPr/>
          </a:p>
        </p:txBody>
      </p:sp>
      <p:sp>
        <p:nvSpPr>
          <p:cNvPr id="695" name="Google Shape;695;p19"/>
          <p:cNvSpPr/>
          <p:nvPr>
            <p:ph idx="6" type="pic"/>
          </p:nvPr>
        </p:nvSpPr>
        <p:spPr>
          <a:xfrm>
            <a:off x="81915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6" name="Google Shape;696;p19"/>
          <p:cNvSpPr txBox="1"/>
          <p:nvPr>
            <p:ph idx="7" type="body"/>
          </p:nvPr>
        </p:nvSpPr>
        <p:spPr>
          <a:xfrm>
            <a:off x="77152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الياس التركستاني</a:t>
            </a:r>
            <a:endParaRPr/>
          </a:p>
        </p:txBody>
      </p:sp>
      <p:sp>
        <p:nvSpPr>
          <p:cNvPr id="697" name="Google Shape;697;p19"/>
          <p:cNvSpPr txBox="1"/>
          <p:nvPr>
            <p:ph idx="8" type="body"/>
          </p:nvPr>
        </p:nvSpPr>
        <p:spPr>
          <a:xfrm>
            <a:off x="77152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الواجهة وتجربة المستخدم: الخريطة والخط الزمني، ورحلة التعلم</a:t>
            </a:r>
            <a:endParaRPr/>
          </a:p>
        </p:txBody>
      </p:sp>
      <p:sp>
        <p:nvSpPr>
          <p:cNvPr id="698" name="Google Shape;698;p19"/>
          <p:cNvSpPr/>
          <p:nvPr>
            <p:ph idx="9" type="pic"/>
          </p:nvPr>
        </p:nvSpPr>
        <p:spPr>
          <a:xfrm>
            <a:off x="41910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9" name="Google Shape;699;p19"/>
          <p:cNvSpPr txBox="1"/>
          <p:nvPr>
            <p:ph idx="13" type="body"/>
          </p:nvPr>
        </p:nvSpPr>
        <p:spPr>
          <a:xfrm>
            <a:off x="37147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حسان الغامدي</a:t>
            </a:r>
            <a:endParaRPr/>
          </a:p>
        </p:txBody>
      </p:sp>
      <p:sp>
        <p:nvSpPr>
          <p:cNvPr id="700" name="Google Shape;700;p19"/>
          <p:cNvSpPr txBox="1"/>
          <p:nvPr>
            <p:ph idx="14" type="body"/>
          </p:nvPr>
        </p:nvSpPr>
        <p:spPr>
          <a:xfrm>
            <a:off x="37147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المحتوى والمراجعة: جمع المصادر، ومراجعة الأحداث والمصطلحات</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الترخيص</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دوره في بداية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التفاصيل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المكوّن</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MIT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البحث في المصادر بالعربية والإنجليزية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بحث بالمعنى وبالكلمات معًا في 2,905 نصًا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bge-m3</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Apache-2.0</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ترتيب نتائج البحث</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يقدّم النصوص الأقرب إلى السؤال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bge-reranker-v2-m3</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OpenAI terms</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فهم السؤال وكتابة الجواب</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من نصوص المصادر فقط، ويُرفض الجواب بلا استشهاد صحيح</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OpenAI gpt-6-luna</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MIT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الموقع والخادم</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الموقع على Vercel، والخادم على Modal بمعالج رسومي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React + FastAPI</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الاستماع إلى القصة كاملة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بالإنجليزية الآن، والعربية قيد التطوير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Text-to-speech</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التقنيات</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مكوّنات الذكاء الاصطناعي والمنصة</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كل مكوّن، ودوره في الحل، وترخيصه</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Details: backend/README.md · docs/SOURCES_AND_LICENSES.md</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pic>
        <p:nvPicPr>
          <p:cNvPr id="817" name="Google Shape;817;p24"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18" name="Google Shape;818;p24"/>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الذكاء الاصطناعي</a:t>
            </a:r>
            <a:endParaRPr/>
          </a:p>
        </p:txBody>
      </p:sp>
      <p:sp>
        <p:nvSpPr>
          <p:cNvPr id="819" name="Google Shape;819;p24"/>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كيف يجيب «اسأل الخريطة»</a:t>
            </a:r>
            <a:endParaRPr/>
          </a:p>
        </p:txBody>
      </p:sp>
      <p:sp>
        <p:nvSpPr>
          <p:cNvPr id="820" name="Google Shape;820;p24"/>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من سؤال المستخدم إلى الجواب على الخريطة</a:t>
            </a:r>
            <a:endParaRPr/>
          </a:p>
        </p:txBody>
      </p:sp>
      <p:sp>
        <p:nvSpPr>
          <p:cNvPr id="821" name="Google Shape;821;p2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822" name="Google Shape;822;p24"/>
          <p:cNvSpPr/>
          <p:nvPr/>
        </p:nvSpPr>
        <p:spPr>
          <a:xfrm>
            <a:off x="13716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670" rtl="0" algn="r">
              <a:spcBef>
                <a:spcPts val="0"/>
              </a:spcBef>
              <a:spcAft>
                <a:spcPts val="0"/>
              </a:spcAft>
              <a:buNone/>
            </a:pPr>
            <a:r>
              <a:rPr b="1" lang="ar-SA" sz="3600">
                <a:solidFill>
                  <a:srgbClr val="2EF2C2"/>
                </a:solidFill>
                <a:latin typeface="Readex Pro"/>
                <a:ea typeface="Readex Pro"/>
                <a:cs typeface="Readex Pro"/>
                <a:sym typeface="Readex Pro"/>
              </a:rPr>
              <a:t>01</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السؤال</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بالعربية أو الإنجليزية</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مع سياق المحادثة لأسئلة المتابعة</a:t>
            </a:r>
            <a:endParaRPr>
              <a:solidFill>
                <a:schemeClr val="dk1"/>
              </a:solidFill>
              <a:latin typeface="Readex Pro"/>
              <a:ea typeface="Readex Pro"/>
              <a:cs typeface="Readex Pro"/>
              <a:sym typeface="Readex Pro"/>
            </a:endParaRPr>
          </a:p>
          <a:p>
            <a:pPr indent="0" lvl="0" marL="0" rtl="1" algn="r">
              <a:lnSpc>
                <a:spcPct val="115000"/>
              </a:lnSpc>
              <a:spcBef>
                <a:spcPts val="0"/>
              </a:spcBef>
              <a:spcAft>
                <a:spcPts val="0"/>
              </a:spcAft>
              <a:buNone/>
            </a:pPr>
            <a:r>
              <a:t/>
            </a:r>
            <a:endParaRPr sz="1201"/>
          </a:p>
        </p:txBody>
      </p:sp>
      <p:sp>
        <p:nvSpPr>
          <p:cNvPr id="823" name="Google Shape;823;p24"/>
          <p:cNvSpPr/>
          <p:nvPr/>
        </p:nvSpPr>
        <p:spPr>
          <a:xfrm>
            <a:off x="9715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02</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الفهم والبحث</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نموذج لغوي يصنّف السؤال ويعيد صياغته</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بحث في 2,905 نصًا من المصادر ثم ترتيبها</a:t>
            </a:r>
            <a:endParaRPr b="1" sz="3600">
              <a:solidFill>
                <a:srgbClr val="2EF2C2"/>
              </a:solidFill>
              <a:latin typeface="Readex Pro"/>
              <a:ea typeface="Readex Pro"/>
              <a:cs typeface="Readex Pro"/>
              <a:sym typeface="Readex Pro"/>
            </a:endParaRPr>
          </a:p>
        </p:txBody>
      </p:sp>
      <p:sp>
        <p:nvSpPr>
          <p:cNvPr id="824" name="Google Shape;824;p24"/>
          <p:cNvSpPr/>
          <p:nvPr/>
        </p:nvSpPr>
        <p:spPr>
          <a:xfrm>
            <a:off x="5715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125" rtl="0" algn="r">
              <a:spcBef>
                <a:spcPts val="0"/>
              </a:spcBef>
              <a:spcAft>
                <a:spcPts val="0"/>
              </a:spcAft>
              <a:buNone/>
            </a:pPr>
            <a:r>
              <a:rPr b="1" lang="ar-SA" sz="3600">
                <a:solidFill>
                  <a:srgbClr val="2EF2C2"/>
                </a:solidFill>
                <a:latin typeface="Readex Pro"/>
                <a:ea typeface="Readex Pro"/>
                <a:cs typeface="Readex Pro"/>
                <a:sym typeface="Readex Pro"/>
              </a:rPr>
              <a:t>03</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جواب موثّق</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يجيب من المصادر مع روابطها</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وإن لم يجد فيها جوابًا امتنع</a:t>
            </a:r>
            <a:endParaRPr b="1" sz="3600">
              <a:solidFill>
                <a:srgbClr val="2EF2C2"/>
              </a:solidFill>
              <a:latin typeface="Readex Pro"/>
              <a:ea typeface="Readex Pro"/>
              <a:cs typeface="Readex Pro"/>
              <a:sym typeface="Readex Pro"/>
            </a:endParaRPr>
          </a:p>
        </p:txBody>
      </p:sp>
      <p:sp>
        <p:nvSpPr>
          <p:cNvPr id="825" name="Google Shape;825;p24"/>
          <p:cNvSpPr/>
          <p:nvPr/>
        </p:nvSpPr>
        <p:spPr>
          <a:xfrm>
            <a:off x="1714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04</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على الخريطة</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تنتقل الخريطة إلى الحدث أو بطاقة الشخص</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مع زر للعودة إلى موضع القراءة</a:t>
            </a:r>
            <a:endParaRPr b="1" sz="3600">
              <a:solidFill>
                <a:srgbClr val="2EF2C2"/>
              </a:solidFill>
              <a:latin typeface="Readex Pro"/>
              <a:ea typeface="Readex Pro"/>
              <a:cs typeface="Readex Pro"/>
              <a:sym typeface="Readex Pro"/>
            </a:endParaRPr>
          </a:p>
        </p:txBody>
      </p:sp>
      <p:pic>
        <p:nvPicPr>
          <p:cNvPr id="826" name="Google Shape;826;p24"/>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250" name="Screenshot 1" descr="Ask the map: an answer about Badr with its sources, the map at Badr"/>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اسأل الخريطة: مساعد بالذكاء الاصطناعي يجيب من المصادر</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سؤال لمساعد الذكاء الاصطناعي عن غزوة بدر: جواب من الدرر السنية والرحيق المختوم مع روابطهما، وتنتقل الخريطة إلى بدر مع زر للعودة</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pic>
        <p:nvPicPr>
          <p:cNvPr id="842" name="Google Shape;842;p26"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43" name="Google Shape;843;p26"/>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التجربة</a:t>
            </a:r>
            <a:endParaRPr/>
          </a:p>
        </p:txBody>
      </p:sp>
      <p:sp>
        <p:nvSpPr>
          <p:cNvPr id="844" name="Google Shape;844;p26"/>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واجهات بداية</a:t>
            </a:r>
            <a:endParaRPr/>
          </a:p>
        </p:txBody>
      </p:sp>
      <p:sp>
        <p:nvSpPr>
          <p:cNvPr id="845" name="Google Shape;845;p2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260" name="Screenshot 1" descr="The Sirah summary on the map"/>
          <p:cNvPicPr>
            <a:picLocks noChangeAspect="1"/>
          </p:cNvPicPr>
          <p:nvPr/>
        </p:nvPicPr>
        <p:blipFill>
          <a:blip r:embed="rId5"/>
          <a:stretch>
            <a:fillRect/>
          </a:stretch>
        </p:blipFill>
        <p:spPr>
          <a:xfrm>
            <a:off x="12077700" y="4369669"/>
            <a:ext cx="4762500" cy="2976562"/>
          </a:xfrm>
          <a:prstGeom prst="roundRect">
            <a:avLst>
              <a:gd fmla="val 5252" name="adj"/>
            </a:avLst>
          </a:prstGeom>
          <a:ln cap="flat" cmpd="sng" w="11425">
            <a:solidFill>
              <a:srgbClr val="4A5590"/>
            </a:solidFill>
            <a:prstDash val="solid"/>
            <a:round/>
            <a:headEnd len="sm" w="sm" type="none"/>
            <a:tailEnd len="sm" w="sm" type="none"/>
          </a:ln>
        </p:spPr>
      </p:pic>
      <p:sp>
        <p:nvSpPr>
          <p:cNvPr id="847" name="Google Shape;847;p26"/>
          <p:cNvSpPr txBox="1"/>
          <p:nvPr>
            <p:ph idx="3" type="body"/>
          </p:nvPr>
        </p:nvSpPr>
        <p:spPr>
          <a:xfrm>
            <a:off x="1211580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ملخص السيرة بالإنجليزية: 21 لحظة بنصوصها وآياتها</a:t>
            </a:r>
            <a:endParaRPr/>
          </a:p>
        </p:txBody>
      </p:sp>
      <p:sp>
        <p:nvSpPr>
          <p:cNvPr id="848" name="Google Shape;848;p26"/>
          <p:cNvSpPr txBox="1"/>
          <p:nvPr>
            <p:ph idx="5" type="body"/>
          </p:nvPr>
        </p:nvSpPr>
        <p:spPr>
          <a:xfrm>
            <a:off x="676275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بطاقة الشخص: يفتحها المساعد الذكي عند السؤال عن شخص</a:t>
            </a:r>
            <a:endParaRPr/>
          </a:p>
        </p:txBody>
      </p:sp>
      <p:sp>
        <p:nvSpPr>
          <p:cNvPr id="849" name="Google Shape;849;p26"/>
          <p:cNvSpPr txBox="1"/>
          <p:nvPr>
            <p:ph idx="7" type="body"/>
          </p:nvPr>
        </p:nvSpPr>
        <p:spPr>
          <a:xfrm>
            <a:off x="140970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على الجوال: القصة والخريطة معًا</a:t>
            </a:r>
            <a:endParaRPr/>
          </a:p>
        </p:txBody>
      </p:sp>
      <p:pic>
        <p:nvPicPr>
          <p:cNvPr id="850" name="Google Shape;850;p26"/>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pic>
        <p:nvPicPr>
          <p:cNvPr id="9261" name="Screenshot 2" descr="A person card opened by the AI assistant"/>
          <p:cNvPicPr>
            <a:picLocks noChangeAspect="1"/>
          </p:cNvPicPr>
          <p:nvPr/>
        </p:nvPicPr>
        <p:blipFill>
          <a:blip r:embed="rId6"/>
          <a:stretch>
            <a:fillRect/>
          </a:stretch>
        </p:blipFill>
        <p:spPr>
          <a:xfrm>
            <a:off x="6743700" y="4369594"/>
            <a:ext cx="4762500" cy="2976562"/>
          </a:xfrm>
          <a:prstGeom prst="roundRect">
            <a:avLst>
              <a:gd fmla="val 5252" name="adj"/>
            </a:avLst>
          </a:prstGeom>
          <a:ln cap="flat" cmpd="sng" w="11425">
            <a:solidFill>
              <a:srgbClr val="4A5590"/>
            </a:solidFill>
            <a:prstDash val="solid"/>
            <a:round/>
            <a:headEnd len="sm" w="sm" type="none"/>
            <a:tailEnd len="sm" w="sm" type="none"/>
          </a:ln>
        </p:spPr>
      </p:pic>
      <p:pic>
        <p:nvPicPr>
          <p:cNvPr id="9262" name="Screenshot 3" descr="The Journey on a phone"/>
          <p:cNvPicPr>
            <a:picLocks noChangeAspect="1"/>
          </p:cNvPicPr>
          <p:nvPr/>
        </p:nvPicPr>
        <p:blipFill>
          <a:blip r:embed="rId7"/>
          <a:srcRect t="0" b="58410"/>
          <a:stretch>
            <a:fillRect/>
          </a:stretch>
        </p:blipFill>
        <p:spPr>
          <a:xfrm>
            <a:off x="1409700" y="3714750"/>
            <a:ext cx="4762500" cy="4286400"/>
          </a:xfrm>
          <a:prstGeom prst="roundRect">
            <a:avLst>
              <a:gd fmla="val 5252" name="adj"/>
            </a:avLst>
          </a:prstGeom>
          <a:ln cap="flat" cmpd="sng" w="11425">
            <a:solidFill>
              <a:srgbClr val="4A5590"/>
            </a:solidFill>
            <a:prstDash val="solid"/>
            <a:round/>
            <a:headEnd len="sm" w="sm" type="none"/>
            <a:tailEnd len="sm" w="sm" type="none"/>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7" name="Shape 857"/>
        <p:cNvGrpSpPr/>
        <p:nvPr/>
      </p:nvGrpSpPr>
      <p:grpSpPr>
        <a:xfrm>
          <a:off x="0" y="0"/>
          <a:ext cx="0" cy="0"/>
          <a:chOff x="0" y="0"/>
          <a:chExt cx="0" cy="0"/>
        </a:xfrm>
      </p:grpSpPr>
      <p:pic>
        <p:nvPicPr>
          <p:cNvPr id="858" name="Google Shape;858;p27"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59" name="Google Shape;859;p2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60" name="Google Shape;860;p2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الحل</a:t>
            </a:r>
            <a:endParaRPr/>
          </a:p>
        </p:txBody>
      </p:sp>
      <p:sp>
        <p:nvSpPr>
          <p:cNvPr id="861" name="Google Shape;861;p2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بداية: السيرة قصةً على الخريطة</a:t>
            </a:r>
            <a:endParaRPr/>
          </a:p>
        </p:txBody>
      </p:sp>
      <p:sp>
        <p:nvSpPr>
          <p:cNvPr id="862" name="Google Shape;862;p2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بالعربية والإنجليزية، وتُروى القصة كاملة صوتياً بالإنجليزية (العربية قيد التطوير)</a:t>
            </a:r>
            <a:endParaRPr/>
          </a:p>
        </p:txBody>
      </p:sp>
      <p:sp>
        <p:nvSpPr>
          <p:cNvPr id="863" name="Google Shape;863;p2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64" name="Google Shape;864;p27"/>
          <p:cNvPicPr preferRelativeResize="0"/>
          <p:nvPr/>
        </p:nvPicPr>
        <p:blipFill rotWithShape="1">
          <a:blip r:embed="rId5">
            <a:alphaModFix/>
          </a:blip>
          <a:srcRect b="0" l="0" r="0" t="0"/>
          <a:stretch/>
        </p:blipFill>
        <p:spPr>
          <a:xfrm>
            <a:off x="14458950" y="4000500"/>
            <a:ext cx="1428750" cy="1428750"/>
          </a:xfrm>
          <a:prstGeom prst="rect">
            <a:avLst/>
          </a:prstGeom>
          <a:noFill/>
          <a:ln>
            <a:noFill/>
          </a:ln>
        </p:spPr>
      </p:pic>
      <p:sp>
        <p:nvSpPr>
          <p:cNvPr id="865" name="Google Shape;865;p27"/>
          <p:cNvSpPr txBox="1"/>
          <p:nvPr>
            <p:ph idx="3" type="body"/>
          </p:nvPr>
        </p:nvSpPr>
        <p:spPr>
          <a:xfrm>
            <a:off x="13411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القصة على الخريطة</a:t>
            </a:r>
            <a:endParaRPr/>
          </a:p>
        </p:txBody>
      </p:sp>
      <p:sp>
        <p:nvSpPr>
          <p:cNvPr id="866" name="Google Shape;866;p27"/>
          <p:cNvSpPr txBox="1"/>
          <p:nvPr>
            <p:ph idx="4" type="body"/>
          </p:nvPr>
        </p:nvSpPr>
        <p:spPr>
          <a:xfrm>
            <a:off x="13411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142 حدثًا بالترتيب على الخريطة، تُروى خطوة بخطوة</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67" name="Google Shape;867;p27"/>
          <p:cNvPicPr preferRelativeResize="0"/>
          <p:nvPr/>
        </p:nvPicPr>
        <p:blipFill rotWithShape="1">
          <a:blip r:embed="rId6">
            <a:alphaModFix/>
          </a:blip>
          <a:srcRect b="0" l="0" r="0" t="0"/>
          <a:stretch/>
        </p:blipFill>
        <p:spPr>
          <a:xfrm>
            <a:off x="10458450" y="4000500"/>
            <a:ext cx="1428750" cy="1428750"/>
          </a:xfrm>
          <a:prstGeom prst="rect">
            <a:avLst/>
          </a:prstGeom>
          <a:noFill/>
          <a:ln>
            <a:noFill/>
          </a:ln>
        </p:spPr>
      </p:pic>
      <p:sp>
        <p:nvSpPr>
          <p:cNvPr id="868" name="Google Shape;868;p27"/>
          <p:cNvSpPr txBox="1"/>
          <p:nvPr>
            <p:ph idx="5" type="body"/>
          </p:nvPr>
        </p:nvSpPr>
        <p:spPr>
          <a:xfrm>
            <a:off x="9410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السور في سياقها</a:t>
            </a:r>
            <a:endParaRPr/>
          </a:p>
        </p:txBody>
      </p:sp>
      <p:sp>
        <p:nvSpPr>
          <p:cNvPr id="869" name="Google Shape;869;p27"/>
          <p:cNvSpPr txBox="1"/>
          <p:nvPr>
            <p:ph idx="6" type="body"/>
          </p:nvPr>
        </p:nvSpPr>
        <p:spPr>
          <a:xfrm>
            <a:off x="9410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الآيات مع أحداثها، من الصحيحين وموسوعة التفسير</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70" name="Google Shape;870;p27"/>
          <p:cNvPicPr preferRelativeResize="0"/>
          <p:nvPr/>
        </p:nvPicPr>
        <p:blipFill rotWithShape="1">
          <a:blip r:embed="rId7">
            <a:alphaModFix/>
          </a:blip>
          <a:srcRect b="0" l="0" r="0" t="0"/>
          <a:stretch/>
        </p:blipFill>
        <p:spPr>
          <a:xfrm>
            <a:off x="6457950" y="4000500"/>
            <a:ext cx="1428750" cy="1428750"/>
          </a:xfrm>
          <a:prstGeom prst="rect">
            <a:avLst/>
          </a:prstGeom>
          <a:noFill/>
          <a:ln>
            <a:noFill/>
          </a:ln>
        </p:spPr>
      </p:pic>
      <p:sp>
        <p:nvSpPr>
          <p:cNvPr id="871" name="Google Shape;871;p27"/>
          <p:cNvSpPr txBox="1"/>
          <p:nvPr>
            <p:ph idx="7" type="body"/>
          </p:nvPr>
        </p:nvSpPr>
        <p:spPr>
          <a:xfrm>
            <a:off x="5410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اسأل الخريطة</a:t>
            </a:r>
            <a:endParaRPr/>
          </a:p>
        </p:txBody>
      </p:sp>
      <p:sp>
        <p:nvSpPr>
          <p:cNvPr id="872" name="Google Shape;872;p27"/>
          <p:cNvSpPr txBox="1"/>
          <p:nvPr>
            <p:ph idx="8" type="body"/>
          </p:nvPr>
        </p:nvSpPr>
        <p:spPr>
          <a:xfrm>
            <a:off x="5410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مساعد بالذكاء الاصطناعي يجيب من المصادر وينقل الخريطة إلى الحدث</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73" name="Google Shape;873;p27"/>
          <p:cNvPicPr preferRelativeResize="0"/>
          <p:nvPr/>
        </p:nvPicPr>
        <p:blipFill rotWithShape="1">
          <a:blip r:embed="rId8">
            <a:alphaModFix/>
          </a:blip>
          <a:srcRect b="0" l="0" r="0" t="0"/>
          <a:stretch/>
        </p:blipFill>
        <p:spPr>
          <a:xfrm>
            <a:off x="2457450" y="4000500"/>
            <a:ext cx="1428750" cy="1428750"/>
          </a:xfrm>
          <a:prstGeom prst="rect">
            <a:avLst/>
          </a:prstGeom>
          <a:noFill/>
          <a:ln>
            <a:noFill/>
          </a:ln>
        </p:spPr>
      </p:pic>
      <p:sp>
        <p:nvSpPr>
          <p:cNvPr id="874" name="Google Shape;874;p27"/>
          <p:cNvSpPr txBox="1"/>
          <p:nvPr>
            <p:ph idx="9" type="body"/>
          </p:nvPr>
        </p:nvSpPr>
        <p:spPr>
          <a:xfrm>
            <a:off x="1409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ملخص السيرة</a:t>
            </a:r>
            <a:endParaRPr/>
          </a:p>
        </p:txBody>
      </p:sp>
      <p:sp>
        <p:nvSpPr>
          <p:cNvPr id="875" name="Google Shape;875;p27"/>
          <p:cNvSpPr txBox="1"/>
          <p:nvPr>
            <p:ph idx="13" type="body"/>
          </p:nvPr>
        </p:nvSpPr>
        <p:spPr>
          <a:xfrm>
            <a:off x="1409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21 لحظة بنصوص الدرر، مع السؤال عن كل لحظة</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pic>
        <p:nvPicPr>
          <p:cNvPr id="881" name="Google Shape;881;p28"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82" name="Google Shape;882;p2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83" name="Google Shape;883;p2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القيمة المضافة</a:t>
            </a:r>
            <a:endParaRPr/>
          </a:p>
        </p:txBody>
      </p:sp>
      <p:sp>
        <p:nvSpPr>
          <p:cNvPr id="884" name="Google Shape;884;p2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بداية: مدخل إلى كتب السيرة</a:t>
            </a:r>
            <a:endParaRPr/>
          </a:p>
        </p:txBody>
      </p:sp>
      <p:sp>
        <p:nvSpPr>
          <p:cNvPr id="885" name="Google Shape;885;p2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لا تُغني عنها، بل تقرّبها للمبتدئ</a:t>
            </a:r>
            <a:endParaRPr/>
          </a:p>
        </p:txBody>
      </p:sp>
      <p:sp>
        <p:nvSpPr>
          <p:cNvPr id="886" name="Google Shape;886;p2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887" name="Google Shape;887;p28"/>
          <p:cNvSpPr txBox="1"/>
          <p:nvPr>
            <p:ph idx="3" type="body"/>
          </p:nvPr>
        </p:nvSpPr>
        <p:spPr>
          <a:xfrm>
            <a:off x="9696450" y="3857625"/>
            <a:ext cx="714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كتب السيرة والبحث</a:t>
            </a:r>
            <a:endParaRPr/>
          </a:p>
        </p:txBody>
      </p:sp>
      <p:sp>
        <p:nvSpPr>
          <p:cNvPr id="888" name="Google Shape;888;p28"/>
          <p:cNvSpPr txBox="1"/>
          <p:nvPr>
            <p:ph idx="4" type="body"/>
          </p:nvPr>
        </p:nvSpPr>
        <p:spPr>
          <a:xfrm>
            <a:off x="9696450" y="4562475"/>
            <a:ext cx="7143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مصادر موثوقة، لكنها نصوص طويلة ومفصّلة</a:t>
            </a:r>
            <a:endParaRPr/>
          </a:p>
        </p:txBody>
      </p:sp>
      <p:sp>
        <p:nvSpPr>
          <p:cNvPr id="889" name="Google Shape;889;p28"/>
          <p:cNvSpPr txBox="1"/>
          <p:nvPr>
            <p:ph idx="5" type="body"/>
          </p:nvPr>
        </p:nvSpPr>
        <p:spPr>
          <a:xfrm>
            <a:off x="1409700" y="3857625"/>
            <a:ext cx="714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بداية</a:t>
            </a:r>
            <a:endParaRPr/>
          </a:p>
        </p:txBody>
      </p:sp>
      <p:sp>
        <p:nvSpPr>
          <p:cNvPr id="890" name="Google Shape;890;p28"/>
          <p:cNvSpPr txBox="1"/>
          <p:nvPr>
            <p:ph idx="6" type="body"/>
          </p:nvPr>
        </p:nvSpPr>
        <p:spPr>
          <a:xfrm>
            <a:off x="1409700" y="4562475"/>
            <a:ext cx="7143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المصادر نفسها، قصةً على الخريطة مع مساعد يجيب منها</a:t>
            </a:r>
            <a:endParaRPr/>
          </a:p>
        </p:txBody>
      </p:sp>
      <p:sp>
        <p:nvSpPr>
          <p:cNvPr id="891" name="Google Shape;891;p28"/>
          <p:cNvSpPr txBox="1"/>
          <p:nvPr>
            <p:ph idx="7" type="body"/>
          </p:nvPr>
        </p:nvSpPr>
        <p:spPr>
          <a:xfrm>
            <a:off x="9696450" y="5905500"/>
            <a:ext cx="7143900" cy="2952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عمق وتفصيل كامل</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تحتاج وقتًا وخلفية لربط الأحداث بأماكنها وآياتها</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للمتعلم المتقدم والباحث</a:t>
            </a:r>
            <a:endParaRPr/>
          </a:p>
        </p:txBody>
      </p:sp>
      <p:sp>
        <p:nvSpPr>
          <p:cNvPr id="892" name="Google Shape;892;p28"/>
          <p:cNvSpPr txBox="1"/>
          <p:nvPr>
            <p:ph idx="8" type="body"/>
          </p:nvPr>
        </p:nvSpPr>
        <p:spPr>
          <a:xfrm>
            <a:off x="1409700" y="5905500"/>
            <a:ext cx="7143900" cy="2952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يرى الحدث ومكانه وآياته، ويسأل بالعربية أو الإنجليزية</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مختصر، وكل جواب يحيل إلى مصدره في الكتب</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للمبتدئ وغير المسلم والمسلم الجديد</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pic>
        <p:nvPicPr>
          <p:cNvPr id="914" name="Google Shape;914;p31"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915" name="Google Shape;915;p31"/>
          <p:cNvSpPr txBox="1"/>
          <p:nvPr>
            <p:ph idx="1" type="body"/>
          </p:nvPr>
        </p:nvSpPr>
        <p:spPr>
          <a:xfrm>
            <a:off x="3810000" y="5676900"/>
            <a:ext cx="106680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0" lang="ar-SA" sz="2700">
                <a:solidFill>
                  <a:srgbClr val="F2F4FF"/>
                </a:solidFill>
                <a:latin typeface="Readex Pro"/>
                <a:ea typeface="Readex Pro"/>
                <a:cs typeface="Readex Pro"/>
                <a:sym typeface="Readex Pro"/>
              </a:rPr>
              <a:t>بداية</a:t>
            </a:r>
            <a:endParaRPr/>
          </a:p>
        </p:txBody>
      </p:sp>
      <p:sp>
        <p:nvSpPr>
          <p:cNvPr id="916" name="Google Shape;916;p31"/>
          <p:cNvSpPr txBox="1"/>
          <p:nvPr>
            <p:ph idx="2" type="body"/>
          </p:nvPr>
        </p:nvSpPr>
        <p:spPr>
          <a:xfrm>
            <a:off x="3810000" y="6653200"/>
            <a:ext cx="10668000" cy="666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bidaya-sirah.vercel.app  ·  github.com/omarbintalib/Bidaya</a:t>
            </a:r>
            <a:endParaRPr/>
          </a:p>
        </p:txBody>
      </p:sp>
      <p:sp>
        <p:nvSpPr>
          <p:cNvPr id="917" name="Google Shape;917;p31"/>
          <p:cNvSpPr txBox="1"/>
          <p:nvPr>
            <p:ph type="title"/>
          </p:nvPr>
        </p:nvSpPr>
        <p:spPr>
          <a:xfrm>
            <a:off x="3810000" y="3819525"/>
            <a:ext cx="10668000" cy="1428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200"/>
              <a:buNone/>
            </a:pPr>
            <a:r>
              <a:rPr b="1" lang="ar-SA" sz="7200">
                <a:solidFill>
                  <a:srgbClr val="2EF2C2"/>
                </a:solidFill>
                <a:latin typeface="Readex Pro"/>
                <a:ea typeface="Readex Pro"/>
                <a:cs typeface="Readex Pro"/>
                <a:sym typeface="Readex Pro"/>
              </a:rPr>
              <a:t>شكراً لكم</a:t>
            </a:r>
            <a:endParaRPr/>
          </a:p>
        </p:txBody>
      </p:sp>
      <p:pic>
        <p:nvPicPr>
          <p:cNvPr id="918" name="Google Shape;918;p31" title="شعار الهاكثون لايت.png"/>
          <p:cNvPicPr preferRelativeResize="0"/>
          <p:nvPr/>
        </p:nvPicPr>
        <p:blipFill>
          <a:blip r:embed="rId4">
            <a:alphaModFix/>
          </a:blip>
          <a:stretch>
            <a:fillRect/>
          </a:stretch>
        </p:blipFill>
        <p:spPr>
          <a:xfrm>
            <a:off x="3158450" y="1277075"/>
            <a:ext cx="6546002" cy="1678025"/>
          </a:xfrm>
          <a:prstGeom prst="rect">
            <a:avLst/>
          </a:prstGeom>
          <a:noFill/>
          <a:ln>
            <a:noFill/>
          </a:ln>
        </p:spPr>
      </p:pic>
      <p:pic>
        <p:nvPicPr>
          <p:cNvPr id="919" name="Google Shape;919;p31"/>
          <p:cNvPicPr preferRelativeResize="0"/>
          <p:nvPr/>
        </p:nvPicPr>
        <p:blipFill rotWithShape="1">
          <a:blip r:embed="rId5">
            <a:alphaModFix/>
          </a:blip>
          <a:srcRect b="0" l="0" r="0" t="0"/>
          <a:stretch/>
        </p:blipFill>
        <p:spPr>
          <a:xfrm>
            <a:off x="13237879" y="1460433"/>
            <a:ext cx="1891696" cy="1195990"/>
          </a:xfrm>
          <a:prstGeom prst="rect">
            <a:avLst/>
          </a:prstGeom>
          <a:noFill/>
          <a:ln>
            <a:noFill/>
          </a:ln>
        </p:spPr>
      </p:pic>
      <p:pic>
        <p:nvPicPr>
          <p:cNvPr id="920" name="Google Shape;920;p31" title="شعار عام الذكاء الاصطناعي.png"/>
          <p:cNvPicPr preferRelativeResize="0"/>
          <p:nvPr/>
        </p:nvPicPr>
        <p:blipFill>
          <a:blip r:embed="rId6">
            <a:alphaModFix/>
          </a:blip>
          <a:stretch>
            <a:fillRect/>
          </a:stretch>
        </p:blipFill>
        <p:spPr>
          <a:xfrm>
            <a:off x="10056994" y="1261812"/>
            <a:ext cx="2908672" cy="1708549"/>
          </a:xfrm>
          <a:prstGeom prst="rect">
            <a:avLst/>
          </a:prstGeom>
          <a:noFill/>
          <a:ln>
            <a:noFill/>
          </a:ln>
        </p:spPr>
      </p:pic>
      <p:pic>
        <p:nvPicPr>
          <p:cNvPr id="921" name="Google Shape;921;p31" title="شعار سدايا.png"/>
          <p:cNvPicPr preferRelativeResize="0"/>
          <p:nvPr/>
        </p:nvPicPr>
        <p:blipFill>
          <a:blip r:embed="rId7">
            <a:alphaModFix/>
          </a:blip>
          <a:stretch>
            <a:fillRect/>
          </a:stretch>
        </p:blipFill>
        <p:spPr>
          <a:xfrm>
            <a:off x="7750489" y="7716733"/>
            <a:ext cx="2292680" cy="1346725"/>
          </a:xfrm>
          <a:prstGeom prst="rect">
            <a:avLst/>
          </a:prstGeom>
          <a:noFill/>
          <a:ln>
            <a:noFill/>
          </a:ln>
        </p:spPr>
      </p:pic>
      <p:pic>
        <p:nvPicPr>
          <p:cNvPr id="922" name="Google Shape;922;p31" title="شعار فيوتشر.png"/>
          <p:cNvPicPr preferRelativeResize="0"/>
          <p:nvPr/>
        </p:nvPicPr>
        <p:blipFill>
          <a:blip r:embed="rId8">
            <a:alphaModFix/>
          </a:blip>
          <a:stretch>
            <a:fillRect/>
          </a:stretch>
        </p:blipFill>
        <p:spPr>
          <a:xfrm>
            <a:off x="3179331" y="7929122"/>
            <a:ext cx="1570852" cy="921955"/>
          </a:xfrm>
          <a:prstGeom prst="rect">
            <a:avLst/>
          </a:prstGeom>
          <a:noFill/>
          <a:ln>
            <a:noFill/>
          </a:ln>
        </p:spPr>
      </p:pic>
      <p:pic>
        <p:nvPicPr>
          <p:cNvPr id="923" name="Google Shape;923;p31" title="شعار التحول.png"/>
          <p:cNvPicPr preferRelativeResize="0"/>
          <p:nvPr/>
        </p:nvPicPr>
        <p:blipFill>
          <a:blip r:embed="rId9">
            <a:alphaModFix/>
          </a:blip>
          <a:stretch>
            <a:fillRect/>
          </a:stretch>
        </p:blipFill>
        <p:spPr>
          <a:xfrm>
            <a:off x="5373933" y="7875719"/>
            <a:ext cx="1752806" cy="1028753"/>
          </a:xfrm>
          <a:prstGeom prst="rect">
            <a:avLst/>
          </a:prstGeom>
          <a:noFill/>
          <a:ln>
            <a:noFill/>
          </a:ln>
        </p:spPr>
      </p:pic>
      <p:sp>
        <p:nvSpPr>
          <p:cNvPr id="924" name="Google Shape;924;p31"/>
          <p:cNvSpPr txBox="1"/>
          <p:nvPr/>
        </p:nvSpPr>
        <p:spPr>
          <a:xfrm>
            <a:off x="14046675" y="8254733"/>
            <a:ext cx="1062000" cy="295800"/>
          </a:xfrm>
          <a:prstGeom prst="rect">
            <a:avLst/>
          </a:prstGeom>
          <a:noFill/>
          <a:ln>
            <a:noFill/>
          </a:ln>
        </p:spPr>
        <p:txBody>
          <a:bodyPr anchorCtr="0" anchor="t" bIns="0" lIns="0" spcFirstLastPara="1" rIns="0" wrap="square" tIns="0">
            <a:noAutofit/>
          </a:bodyPr>
          <a:lstStyle/>
          <a:p>
            <a:pPr indent="0" lvl="0" marL="0" rtl="1" algn="r">
              <a:spcBef>
                <a:spcPts val="0"/>
              </a:spcBef>
              <a:spcAft>
                <a:spcPts val="0"/>
              </a:spcAft>
              <a:buNone/>
            </a:pPr>
            <a:r>
              <a:rPr lang="ar-SA" sz="1800">
                <a:solidFill>
                  <a:srgbClr val="2EF2C2"/>
                </a:solidFill>
                <a:latin typeface="Readex Pro"/>
                <a:ea typeface="Readex Pro"/>
                <a:cs typeface="Readex Pro"/>
                <a:sym typeface="Readex Pro"/>
              </a:rPr>
              <a:t>شركاء التحدي</a:t>
            </a:r>
            <a:r>
              <a:rPr lang="ar-SA">
                <a:solidFill>
                  <a:srgbClr val="2EF2C2"/>
                </a:solidFill>
                <a:latin typeface="Readex Pro"/>
                <a:ea typeface="Readex Pro"/>
                <a:cs typeface="Readex Pro"/>
                <a:sym typeface="Readex Pro"/>
              </a:rPr>
              <a:t>:</a:t>
            </a:r>
            <a:endParaRPr sz="1800">
              <a:solidFill>
                <a:srgbClr val="2EF2C2"/>
              </a:solidFill>
              <a:latin typeface="Readex Pro"/>
              <a:ea typeface="Readex Pro"/>
              <a:cs typeface="Readex Pro"/>
              <a:sym typeface="Readex Pro"/>
            </a:endParaRPr>
          </a:p>
        </p:txBody>
      </p:sp>
      <p:cxnSp>
        <p:nvCxnSpPr>
          <p:cNvPr id="925" name="Google Shape;925;p31"/>
          <p:cNvCxnSpPr/>
          <p:nvPr/>
        </p:nvCxnSpPr>
        <p:spPr>
          <a:xfrm>
            <a:off x="7456246" y="8142400"/>
            <a:ext cx="0" cy="453600"/>
          </a:xfrm>
          <a:prstGeom prst="straightConnector1">
            <a:avLst/>
          </a:prstGeom>
          <a:noFill/>
          <a:ln cap="flat" cmpd="sng" w="9525">
            <a:solidFill>
              <a:srgbClr val="2EF2C2"/>
            </a:solidFill>
            <a:prstDash val="solid"/>
            <a:round/>
            <a:headEnd len="med" w="med" type="none"/>
            <a:tailEnd len="med" w="med" type="none"/>
          </a:ln>
        </p:spPr>
      </p:cxnSp>
      <p:cxnSp>
        <p:nvCxnSpPr>
          <p:cNvPr id="926" name="Google Shape;926;p31"/>
          <p:cNvCxnSpPr/>
          <p:nvPr/>
        </p:nvCxnSpPr>
        <p:spPr>
          <a:xfrm>
            <a:off x="5075007" y="8142400"/>
            <a:ext cx="0" cy="453600"/>
          </a:xfrm>
          <a:prstGeom prst="straightConnector1">
            <a:avLst/>
          </a:prstGeom>
          <a:noFill/>
          <a:ln cap="flat" cmpd="sng" w="9525">
            <a:solidFill>
              <a:srgbClr val="2EF2C2"/>
            </a:solidFill>
            <a:prstDash val="solid"/>
            <a:round/>
            <a:headEnd len="med" w="med" type="none"/>
            <a:tailEnd len="med" w="med" type="none"/>
          </a:ln>
        </p:spPr>
      </p:cxnSp>
      <p:pic>
        <p:nvPicPr>
          <p:cNvPr id="927" name="Google Shape;927;p31" title="شعار وزارة الاتصالات.png"/>
          <p:cNvPicPr preferRelativeResize="0"/>
          <p:nvPr/>
        </p:nvPicPr>
        <p:blipFill>
          <a:blip r:embed="rId10">
            <a:alphaModFix/>
          </a:blip>
          <a:stretch>
            <a:fillRect/>
          </a:stretch>
        </p:blipFill>
        <p:spPr>
          <a:xfrm>
            <a:off x="10602750" y="7979050"/>
            <a:ext cx="3035650" cy="847150"/>
          </a:xfrm>
          <a:prstGeom prst="rect">
            <a:avLst/>
          </a:prstGeom>
          <a:noFill/>
          <a:ln>
            <a:noFill/>
          </a:ln>
        </p:spPr>
      </p:pic>
      <p:cxnSp>
        <p:nvCxnSpPr>
          <p:cNvPr id="928" name="Google Shape;928;p31"/>
          <p:cNvCxnSpPr/>
          <p:nvPr/>
        </p:nvCxnSpPr>
        <p:spPr>
          <a:xfrm>
            <a:off x="10366904" y="8142400"/>
            <a:ext cx="0" cy="453600"/>
          </a:xfrm>
          <a:prstGeom prst="straightConnector1">
            <a:avLst/>
          </a:prstGeom>
          <a:noFill/>
          <a:ln cap="flat" cmpd="sng" w="9525">
            <a:solidFill>
              <a:srgbClr val="2EF2C2"/>
            </a:solidFill>
            <a:prstDash val="solid"/>
            <a:round/>
            <a:headEnd len="med" w="med" type="none"/>
            <a:tailEnd len="med" w="med" type="none"/>
          </a:ln>
        </p:spPr>
      </p:cxn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الإتاحة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الاستخدام في بداية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كيف نتحقق</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المصدر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dorar.net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142 حدثًا: العناوين والتواريخ والنصوص</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كل حدث برابطه؛ ونصوص الملخص حرفية يفحصها اختبار آلي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الدرر السنية: الموسوعة التاريخية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sunnah.com و dorar.net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94 سجلًا يربط الآيات بأحداثها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روجع 223 رقم حديث مع نصه، وحُذف الخطأ</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الصحيحان وموسوعة التفسير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الشاملة 9820</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سياق السيرة في الإجابات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حُذفت الروايات الضعيفة المعروفة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الرحيق المختوم</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الشاملة 11314</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أسباب النزول في الإجابات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الصحيح والحسن فقط؛ استُبعدت 836 رواية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أسباب النزول للواحدي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المصادر</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المصادر المعتمدة وكيف نتحقق منها</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بيانات بداية من هذه المصادر برابطها، والمساعد يجيب من نصوصها ويذكرها</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سجل الأدوات والتراخيص (النماذج، الخطوط، الأصوات، الخرائط): docs/SOURCES_AND_LICENSES.md</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330" name="Screenshot 1" descr="The story on the map: the Prophet’s letters to the kings, the event text and its people"/>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القصة على الخريطة: رسائل النبي ﷺ إلى الملوك</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كل حدث في مكانه مع نصه من الدرر ومصدره: هنا رسائله ﷺ من المدينة إلى الملوك، والشخصيات، وخط زمني للأحداث الـ142</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340" name="Screenshot 1" descr="Verses linked to the Battle of Badr on its event card"/>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السور في سياقها: الآيات مع حدثها</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الآيات التي نزلت في غزوة بدر على بطاقة الحدث، كل آية بسورتها ورقمها ووجه ارتباطها</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