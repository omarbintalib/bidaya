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1.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PartName="/ppt/slides/slide32.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63" r:id="rId13"/>
    <p:sldId id="266" r:id="rId16"/>
    <p:sldId id="282" r:id="rId32"/>
    <p:sldId id="280" r:id="rId30"/>
    <p:sldId id="279" r:id="rId29"/>
    <p:sldId id="276" r:id="rId26"/>
    <p:sldId id="272" r:id="rId22"/>
    <p:sldId id="287" r:id="rId50"/>
    <p:sldId id="270" r:id="rId20"/>
    <p:sldId id="283" r:id="rId33"/>
    <p:sldId id="273" r:id="rId23"/>
    <p:sldId id="274" r:id="rId24"/>
    <p:sldId id="286" r:id="rId3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Relationships xmlns="http://schemas.openxmlformats.org/package/2006/relationships"><Relationship Id="rId40" Type="http://schemas.openxmlformats.org/officeDocument/2006/relationships/font" Target="fonts/Urbanist-boldItalic.fntdata"/><Relationship Id="rId42" Type="http://schemas.openxmlformats.org/officeDocument/2006/relationships/font" Target="fonts/ReadexProMedium-bold.fntdata"/><Relationship Id="rId41" Type="http://schemas.openxmlformats.org/officeDocument/2006/relationships/font" Target="fonts/ReadexProMedium-regular.fntdata"/><Relationship Id="rId44" Type="http://schemas.openxmlformats.org/officeDocument/2006/relationships/font" Target="fonts/ReadexProSemiBold-bold.fntdata"/><Relationship Id="rId43" Type="http://schemas.openxmlformats.org/officeDocument/2006/relationships/font" Target="fonts/ReadexProSemiBold-regular.fntdata"/><Relationship Id="rId46" Type="http://schemas.openxmlformats.org/officeDocument/2006/relationships/font" Target="fonts/ReadexPro-bold.fntdata"/><Relationship Id="rId45" Type="http://schemas.openxmlformats.org/officeDocument/2006/relationships/font" Target="fonts/ReadexPro-regular.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48" Type="http://schemas.openxmlformats.org/officeDocument/2006/relationships/font" Target="fonts/ReadexProLight-bold.fntdata"/><Relationship Id="rId47" Type="http://schemas.openxmlformats.org/officeDocument/2006/relationships/font" Target="fonts/ReadexProLight-regular.fntdata"/><Relationship Id="rId49" Type="http://customschemas.google.com/relationships/presentationmetadata" Target="metadata"/><Relationship Id="rId5" Type="http://schemas.openxmlformats.org/officeDocument/2006/relationships/notesMaster" Target="notesMasters/notesMaster1.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7" Type="http://schemas.openxmlformats.org/officeDocument/2006/relationships/font" Target="fonts/Urbanist-regular.fntdata"/><Relationship Id="rId36" Type="http://schemas.openxmlformats.org/officeDocument/2006/relationships/slide" Target="slides/slide31.xml"/><Relationship Id="rId39" Type="http://schemas.openxmlformats.org/officeDocument/2006/relationships/font" Target="fonts/Urbanist-italic.fntdata"/><Relationship Id="rId38" Type="http://schemas.openxmlformats.org/officeDocument/2006/relationships/font" Target="fonts/Urbanist-bold.fntdata"/><Relationship Id="rId20" Type="http://schemas.openxmlformats.org/officeDocument/2006/relationships/slide" Target="slides/slide15.xml"/><Relationship Id="rId22" Type="http://schemas.openxmlformats.org/officeDocument/2006/relationships/slide" Target="slides/slide17.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9" Type="http://schemas.openxmlformats.org/officeDocument/2006/relationships/slide" Target="slides/slide24.xml"/><Relationship Id="rId13" Type="http://schemas.openxmlformats.org/officeDocument/2006/relationships/slide" Target="slides/slide8.xml"/><Relationship Id="rId16" Type="http://schemas.openxmlformats.org/officeDocument/2006/relationships/slide" Target="slides/slide11.xml"/>  <Relationship Id="rId50" Type="http://schemas.openxmlformats.org/officeDocument/2006/relationships/slide" Target="slides/slide32.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خريطة تفاعلية تروي السيرة النبوية في الزمان والمكان، مع مساعد ذكي يجيب من المصادر. المسار الثالث.</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المستفيد: غير المسلمين والمسلمين الجدد. السيرة مدخل واضح للإسلام، لكن كتبها طويلة ومفصّلة على من يبدأ.</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لم يُعطِ المساعد معلومة خاطئة في الاختبار: ما لم يجده في المصادر امتنع عنه. النتائج قابلة للتحقق: كل سؤال وجوابه منشور في مستودع المشروع.</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نلتزم مستويات المحتوى في المرجعية العلمية: جواب موثق، ذكر الخلاف، والإحالة في الفتوى.</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المرحلة الأولى تعمل الآن على الموقع الحي، والمراحل التالية خطة مقترحة: التكلفة الأساسية هي أسئلة النموذج اللغوي والمعالج عند الطلب فقط، ورواية القصة كاملة صوتياً بالعربية قيد التطوير (الإنجليزية متاحة الآن).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فريق من ثلاثة أعضاء يغطي التقنية والمحتوى والاختبار.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التقنيات: نموذجان مفتوحان للبحث (bge-m3 ومعيد الترتيب)، ونموذج لغوي للفهم والصياغة، وتحويل النص إلى كلام لرواية القصة كاملة بالإنجليزية (العربية قيد التطوير)، وموقع وخادم مستضافان.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آلية العمل: نموذج لغوي يفهم السؤال، بحث في 2,905 نصًا من المصادر ثم ترتيبها، جواب من المصادر مع روابطها أو امتناع، ثم تنتقل الخريطة إلى الحدث. وفي اختبار 50 سؤالًا صعبًا لم يرد جواب بمعلومة خاطئة.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9" name="Google Shape;82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مثال حي: سؤال عن بدر. الجواب من الدرر والبخاري مع الروابط، والخريطة تنتقل إلى بدر.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30" name="Google Shape;83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أربعة عناصر: القصة على الخريطة، السور في سياقها، اسأل الخريطة، ملخص السيرة. كلها بالعربية والإنجليزية، ويمكن الاستماع إلى القصة كاملة بصوت مقروء بالإنجليزية، والنسخة العربية قيد التطوير.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لا تستبدل كتب السيرة ولا تنافسها؛ هي باب إليها: تعرض محتواها المعتمد مرتبًا على الخريطة، وكل جواب يحيل إلى مصدره ليكمل القارئ من الكتب.</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شكرًا لكم. الموقع الحي والمستودع في الشريحة.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bidaya_ask.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9" Type="http://schemas.openxmlformats.org/officeDocument/2006/relationships/image" Target="../media/image1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10"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بداية</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خريطة تفاعلية مدعومة بالذكاء الاصطناعي تروي سيرة النبي ﷺ في الزمان والمكان، مع مساعد يجيب من المصادر المعتمدة بالعربية والإنجليزية</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فريق بداية</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6 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لماذا يصعب فهم السيرة على المبتدئ؟</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السيرة من أوضح الطرق لفهم الإسلام، لكن كتبها طويلة على من يبدأ</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نصوص طويلة</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كتب السيرة مفصّلة وطويلة، ويصعب على المبتدئ أن يعرف من أين يبدأ</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أماكن بلا خريطة</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بدر وأحد والحديبية أسماء بلا موقع عند من يسمعها أول مرة</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آيات بلا سياق</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كثير من آيات القرآن نزلت في مواقف من السيرة، والمبتدئ لا يعرف أيها</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صعوبة التحقق</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يصعب على غير المختص معرفة الموثوق مما يقرؤه على الإنترنت</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اختبار الإجابات</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اختبارات 5–6 أكتوبر 2026، بأسئلة محدودة العدد</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97.9%</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إجابات بمصدر صحيح</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47 من 48 سؤالًا، والباقي امتناع</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100%</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امتناع صحيح</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12 سؤالًا عن الفتوى وما لا مصدر له</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0</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معلومة خاطئة</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في 50 جوابًا صعبًا؛ ما لم يجده امتنع عنه</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7.5 ث</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زمن الجواب</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الوسيط على الموقع الحي</a:t>
            </a:r>
            <a:endParaRPr/>
          </a:p>
        </p:txBody>
      </p:sp>
      <p:sp>
        <p:nvSpPr>
          <p:cNvPr id="620" name="Google Shape;620;p15"/>
          <p:cNvSpPr txBox="1"/>
          <p:nvPr>
            <p:ph idx="18" type="body"/>
          </p:nvPr>
        </p:nvSpPr>
        <p:spPr>
          <a:xfrm>
            <a:off x="8381075" y="8763000"/>
            <a:ext cx="8459100" cy="476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المصدر: docs/evaluation في مستودع المشروع، مع كل سؤال وجوابه</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الموثوقية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مستويات المحتوى وضبط الاستجابة</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كما في المرجعية العلمية للتحدي، وما تفعله بداية في كل مستوى</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في الاختبار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ما تفعله بداية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أمثلة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المستوى</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بمصدر صحيح أو امتناع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مباشر مع رابط المصدر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متى كانت غزوة بدر؟ من هو أبو بكر؟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(أ) معلومات مستقرة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من المصادر مع المرجع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لماذا قبل النبي ﷺ صلح الحديبية؟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 شرح وتعريف</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صحيحة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ينقل ما في المصادر، ويذكر الخلاف إن ذكرته</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عدد شهداء أحد، سنوات مكة بعد البعثة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 مسائل خلافية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6 من 6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امتناع وإحالة إلى الرئاسة العامة للإفتاء</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هل يجوز…؟ ما حكم…؟</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(د) فتوى أو حالة شخصية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المصدر: اختبارا 60 و50 سؤالًا، مجلد docs/evaluation في المستودع</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خطة 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التشغيل بعد التحدي</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الخادم ينام عند الخمول: لا تُدفع تكلفة المعالج إلا حين يُسأل</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التشغيل الحالي</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الآن</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موقع حي بالعربية والإنجليزية</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اختبار المستفيدين</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الشهر الأول</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قياس الفهم قبل الاستخدام وبعده</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مراجعة المحتوى</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مستمر</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اعتماد السجلات الجديدة من مسؤول المحتوى</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تحسين المساعد</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كل تعديل</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إعادة اختبار الأسئلة الخمسين قبل النشر</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رواية القصة صوتياً بالعربية</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قيد التطوير</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القصة كاملة مسموعة بالإنجليزية الآن، ثم العربية</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فريق بداية: التقنية والمحتوى والاختبار</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92" name="Google Shape;692;p19"/>
          <p:cNvSpPr/>
          <p:nvPr>
            <p:ph idx="3" type="pic"/>
          </p:nvPr>
        </p:nvSpPr>
        <p:spPr>
          <a:xfrm>
            <a:off x="12192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3" name="Google Shape;693;p19"/>
          <p:cNvSpPr txBox="1"/>
          <p:nvPr>
            <p:ph idx="4" type="body"/>
          </p:nvPr>
        </p:nvSpPr>
        <p:spPr>
          <a:xfrm>
            <a:off x="11715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عمر بن طالب</a:t>
            </a:r>
            <a:endParaRPr/>
          </a:p>
        </p:txBody>
      </p:sp>
      <p:sp>
        <p:nvSpPr>
          <p:cNvPr id="694" name="Google Shape;694;p19"/>
          <p:cNvSpPr txBox="1"/>
          <p:nvPr>
            <p:ph idx="5" type="body"/>
          </p:nvPr>
        </p:nvSpPr>
        <p:spPr>
          <a:xfrm>
            <a:off x="11715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الذكاء الاصطناعي: المساعد، والتبسيط والترجمة، ودقة الإجابات</a:t>
            </a:r>
            <a:endParaRPr/>
          </a:p>
        </p:txBody>
      </p:sp>
      <p:sp>
        <p:nvSpPr>
          <p:cNvPr id="695" name="Google Shape;695;p19"/>
          <p:cNvSpPr/>
          <p:nvPr>
            <p:ph idx="6" type="pic"/>
          </p:nvPr>
        </p:nvSpPr>
        <p:spPr>
          <a:xfrm>
            <a:off x="81915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6" name="Google Shape;696;p19"/>
          <p:cNvSpPr txBox="1"/>
          <p:nvPr>
            <p:ph idx="7" type="body"/>
          </p:nvPr>
        </p:nvSpPr>
        <p:spPr>
          <a:xfrm>
            <a:off x="77152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الياس التركستاني</a:t>
            </a:r>
            <a:endParaRPr/>
          </a:p>
        </p:txBody>
      </p:sp>
      <p:sp>
        <p:nvSpPr>
          <p:cNvPr id="697" name="Google Shape;697;p19"/>
          <p:cNvSpPr txBox="1"/>
          <p:nvPr>
            <p:ph idx="8" type="body"/>
          </p:nvPr>
        </p:nvSpPr>
        <p:spPr>
          <a:xfrm>
            <a:off x="77152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الواجهة وتجربة المستخدم: الخريطة والخط الزمني، ورحلة التعلم</a:t>
            </a:r>
            <a:endParaRPr/>
          </a:p>
        </p:txBody>
      </p:sp>
      <p:sp>
        <p:nvSpPr>
          <p:cNvPr id="698" name="Google Shape;698;p19"/>
          <p:cNvSpPr/>
          <p:nvPr>
            <p:ph idx="9" type="pic"/>
          </p:nvPr>
        </p:nvSpPr>
        <p:spPr>
          <a:xfrm>
            <a:off x="4191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9" name="Google Shape;699;p19"/>
          <p:cNvSpPr txBox="1"/>
          <p:nvPr>
            <p:ph idx="13" type="body"/>
          </p:nvPr>
        </p:nvSpPr>
        <p:spPr>
          <a:xfrm>
            <a:off x="3714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حسان الغامدي</a:t>
            </a:r>
            <a:endParaRPr/>
          </a:p>
        </p:txBody>
      </p:sp>
      <p:sp>
        <p:nvSpPr>
          <p:cNvPr id="700" name="Google Shape;700;p19"/>
          <p:cNvSpPr txBox="1"/>
          <p:nvPr>
            <p:ph idx="14" type="body"/>
          </p:nvPr>
        </p:nvSpPr>
        <p:spPr>
          <a:xfrm>
            <a:off x="3714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المحتوى والمراجعة: جمع المصادر، ومراجعة الأحداث والمصطلحات</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الترخيص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دوره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التفاصيل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المكوّن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البحث في المصادر بالعربية والإنجليزية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بحث بالمعنى وبالكلمات معًا في 2,905 نصًا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Apache-2.0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ترتيب نتائج البحث</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يقدّم النصوص الأقرب إلى السؤال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bge-reranker-v2-m3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terms</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فهم السؤال وكتابة الجواب</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من نصوص المصادر فقط، ويُرفض الجواب بلا استشهاد صحيح</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gpt-6-luna</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والخادم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على Vercel، والخادم على Modal بمعالج رسومي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React + FastAPI</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الاستماع إلى القصة كاملة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بالإنجليزية الآن، والعربية قيد التطوير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Text-to-speech</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التقنيات</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مكوّنات الذكاء الاصطناعي والمنصة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كل مكوّن، ودوره في الحل، وترخيصه</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Details: backend/README.md · docs/SOURCES_AND_LICENSES.md</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الذكاء الاصطناعي</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يجيب «اسأل الخريطة»</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سؤال المستخدم إلى الجواب على الخريطة</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السؤال</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بالعربية أو الإنجليزية</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سياق المحادثة لأسئلة المتابعة</a:t>
            </a:r>
            <a:endParaRPr>
              <a:solidFill>
                <a:schemeClr val="dk1"/>
              </a:solidFill>
              <a:latin typeface="Readex Pro"/>
              <a:ea typeface="Readex Pro"/>
              <a:cs typeface="Readex Pro"/>
              <a:sym typeface="Readex Pro"/>
            </a:endParaRPr>
          </a:p>
          <a:p>
            <a:pPr indent="0" lvl="0" marL="0" rtl="1" algn="r">
              <a:lnSpc>
                <a:spcPct val="115000"/>
              </a:lnSpc>
              <a:spcBef>
                <a:spcPts val="0"/>
              </a:spcBef>
              <a:spcAft>
                <a:spcPts val="0"/>
              </a:spcAft>
              <a:buNone/>
            </a:pPr>
            <a:r>
              <a:t/>
            </a:r>
            <a:endParaRPr sz="1201"/>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الفهم والبحث</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نموذج لغوي يصنّف السؤال ويعيد صياغته</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بحث في 2,905 نصًا من المصادر ثم ترتيبها</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جواب موثّق</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يجيب من المصادر مع روابطها</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وإن لم يجد فيها جوابًا امتنع</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على الخريطة</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تنتقل الخريطة إلى الحدث أو بطاقة الشخص</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زر للعودة إلى موضع القراءة</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50" name="Screenshot 1" descr="Ask the map: an answer about Badr with its sources, the map at Badr"/>
          <p:cNvPicPr>
            <a:picLocks noChangeAspect="1"/>
          </p:cNvPicPr>
          <p:nvPr/>
        </p:nvPicPr>
        <p:blipFill>
          <a:blip r:embed="rId4"/>
          <a:srcRect t="4693" b="26599"/>
          <a:stretch>
            <a:fillRect/>
          </a:stretch>
        </p:blipFill>
        <p:spPr>
          <a:xfrm>
            <a:off x="1047750" y="666750"/>
            <a:ext cx="1619250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اسأل الخريطة: الجواب ومصدره، والخريطة عند الحدث</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عن غزوة بدر: جواب من الدرر السنية وصحيح البخاري مع روابطهما، والخريطة تنتقل إلى بدر مع زر للعودة</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السيرة قصةً على الخريطة</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بالعربية والإنجليزية، وتُروى القصة كاملة صوتياً بالإنجليزية (العربية قيد التطوير)</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القصة على الخريطة</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142 حدثًا بالترتيب على الخريطة، تُروى خطوة بخطوة</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67" name="Google Shape;867;p27"/>
          <p:cNvPicPr preferRelativeResize="0"/>
          <p:nvPr/>
        </p:nvPicPr>
        <p:blipFill rotWithShape="1">
          <a:blip r:embed="rId6">
            <a:alphaModFix/>
          </a:blip>
          <a:srcRect b="0" l="0" r="0" t="0"/>
          <a:stretch/>
        </p:blipFill>
        <p:spPr>
          <a:xfrm>
            <a:off x="10458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السور في سياقها</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الآيات مع أحداثها، من الصحيحين وموسوعة التفسير</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0" name="Google Shape;870;p27"/>
          <p:cNvPicPr preferRelativeResize="0"/>
          <p:nvPr/>
        </p:nvPicPr>
        <p:blipFill rotWithShape="1">
          <a:blip r:embed="rId7">
            <a:alphaModFix/>
          </a:blip>
          <a:srcRect b="0" l="0" r="0" t="0"/>
          <a:stretch/>
        </p:blipFill>
        <p:spPr>
          <a:xfrm>
            <a:off x="64579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اسأل الخريطة</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يجيب من المصادر ويذكرها، وينقل الخريطة إلى الحدث</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3" name="Google Shape;873;p27"/>
          <p:cNvPicPr preferRelativeResize="0"/>
          <p:nvPr/>
        </p:nvPicPr>
        <p:blipFill rotWithShape="1">
          <a:blip r:embed="rId8">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ملخص السيرة</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21 لحظة بنصوص الدرر، مع السؤال عن كل لحظة</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القيمة المضافة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مدخل إلى كتب السيرة</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لا تُغني عنها، بل تقرّبها للمبتدئ</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87" name="Google Shape;887;p28"/>
          <p:cNvSpPr txBox="1"/>
          <p:nvPr>
            <p:ph idx="3" type="body"/>
          </p:nvPr>
        </p:nvSpPr>
        <p:spPr>
          <a:xfrm>
            <a:off x="969645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كتب السيرة والبحث</a:t>
            </a:r>
            <a:endParaRPr/>
          </a:p>
        </p:txBody>
      </p:sp>
      <p:sp>
        <p:nvSpPr>
          <p:cNvPr id="888" name="Google Shape;888;p28"/>
          <p:cNvSpPr txBox="1"/>
          <p:nvPr>
            <p:ph idx="4" type="body"/>
          </p:nvPr>
        </p:nvSpPr>
        <p:spPr>
          <a:xfrm>
            <a:off x="969645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مصادر موثوقة، لكنها نصوص طويلة ومفصّلة</a:t>
            </a:r>
            <a:endParaRPr/>
          </a:p>
        </p:txBody>
      </p:sp>
      <p:sp>
        <p:nvSpPr>
          <p:cNvPr id="889" name="Google Shape;889;p28"/>
          <p:cNvSpPr txBox="1"/>
          <p:nvPr>
            <p:ph idx="5" type="body"/>
          </p:nvPr>
        </p:nvSpPr>
        <p:spPr>
          <a:xfrm>
            <a:off x="140970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بداية</a:t>
            </a:r>
            <a:endParaRPr/>
          </a:p>
        </p:txBody>
      </p:sp>
      <p:sp>
        <p:nvSpPr>
          <p:cNvPr id="890" name="Google Shape;890;p28"/>
          <p:cNvSpPr txBox="1"/>
          <p:nvPr>
            <p:ph idx="6" type="body"/>
          </p:nvPr>
        </p:nvSpPr>
        <p:spPr>
          <a:xfrm>
            <a:off x="140970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المصادر نفسها، قصةً على الخريطة مع مساعد يجيب منها</a:t>
            </a:r>
            <a:endParaRPr/>
          </a:p>
        </p:txBody>
      </p:sp>
      <p:sp>
        <p:nvSpPr>
          <p:cNvPr id="891" name="Google Shape;891;p28"/>
          <p:cNvSpPr txBox="1"/>
          <p:nvPr>
            <p:ph idx="7" type="body"/>
          </p:nvPr>
        </p:nvSpPr>
        <p:spPr>
          <a:xfrm>
            <a:off x="969645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عمق وتفصيل كامل</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تحتاج وقتًا وخلفية لربط الأحداث بأماكنها وآياتها</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للمتعلم المتقدم والباحث</a:t>
            </a:r>
            <a:endParaRPr/>
          </a:p>
        </p:txBody>
      </p:sp>
      <p:sp>
        <p:nvSpPr>
          <p:cNvPr id="892" name="Google Shape;892;p28"/>
          <p:cNvSpPr txBox="1"/>
          <p:nvPr>
            <p:ph idx="8" type="body"/>
          </p:nvPr>
        </p:nvSpPr>
        <p:spPr>
          <a:xfrm>
            <a:off x="140970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يرى الحدث ومكانه وآياته، ويسأل بالعربية أو الإنجليزية</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مختصر، وكل جواب يحيل إلى مصدره في الكتب</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للمبتدئ وغير المسلم والمسلم الجديد</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بداية</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bidaya-sirah.vercel.app  ·  github.com/omarbintalib/Bidaya</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شركاء التحدي</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الإتاحة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الاستخدام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كيف نتحقق</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المصدر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142 حدثًا: العناوين والتواريخ والنصوص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كل حدث برابطه؛ ونصوص الملخص حرفية يفحصها اختبار آلي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الدرر السنية: الموسوعة التاريخية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sunnah.com و 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94 سجلًا يربط الآيات بأحداثها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روجع 223 رقم حديث مع نصه، وحُذف الخطأ</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الصحيحان وموسوعة التفسير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9820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سياق السيرة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حُذفت الروايات الضعيفة المعروفة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الرحيق المختوم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11314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 والحسن فقط؛ استُبعدت 836 رواية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للواحدي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المصادر</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المصادر المعتمدة وكيف نتحقق منها</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بيانات بداية من هذه المصادر برابطها، والمساعد يجيب من نصوصها ويذكرها</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سجل الأدوات والتراخيص (النماذج، الخطوط، الأصوات، الخرائط): docs/SOURCES_AND_LICENSES.md</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