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image/jpeg" Extension="jp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26.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8.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1.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6" r:id="rId16"/>
    <p:sldId id="282" r:id="rId32"/>
    <p:sldId id="288" r:id="rId51"/>
    <p:sldId id="289" r:id="rId52"/>
    <p:sldId id="280" r:id="rId30"/>
    <p:sldId id="291" r:id="rId54"/>
    <p:sldId id="281" r:id="rId31"/>
    <p:sldId id="292" r:id="rId55"/>
    <p:sldId id="279" r:id="rId29"/>
    <p:sldId id="276" r:id="rId26"/>
    <p:sldId id="272" r:id="rId22"/>
    <p:sldId id="287" r:id="rId50"/>
    <p:sldId id="270" r:id="rId20"/>
    <p:sldId id="290" r:id="rId53"/>
    <p:sldId id="273" r:id="rId23"/>
    <p:sldId id="274" r:id="rId24"/>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Relationships xmlns="http://schemas.openxmlformats.org/package/2006/relationships"><Relationship Id="rId40" Type="http://schemas.openxmlformats.org/officeDocument/2006/relationships/font" Target="fonts/Urbanist-boldItalic.fntdata"/><Relationship Id="rId42" Type="http://schemas.openxmlformats.org/officeDocument/2006/relationships/font" Target="fonts/ReadexProMedium-bold.fntdata"/><Relationship Id="rId41" Type="http://schemas.openxmlformats.org/officeDocument/2006/relationships/font" Target="fonts/ReadexProMedium-regular.fntdata"/><Relationship Id="rId44" Type="http://schemas.openxmlformats.org/officeDocument/2006/relationships/font" Target="fonts/ReadexProSemiBold-bold.fntdata"/><Relationship Id="rId43" Type="http://schemas.openxmlformats.org/officeDocument/2006/relationships/font" Target="fonts/ReadexProSemiBold-regular.fntdata"/><Relationship Id="rId46" Type="http://schemas.openxmlformats.org/officeDocument/2006/relationships/font" Target="fonts/ReadexPro-bold.fntdata"/><Relationship Id="rId45" Type="http://schemas.openxmlformats.org/officeDocument/2006/relationships/font" Target="fonts/ReadexPr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48" Type="http://schemas.openxmlformats.org/officeDocument/2006/relationships/font" Target="fonts/ReadexProLight-bold.fntdata"/><Relationship Id="rId47" Type="http://schemas.openxmlformats.org/officeDocument/2006/relationships/font" Target="fonts/ReadexProLight-regular.fntdata"/><Relationship Id="rId49" Type="http://customschemas.google.com/relationships/presentationmetadata" Target="metadata"/><Relationship Id="rId5" Type="http://schemas.openxmlformats.org/officeDocument/2006/relationships/notesMaster" Target="notesMasters/notesMaster1.xml"/><Relationship Id="rId31" Type="http://schemas.openxmlformats.org/officeDocument/2006/relationships/slide" Target="slides/slide26.xml"/><Relationship Id="rId30" Type="http://schemas.openxmlformats.org/officeDocument/2006/relationships/slide" Target="slides/slide25.xml"/><Relationship Id="rId32" Type="http://schemas.openxmlformats.org/officeDocument/2006/relationships/slide" Target="slides/slide27.xml"/><Relationship Id="rId37" Type="http://schemas.openxmlformats.org/officeDocument/2006/relationships/font" Target="fonts/Urbanist-regular.fntdata"/><Relationship Id="rId36" Type="http://schemas.openxmlformats.org/officeDocument/2006/relationships/slide" Target="slides/slide31.xml"/><Relationship Id="rId39" Type="http://schemas.openxmlformats.org/officeDocument/2006/relationships/font" Target="fonts/Urbanist-italic.fntdata"/><Relationship Id="rId38" Type="http://schemas.openxmlformats.org/officeDocument/2006/relationships/font" Target="fonts/Urbanist-bold.fntdata"/><Relationship Id="rId20" Type="http://schemas.openxmlformats.org/officeDocument/2006/relationships/slide" Target="slides/slide15.xml"/><Relationship Id="rId22" Type="http://schemas.openxmlformats.org/officeDocument/2006/relationships/slide" Target="slides/slide17.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9" Type="http://schemas.openxmlformats.org/officeDocument/2006/relationships/slide" Target="slides/slide24.xml"/><Relationship Id="rId13" Type="http://schemas.openxmlformats.org/officeDocument/2006/relationships/slide" Target="slides/slide8.xml"/><Relationship Id="rId16" Type="http://schemas.openxmlformats.org/officeDocument/2006/relationships/slide" Target="slides/slide11.xml"/>  <Relationship Id="rId50" Type="http://schemas.openxmlformats.org/officeDocument/2006/relationships/slide" Target="slides/slide32.xml"/>
  <Relationship Id="rId51" Type="http://schemas.openxmlformats.org/officeDocument/2006/relationships/slide" Target="slides/slide33.xml"/>
  <Relationship Id="rId52" Type="http://schemas.openxmlformats.org/officeDocument/2006/relationships/slide" Target="slides/slide34.xml"/>
  <Relationship Id="rId53" Type="http://schemas.openxmlformats.org/officeDocument/2006/relationships/slide" Target="slides/slide35.xml"/>
  <Relationship Id="rId54" Type="http://schemas.openxmlformats.org/officeDocument/2006/relationships/slide" Target="slides/slide36.xml"/>
  <Relationship Id="rId55" Type="http://schemas.openxmlformats.org/officeDocument/2006/relationships/slide" Target="slides/slide37.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خريطة تفاعلية تروي السيرة النبوية في الزمان والمكان، مع مساعد ذكي يجيب من المصادر. المسار الثالث.</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المستفيد: غير المسلمين والمسلمين الجدد. السيرة مدخل واضح للإسلام، لكن كتبها طويلة ومفصّلة على من يبدأ.</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لم يُعطِ المساعد معلومة خاطئة في اختبار الأسئلة الخمسين: ما لم يجده في المصادر امتنع عنه. وأعدنا الأسئلة الخمسين مرتين: النتيجة نفسها في 47، ومصدر مشترك في 45، والحدث نفسه على الخريطة في 40، ولا تعارض في المعلومات بين المحاولتين. التحسن مقيس على مجموعة الأسئلة الستين نفسها قبل التعديل وبعده. ونذكر الحدود: تتغير الصياغة بين المحاولات، والعربية بحروف لاتينية تُرفض أحيانًا، والحساب بين حدثين قد يخطئ بسنة. كل سؤال وجوابه منشور في المستودع لإعادة التحقق.</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نلتزم مستويات المحتوى في المرجعية العلمية: جواب موثق، ذكر الخلاف، والإحالة في الفتوى.</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المرحلة الأولى تعمل الآن على الموقع الحي، والمراحل التالية خطة مقترحة. لم نختبر بداية بعد مع الفئة المستهدفة؛ هذا أول ما نقترحه، بمعيار نجاح المسار: تحسّن فهم المستفيد، ونقيسه بأسئلة الفصول الموجودة في بداية قبل القراءة وبعدها، دون جمع بيانات شخصية. سجلات الآيات والأشخاص كلها اعتمدها مسؤول المحتوى، وحالة مراجعة كل سجل مدوّنة في البيانات. ورواية القصة صوتياً بالعربية قيد التطوير (الإنجليزية متاحة الآن). وبعد ذلك: لغات أخرى يحتاجها المستفيدون، مثل الأردية والإندونيسية والفرنسية، بترجمات معتمدة للنصوص والمصادر، ثم توسيع الأحداث والمصادر.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فريق من ثلاثة أعضاء يغطي التقنية والمحتوى والاختبار.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التقنيات: نموذجان مفتوحان للبحث (bge-m3 ومعيد الترتيب)، ونموذج لغوي للفهم والصياغة، وتحويل النص إلى كلام لرواية القصة كاملة بالإنجليزية (العربية قيد التطوير)، وموقع وخادم مستضافان.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آلية العمل: نموذج لغوي يفهم السؤال، بحث في 2,905 نصًا من المصادر ثم ترتيبها، جواب من المصادر مع روابطها أو امتناع، ثم تنتقل الخريطة إلى الحدث. وفي اختبار 50 سؤالًا صعبًا لم يرد جواب بمعلومة خاطئة.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مثال حي من المساعد الذكي: سؤال عن بدر، والجواب من الدرر السنية والرحيق المختوم مع الروابط، والخريطة تنتقل إلى بدر.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30" name="Google Shape;83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الملخص، وبطاقة الشخص التي يفتحها المساعد، وإعدادات الإتاحة على الجوال. رسائل الامتناع توضح الخطوة التالية: الرئاسة العامة للإفتاء أو أقرب مركز إسلامي.</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أربعة عناصر: القصة على الخريطة، السور في سياقها، اسأل الخريطة، ملخص السيرة. كلها بالعربية والإنجليزية، ويمكن الاستماع إلى القصة كاملة بصوت مقروء بالإنجليزية، والنسخة العربية قيد التطوير.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شكرًا لكم. الموقع الحي والمستودع في الشريحة.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bidaya_ask.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bidaya_summary.jpg"/><Relationship Id="rId6" Type="http://schemas.openxmlformats.org/officeDocument/2006/relationships/image" Target="../media/bidaya_person.jpg"/><Relationship Id="rId7" Type="http://schemas.openxmlformats.org/officeDocument/2006/relationships/image" Target="../media/bidaya_phone-a11y.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9"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10"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story.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verses.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quiz.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بداية</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خريطة تفاعلية مدعومة بالذكاء الاصطناعي تروي سيرة النبي ﷺ في الزمان والمكان، مع مساعد يجيب من المصادر المعتمدة بالعربية والإنجليزية</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فريق بداية</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6 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لماذا يصعب فهم السيرة على المبتدئ؟</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السيرة من أوضح الطرق لفهم الإسلام، لكن كتبها طويلة على من يبدأ</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نصوص طويلة</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كتب السيرة مفصّلة وطويلة، ويصعب على المبتدئ أن يعرف من أين يبدأ</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أماكن بلا خريطة</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بدر وأحد والحديبية أسماء بلا موقع عند من يسمعها أول مرة</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آيات بلا سياق</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كثير من آيات القرآن نزلت في مواقف من السيرة، والمبتدئ لا يعرف أيها</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صعوبة التحقق</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يصعب على غير المختص معرفة الموثوق مما يقرؤه على الإنترنت</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اختبار الإجابات</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بعد إضافة معيد الترتيب وتنقية المصادر: 97.9% بدل 95.8%، والامتناع عما لا مصدر له 100% بدل 83%</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97.9%</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إجابات بمصدر صحيح</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47 من 48 سؤالًا، والباقي امتناع</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100%</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امتناع صحيح</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12 سؤالًا عن الفتوى وما لا مصدر له</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معلومة خاطئة</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في 50 جوابًا صعبًا؛ ما لم يجده امتنع عنه</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7.5 ث</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زمن الجواب</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الوسيط على الموقع الحي</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الثبات: أُعيدت الأسئلة الخمسون مرتين، فجاءت النتيجة نفسها في 47 منها بلا تعارض في المعلومات، وتختلف الصياغة فقط. كل سؤال وجوابه في docs/evaluation</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الموثوقية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مستويات المحتوى وضبط الاستجابة</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كما في المرجعية العلمية للتحدي، وما تفعله بداية في كل مستوى</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في الاختبار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ما تفعله بداية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أمثلة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المستوى</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بمصدر صحيح أو امتناع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مباشر مع رابط المصدر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متى كانت غزوة بدر؟ من هو أبو بكر؟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(أ) معلومات مستقرة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من المصادر مع المرجع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لماذا قبل النبي ﷺ صلح الحديبية؟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 شرح وتعريف</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صحيحة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ينقل ما في المصادر، ويذكر الخلاف إن ذكرته</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عدد شهداء أحد، سنوات مكة بعد البعثة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 مسائل خلافية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6 من 6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امتناع وإحالة إلى الرئاسة العامة للإفتاء</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هل يجوز…؟ ما حكم…؟</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(د) فتوى أو حالة شخصية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الخصوصية: بلا حسابات ولا بيانات شخصية؛ موضع القراءة وسجل الأسئلة في متصفح المستخدم فقط، والمساعد يصنّف السؤال لا السائل</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خطة 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الخطوات التالية</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ما يعمل الآن، وما نقترحه بعده</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التشغيل الحالي</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الآن</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موقع حي بالعربية والإنجليزية</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اختبار المستفيدين</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الشهر الأول</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أسئلة الفصول قبل القراءة وبعدها، مع مسلمين جدد وغير مسلمين</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مراجعة المحتوى</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مستمر</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كل سجل جديد يعتمده مسؤول المحتوى قبل نشره</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تحسين المساعد</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كل تعديل</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إعادة اختبار الأسئلة الخمسين قبل النشر</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الصوت ولغات أخرى</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بعد ذلك</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القصة مسموعة بالعربية (قيد التطوير)، ثم لغات أخرى بترجمات معتمدة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فريق بداية: التقنية والمحتوى والاختبار</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92" name="Google Shape;692;p19"/>
          <p:cNvSpPr/>
          <p:nvPr>
            <p:ph idx="3" type="pic"/>
          </p:nvPr>
        </p:nvSpPr>
        <p:spPr>
          <a:xfrm>
            <a:off x="12192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3" name="Google Shape;693;p19"/>
          <p:cNvSpPr txBox="1"/>
          <p:nvPr>
            <p:ph idx="4" type="body"/>
          </p:nvPr>
        </p:nvSpPr>
        <p:spPr>
          <a:xfrm>
            <a:off x="11715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عمر بن طالب</a:t>
            </a:r>
            <a:endParaRPr/>
          </a:p>
        </p:txBody>
      </p:sp>
      <p:sp>
        <p:nvSpPr>
          <p:cNvPr id="694" name="Google Shape;694;p19"/>
          <p:cNvSpPr txBox="1"/>
          <p:nvPr>
            <p:ph idx="5" type="body"/>
          </p:nvPr>
        </p:nvSpPr>
        <p:spPr>
          <a:xfrm>
            <a:off x="11715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الذكاء الاصطناعي: المساعد، والتبسيط والترجمة، ودقة الإجابات</a:t>
            </a:r>
            <a:endParaRPr/>
          </a:p>
        </p:txBody>
      </p:sp>
      <p:sp>
        <p:nvSpPr>
          <p:cNvPr id="695" name="Google Shape;695;p19"/>
          <p:cNvSpPr/>
          <p:nvPr>
            <p:ph idx="6" type="pic"/>
          </p:nvPr>
        </p:nvSpPr>
        <p:spPr>
          <a:xfrm>
            <a:off x="81915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6" name="Google Shape;696;p19"/>
          <p:cNvSpPr txBox="1"/>
          <p:nvPr>
            <p:ph idx="7" type="body"/>
          </p:nvPr>
        </p:nvSpPr>
        <p:spPr>
          <a:xfrm>
            <a:off x="77152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الياس التركستاني</a:t>
            </a:r>
            <a:endParaRPr/>
          </a:p>
        </p:txBody>
      </p:sp>
      <p:sp>
        <p:nvSpPr>
          <p:cNvPr id="697" name="Google Shape;697;p19"/>
          <p:cNvSpPr txBox="1"/>
          <p:nvPr>
            <p:ph idx="8" type="body"/>
          </p:nvPr>
        </p:nvSpPr>
        <p:spPr>
          <a:xfrm>
            <a:off x="77152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الواجهة وتجربة المستخدم: الخريطة والخط الزمني، ورحلة التعلم</a:t>
            </a:r>
            <a:endParaRPr/>
          </a:p>
        </p:txBody>
      </p:sp>
      <p:sp>
        <p:nvSpPr>
          <p:cNvPr id="698" name="Google Shape;698;p19"/>
          <p:cNvSpPr/>
          <p:nvPr>
            <p:ph idx="9" type="pic"/>
          </p:nvPr>
        </p:nvSpPr>
        <p:spPr>
          <a:xfrm>
            <a:off x="4191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9" name="Google Shape;699;p19"/>
          <p:cNvSpPr txBox="1"/>
          <p:nvPr>
            <p:ph idx="13" type="body"/>
          </p:nvPr>
        </p:nvSpPr>
        <p:spPr>
          <a:xfrm>
            <a:off x="3714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حسان الغامدي</a:t>
            </a:r>
            <a:endParaRPr/>
          </a:p>
        </p:txBody>
      </p:sp>
      <p:sp>
        <p:nvSpPr>
          <p:cNvPr id="700" name="Google Shape;700;p19"/>
          <p:cNvSpPr txBox="1"/>
          <p:nvPr>
            <p:ph idx="14" type="body"/>
          </p:nvPr>
        </p:nvSpPr>
        <p:spPr>
          <a:xfrm>
            <a:off x="3714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المحتوى والمراجعة: جمع المصادر، ومراجعة الأحداث والمصطلحات</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الترخيص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دوره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التفاصيل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المكوّن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البحث في المصادر بالعربية والإنجليزية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بحث بالمعنى وبالكلمات معًا في 2,905 نصًا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Apache-2.0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ترتيب نتائج البحث</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يقدّم النصوص الأقرب إلى السؤال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bge-reranker-v2-m3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terms</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فهم السؤال وكتابة الجواب</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نصوص المصادر فقط، ويُرفض الجواب بلا استشهاد صحيح</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gpt-6-luna</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والخادم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على Vercel، والخادم على Modal بمعالج رسومي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React + FastAPI</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الاستماع إلى القصة كاملة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بالإنجليزية الآن، والعربية قيد التطوير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Text-to-speech</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التقنيات</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مكوّنات الذكاء الاصطناعي والمنصة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كل مكوّن، ودوره في الحل، وترخيصه</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Details: backend/README.md · docs/SOURCES_AND_LICENSES.md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الذكاء الاصطناعي</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يجيب «اسأل الخريطة»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سؤال المستخدم إلى الجواب على الخريطة</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السؤال</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بالعربية أو الإنجليزية</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سياق المحادثة لأسئلة المتابعة</a:t>
            </a:r>
            <a:endParaRPr>
              <a:solidFill>
                <a:schemeClr val="dk1"/>
              </a:solidFill>
              <a:latin typeface="Readex Pro"/>
              <a:ea typeface="Readex Pro"/>
              <a:cs typeface="Readex Pro"/>
              <a:sym typeface="Readex Pro"/>
            </a:endParaRPr>
          </a:p>
          <a:p>
            <a:pPr indent="0" lvl="0" marL="0" rtl="1" algn="r">
              <a:lnSpc>
                <a:spcPct val="115000"/>
              </a:lnSpc>
              <a:spcBef>
                <a:spcPts val="0"/>
              </a:spcBef>
              <a:spcAft>
                <a:spcPts val="0"/>
              </a:spcAft>
              <a:buNone/>
            </a:pPr>
            <a:r>
              <a:t/>
            </a:r>
            <a:endParaRPr sz="1201"/>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الفهم والبحث</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نموذج لغوي يصنّف السؤال ويعيد صياغته</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بحث في 2,905 نصًا من المصادر ثم ترتيبها</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جواب موثّق</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يجيب من المصادر مع روابطها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وإن لم يجد فيها جوابًا امتنع</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على الخريطة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تنتقل الخريطة إلى الحدث أو بطاقة الشخص</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زر للعودة إلى موضع القراءة</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50" name="Screenshot 1" descr="Ask the map: an answer about Badr with its sources, the map at Bad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اسأل الخريطة: مساعد بالذكاء الاصطناعي يجيب من المصادر</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لمساعد الذكاء الاصطناعي عن غزوة بدر: جواب من الدرر السنية والرحيق المختوم مع روابطهما، وتنتقل الخريطة إلى بدر مع زر للعودة</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التجربة</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على الحاسب والجوال، مع إعدادات الإتاحة</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60" name="Screenshot 1" descr="The Sirah summary on the map"/>
          <p:cNvPicPr>
            <a:picLocks noChangeAspect="1"/>
          </p:cNvPicPr>
          <p:nvPr/>
        </p:nvPicPr>
        <p:blipFill>
          <a:blip r:embed="rId5"/>
          <a:stretch>
            <a:fillRect/>
          </a:stretch>
        </p:blipFill>
        <p:spPr>
          <a:xfrm>
            <a:off x="12077700" y="4369669"/>
            <a:ext cx="4762500" cy="2976562"/>
          </a:xfrm>
          <a:prstGeom prst="roundRect">
            <a:avLst>
              <a:gd fmla="val 5252" name="adj"/>
            </a:avLst>
          </a:prstGeom>
          <a:ln cap="flat" cmpd="sng" w="11425">
            <a:solidFill>
              <a:srgbClr val="4A5590"/>
            </a:solidFill>
            <a:prstDash val="solid"/>
            <a:round/>
            <a:headEnd len="sm" w="sm" type="none"/>
            <a:tailEnd len="sm" w="sm" type="none"/>
          </a:ln>
        </p:spPr>
      </p:pic>
      <p:sp>
        <p:nvSpPr>
          <p:cNvPr id="847" name="Google Shape;847;p26"/>
          <p:cNvSpPr txBox="1"/>
          <p:nvPr>
            <p:ph idx="3" type="body"/>
          </p:nvPr>
        </p:nvSpPr>
        <p:spPr>
          <a:xfrm>
            <a:off x="121158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ملخص السيرة بالإنجليزية: 21 لحظة بنصوصها وآياتها</a:t>
            </a:r>
            <a:endParaRPr/>
          </a:p>
        </p:txBody>
      </p:sp>
      <p:sp>
        <p:nvSpPr>
          <p:cNvPr id="848" name="Google Shape;848;p26"/>
          <p:cNvSpPr txBox="1"/>
          <p:nvPr>
            <p:ph idx="5" type="body"/>
          </p:nvPr>
        </p:nvSpPr>
        <p:spPr>
          <a:xfrm>
            <a:off x="676275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بطاقة الشخص: يفتحها المساعد الذكي عند السؤال عن شخص</a:t>
            </a:r>
            <a:endParaRPr/>
          </a:p>
        </p:txBody>
      </p:sp>
      <p:sp>
        <p:nvSpPr>
          <p:cNvPr id="849" name="Google Shape;849;p26"/>
          <p:cNvSpPr txBox="1"/>
          <p:nvPr>
            <p:ph idx="7" type="body"/>
          </p:nvPr>
        </p:nvSpPr>
        <p:spPr>
          <a:xfrm>
            <a:off x="14097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إعدادات الإتاحة: حجم النص، والتباعد، والألوان، والخط، والحركة</a:t>
            </a:r>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9261" name="Screenshot 2" descr="A person card opened by the AI assistant"/>
          <p:cNvPicPr>
            <a:picLocks noChangeAspect="1"/>
          </p:cNvPicPr>
          <p:nvPr/>
        </p:nvPicPr>
        <p:blipFill>
          <a:blip r:embed="rId6"/>
          <a:stretch>
            <a:fillRect/>
          </a:stretch>
        </p:blipFill>
        <p:spPr>
          <a:xfrm>
            <a:off x="6743700" y="4369594"/>
            <a:ext cx="4762500" cy="2976562"/>
          </a:xfrm>
          <a:prstGeom prst="roundRect">
            <a:avLst>
              <a:gd fmla="val 5252" name="adj"/>
            </a:avLst>
          </a:prstGeom>
          <a:ln cap="flat" cmpd="sng" w="11425">
            <a:solidFill>
              <a:srgbClr val="4A5590"/>
            </a:solidFill>
            <a:prstDash val="solid"/>
            <a:round/>
            <a:headEnd len="sm" w="sm" type="none"/>
            <a:tailEnd len="sm" w="sm" type="none"/>
          </a:ln>
        </p:spPr>
      </p:pic>
      <p:pic>
        <p:nvPicPr>
          <p:cNvPr id="9262" name="Screenshot 3" descr="Accessibility settings on a phone"/>
          <p:cNvPicPr>
            <a:picLocks noChangeAspect="1"/>
          </p:cNvPicPr>
          <p:nvPr/>
        </p:nvPicPr>
        <p:blipFill>
          <a:blip r:embed="rId7"/>
          <a:stretch>
            <a:fillRect/>
          </a:stretch>
        </p:blipFill>
        <p:spPr>
          <a:xfrm>
            <a:off x="2800609" y="3714750"/>
            <a:ext cx="1980682" cy="4286400"/>
          </a:xfrm>
          <a:prstGeom prst="roundRect">
            <a:avLst>
              <a:gd fmla="val 5252" name="adj"/>
            </a:avLst>
          </a:prstGeom>
          <a:ln cap="flat" cmpd="sng" w="11425">
            <a:solidFill>
              <a:srgbClr val="4A5590"/>
            </a:solidFill>
            <a:prstDash val="solid"/>
            <a:round/>
            <a:headEnd len="sm" w="sm" type="none"/>
            <a:tailEnd len="sm" w="sm" type="none"/>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السيرة قصةً على الخريطة</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بالعربية والإنجليزية، وتُروى القصة كاملة صوتياً بالإنجليزية (العربية قيد التطوير)</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القصة على الخريطة</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142 حدثًا على الخريطة خطوة بخطوة، وسؤال في نهاية كل فصل</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السور في سياقها</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الآيات مع أحداثها، من الصحيحين وموسوعة التفسير</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0" name="Google Shape;870;p27"/>
          <p:cNvPicPr preferRelativeResize="0"/>
          <p:nvPr/>
        </p:nvPicPr>
        <p:blipFill rotWithShape="1">
          <a:blip r:embed="rId7">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اسأل الخريطة</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مساعد بالذكاء الاصطناعي يجيب من المصادر وينقل الخريطة إلى الحدث</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ملخص السيرة</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21 لحظة بنصوص الدرر، مع السؤال عن كل لحظة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بداية</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bidaya-sirah.vercel.app  ·  github.com/omarbintalib/Bidaya</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شركاء التحدي</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الإتاحة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الاستخدام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كيف نتحقق</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المصدر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العناوين والتواريخ والنصوص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كل حدث برابطه؛ ونصوص الملخص حرفية يفحصها اختبار آلي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الدرر السنية: الموسوعة التاريخية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sunnah.com و 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94 سجلًا يربط الآيات بأحداثها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روجع 223 رقم حديث مع نصه، وحُذف الخطأ</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الصحيحان وموسوعة التفسير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9820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سياق السيرة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حُذفت الروايات الضعيفة المعروفة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الرحيق المختوم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11314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 والحسن فقط؛ استُبعدت 836 رواية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للواحدي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المصادر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المصادر المعتمدة وكيف نتحقق منها</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بيانات بداية من هذه المصادر برابطها، والمساعد يجيب من نصوصها ويذكرها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سجل الأدوات والتراخيص (النماذج، الخطوط، الأصوات، الخرائط): docs/SOURCES_AND_LICENSES.md</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30" name="Screenshot 1" descr="The story on the map: the Prophet’s letters to the kings, the event text and its people"/>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القصة على الخريطة: رسائل النبي ﷺ إلى الملوك</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كل حدث في مكانه مع نصه من الدرر ومصدره: هنا رسائله ﷺ من المدينة إلى الملوك، والشخصيات، وخط زمني للأحداث الـ142</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40" name="Screenshot 1" descr="Verses linked to the Battle of Badr on its event card"/>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السور في سياقها: الآيات مع حدثها</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الآيات التي نزلت في غزوة بدر على بطاقة الحدث، كل آية بسورتها ورقمها ووجه ارتباطها</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المسؤول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البديل أو الضمان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التكلفة التقريبية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البند</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تعطّل أجاب الموقع من بياناته المحلية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0.59 دولار للساعة تُحسب بالثانية، وينام بعد 5 دقائق بلا أسئلة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الخادم ومعالج T4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الشيفرة تدعم Gemini بديلًا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نحو 450 سؤالًا في التطوير والاختبار كلّفت قرابة دولار واحد</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النموذج اللغوي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الواجهة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يُنقل إلى أي استضافة لمواقع ثابتة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موقع ثابت على Vercel، تكلفته منخفضة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حالة مراجعة السجلات مدوّنة في البيانات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وقت المراجع لاعتماد السجلات الجديدة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مراجعة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التشغيل</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التشغيل والتكلفة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ما يلزم لاستمرار بداية بعد التحدي: التكلفة، والبديل عند التعطل، والمسؤول</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سعر الخادم المعلن لدى Modal في أكتوبر 2026، وتكلفة النموذج من فاتورة المشروع الفعلية لدى OpenAI</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60" name="Screenshot 1" descr="The Hijra chapter question, answered, with the Dorar quote and the map at the Cave of Thaw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سؤال في نهاية كل فصل: يختبر القارئ ما فهمه</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فصل الهجرة: يختار الجواب أو يلمس المكان على الخريطة، ثم يرى الشرح ونص الدرر ومصدره، وتُعلَّم الفصول المُجابة في شريط الفصول</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كتاب سيرة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مساعد ذكاء اصطناعي عام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ما يحتاجه المبتدئ</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نص مرتب بلا خريطة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نص بلا خريطة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على خريطة تفاعلية وخط زمني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الأحداث في أماكنها وترتيبها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بعضها داخل النص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سُئل عنها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على بطاقة الحدث، بسورتها ووجه ارتباطها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الآيات مع حدثها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نعم، دون التزام بمصادر محددة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المصادر المعتمدة، مع روابطها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جواب عن سؤاله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قد يجيب عنه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يمتنع ويحيل إلى الرئاسة العامة للإفتاء</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سؤال يطلب فتوى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طُلب منه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سؤال في نهاية كل فصل، مع نص الدرر ومصدره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التحقق من فهمه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القيمة المضافة</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بداية مقارنة بما يجده المبتدئ اليوم</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لا تُغني عن كتب السيرة، بل تقرّبها وتحيل إليها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مقارنة بالخصائص المتاحة في كل بديل؛ أثر بداية في الفهم يُقاس في خطة الاستمرار</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