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image/jpeg" Extension="jp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5.xml"/>
  <Override ContentType="application/vnd.openxmlformats-officedocument.presentationml.slide+xml" PartName="/ppt/slides/slide31.xml"/>
  <Override ContentType="application/vnd.openxmlformats-officedocument.presentationml.slide+xml" PartName="/ppt/slides/slide2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63" r:id="rId13"/>
    <p:sldId id="266" r:id="rId16"/>
    <p:sldId id="282" r:id="rId32"/>
    <p:sldId id="288" r:id="rId51"/>
    <p:sldId id="289" r:id="rId52"/>
    <p:sldId id="280" r:id="rId30"/>
    <p:sldId id="291" r:id="rId54"/>
    <p:sldId id="292" r:id="rId55"/>
    <p:sldId id="279" r:id="rId29"/>
    <p:sldId id="294" r:id="rId57"/>
    <p:sldId id="272" r:id="rId22"/>
    <p:sldId id="270" r:id="rId20"/>
    <p:sldId id="293" r:id="rId56"/>
    <p:sldId id="290" r:id="rId53"/>
    <p:sldId id="273" r:id="rId23"/>
    <p:sldId id="274" r:id="rId24"/>
    <p:sldId id="286" r:id="rId36"/>
  </p:sldIdLst>
  <p:sldSz cy="10287000" cx="18288000"/>
  <p:notesSz cx="6858000" cy="9144000"/>
  <p:embeddedFontLst>
    <p:embeddedFont>
      <p:font typeface="Urbanist"/>
      <p:regular r:id="rId37"/>
      <p:bold r:id="rId38"/>
      <p:italic r:id="rId39"/>
      <p:boldItalic r:id="rId40"/>
    </p:embeddedFont>
    <p:embeddedFont>
      <p:font typeface="Readex Pro Medium"/>
      <p:regular r:id="rId41"/>
      <p:bold r:id="rId42"/>
    </p:embeddedFont>
    <p:embeddedFont>
      <p:font typeface="Readex Pro SemiBold"/>
      <p:regular r:id="rId43"/>
      <p:bold r:id="rId44"/>
    </p:embeddedFont>
    <p:embeddedFont>
      <p:font typeface="Readex Pro"/>
      <p:regular r:id="rId45"/>
      <p:bold r:id="rId46"/>
    </p:embeddedFont>
    <p:embeddedFont>
      <p:font typeface="Readex Pro Light"/>
      <p:regular r:id="rId47"/>
      <p:bold r:id="rId4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49" roundtripDataSignature="AMtx7mh1GeQrG1kO//gaBT9ZQp796F1rh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8ED9858-D163-4338-9E88-1F424354888F}">
  <a:tblStyle styleId="{B8ED9858-D163-4338-9E88-1F424354888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?><Relationships xmlns="http://schemas.openxmlformats.org/package/2006/relationships"><Relationship Id="rId40" Type="http://schemas.openxmlformats.org/officeDocument/2006/relationships/font" Target="fonts/Urbanist-boldItalic.fntdata"/><Relationship Id="rId42" Type="http://schemas.openxmlformats.org/officeDocument/2006/relationships/font" Target="fonts/ReadexProMedium-bold.fntdata"/><Relationship Id="rId41" Type="http://schemas.openxmlformats.org/officeDocument/2006/relationships/font" Target="fonts/ReadexProMedium-regular.fntdata"/><Relationship Id="rId44" Type="http://schemas.openxmlformats.org/officeDocument/2006/relationships/font" Target="fonts/ReadexProSemiBold-bold.fntdata"/><Relationship Id="rId43" Type="http://schemas.openxmlformats.org/officeDocument/2006/relationships/font" Target="fonts/ReadexProSemiBold-regular.fntdata"/><Relationship Id="rId46" Type="http://schemas.openxmlformats.org/officeDocument/2006/relationships/font" Target="fonts/ReadexPro-bold.fntdata"/><Relationship Id="rId45" Type="http://schemas.openxmlformats.org/officeDocument/2006/relationships/font" Target="fonts/ReadexPro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48" Type="http://schemas.openxmlformats.org/officeDocument/2006/relationships/font" Target="fonts/ReadexProLight-bold.fntdata"/><Relationship Id="rId47" Type="http://schemas.openxmlformats.org/officeDocument/2006/relationships/font" Target="fonts/ReadexProLight-regular.fntdata"/><Relationship Id="rId49" Type="http://customschemas.google.com/relationships/presentationmetadata" Target="metadata"/><Relationship Id="rId5" Type="http://schemas.openxmlformats.org/officeDocument/2006/relationships/notesMaster" Target="notesMasters/notesMaster1.xml"/><Relationship Id="rId30" Type="http://schemas.openxmlformats.org/officeDocument/2006/relationships/slide" Target="slides/slide25.xml"/><Relationship Id="rId32" Type="http://schemas.openxmlformats.org/officeDocument/2006/relationships/slide" Target="slides/slide27.xml"/><Relationship Id="rId37" Type="http://schemas.openxmlformats.org/officeDocument/2006/relationships/font" Target="fonts/Urbanist-regular.fntdata"/><Relationship Id="rId36" Type="http://schemas.openxmlformats.org/officeDocument/2006/relationships/slide" Target="slides/slide31.xml"/><Relationship Id="rId39" Type="http://schemas.openxmlformats.org/officeDocument/2006/relationships/font" Target="fonts/Urbanist-italic.fntdata"/><Relationship Id="rId38" Type="http://schemas.openxmlformats.org/officeDocument/2006/relationships/font" Target="fonts/Urbanist-bold.fntdata"/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29" Type="http://schemas.openxmlformats.org/officeDocument/2006/relationships/slide" Target="slides/slide24.xml"/><Relationship Id="rId13" Type="http://schemas.openxmlformats.org/officeDocument/2006/relationships/slide" Target="slides/slide8.xml"/><Relationship Id="rId16" Type="http://schemas.openxmlformats.org/officeDocument/2006/relationships/slide" Target="slides/slide11.xml"/>  
  <Relationship Id="rId51" Type="http://schemas.openxmlformats.org/officeDocument/2006/relationships/slide" Target="slides/slide33.xml"/>
  <Relationship Id="rId52" Type="http://schemas.openxmlformats.org/officeDocument/2006/relationships/slide" Target="slides/slide34.xml"/>
  <Relationship Id="rId53" Type="http://schemas.openxmlformats.org/officeDocument/2006/relationships/slide" Target="slides/slide35.xml"/>
  <Relationship Id="rId54" Type="http://schemas.openxmlformats.org/officeDocument/2006/relationships/slide" Target="slides/slide36.xml"/>
  <Relationship Id="rId55" Type="http://schemas.openxmlformats.org/officeDocument/2006/relationships/slide" Target="slides/slide37.xml"/>
  <Relationship Id="rId56" Type="http://schemas.openxmlformats.org/officeDocument/2006/relationships/slide" Target="slides/slide38.xml"/>
  <Relationship Id="rId57" Type="http://schemas.openxmlformats.org/officeDocument/2006/relationships/slide" Target="slides/slide39.xml"/>
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/>
            </a:lvl1pPr>
            <a:lvl2pPr indent="-228600" lvl="1" marL="9144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indent="-228600" lvl="2" marL="13716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indent="-228600" lvl="3" marL="18288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indent="-228600" lvl="4" marL="22860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indent="-228600" lvl="5" marL="27432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indent="-228600" lvl="6" marL="32004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indent="-228600" lvl="7" marL="36576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indent="-228600" lvl="8" marL="41148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81" name="Google Shape;481;p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482" name="Google Shape;482;p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1" name="Shape 5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p1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33" name="Google Shape;533;p1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534" name="Google Shape;534;p1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6" name="Shape 5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Google Shape;597;p1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98" name="Google Shape;598;p1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599" name="Google Shape;599;p1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2" name="Shape 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1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34" name="Google Shape;634;p1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635" name="Google Shape;635;p1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5" name="Shape 6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Google Shape;646;p1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47" name="Google Shape;647;p1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648" name="Google Shape;648;p1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p1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83" name="Google Shape;683;p1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684" name="Google Shape;684;p1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2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14" name="Google Shape;814;p2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815" name="Google Shape;815;p2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7" name="Shape 8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8" name="Google Shape;828;p2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29" name="Google Shape;829;p2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830" name="Google Shape;830;p2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3" name="Shape 8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4" name="Google Shape;854;p2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55" name="Google Shape;855;p2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856" name="Google Shape;856;p2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p3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11" name="Google Shape;911;p3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912" name="Google Shape;912;p3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10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غلاف المشروع">
  <p:cSld name="غلاف المشروع">
    <p:bg>
      <p:bgPr>
        <a:solidFill>
          <a:srgbClr val="12183F"/>
        </a:solidFill>
      </p:bgPr>
    </p:bg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3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876872"/>
            <a:ext cx="6572250" cy="1684781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14;p3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4954250" y="840995"/>
            <a:ext cx="2190750" cy="1385061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Google Shape;15;p3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78258" y="3190875"/>
            <a:ext cx="6701734" cy="6191250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34"/>
          <p:cNvSpPr txBox="1"/>
          <p:nvPr>
            <p:ph type="title"/>
          </p:nvPr>
        </p:nvSpPr>
        <p:spPr>
          <a:xfrm>
            <a:off x="8096250" y="3524250"/>
            <a:ext cx="9048750" cy="133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" name="Google Shape;17;p34"/>
          <p:cNvSpPr txBox="1"/>
          <p:nvPr>
            <p:ph idx="1" type="body"/>
          </p:nvPr>
        </p:nvSpPr>
        <p:spPr>
          <a:xfrm>
            <a:off x="8096250" y="5334000"/>
            <a:ext cx="9048750" cy="1619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" name="Google Shape;18;p34"/>
          <p:cNvSpPr txBox="1"/>
          <p:nvPr>
            <p:ph idx="2" type="body"/>
          </p:nvPr>
        </p:nvSpPr>
        <p:spPr>
          <a:xfrm>
            <a:off x="8953500" y="7762875"/>
            <a:ext cx="81915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" name="Google Shape;19;p34"/>
          <p:cNvSpPr txBox="1"/>
          <p:nvPr>
            <p:ph idx="3" type="body"/>
          </p:nvPr>
        </p:nvSpPr>
        <p:spPr>
          <a:xfrm>
            <a:off x="1066800" y="9391650"/>
            <a:ext cx="5429250" cy="4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حتويات العرض">
  <p:cSld name="محتويات العرض">
    <p:bg>
      <p:bgPr>
        <a:solidFill>
          <a:srgbClr val="12183F"/>
        </a:solidFill>
      </p:bgPr>
    </p:bg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21;p3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" name="Google Shape;22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3" name="Google Shape;23;p35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" name="Google Shape;24;p35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5" name="Google Shape;25;p35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6" name="Google Shape;26;p3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Google Shape;27;p35"/>
          <p:cNvSpPr txBox="1"/>
          <p:nvPr>
            <p:ph idx="2" type="body"/>
          </p:nvPr>
        </p:nvSpPr>
        <p:spPr>
          <a:xfrm>
            <a:off x="12382500" y="3857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" name="Google Shape;28;p35"/>
          <p:cNvSpPr txBox="1"/>
          <p:nvPr>
            <p:ph idx="3" type="body"/>
          </p:nvPr>
        </p:nvSpPr>
        <p:spPr>
          <a:xfrm>
            <a:off x="12382500" y="4724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" name="Google Shape;29;p35"/>
          <p:cNvSpPr txBox="1"/>
          <p:nvPr>
            <p:ph idx="4" type="body"/>
          </p:nvPr>
        </p:nvSpPr>
        <p:spPr>
          <a:xfrm>
            <a:off x="12382500" y="5419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0" name="Google Shape;30;p35"/>
          <p:cNvSpPr txBox="1"/>
          <p:nvPr>
            <p:ph idx="5" type="body"/>
          </p:nvPr>
        </p:nvSpPr>
        <p:spPr>
          <a:xfrm>
            <a:off x="7048500" y="3857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1" name="Google Shape;31;p35"/>
          <p:cNvSpPr txBox="1"/>
          <p:nvPr>
            <p:ph idx="6" type="body"/>
          </p:nvPr>
        </p:nvSpPr>
        <p:spPr>
          <a:xfrm>
            <a:off x="7048500" y="4724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2" name="Google Shape;32;p35"/>
          <p:cNvSpPr txBox="1"/>
          <p:nvPr>
            <p:ph idx="7" type="body"/>
          </p:nvPr>
        </p:nvSpPr>
        <p:spPr>
          <a:xfrm>
            <a:off x="7048500" y="5419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3" name="Google Shape;33;p35"/>
          <p:cNvSpPr txBox="1"/>
          <p:nvPr>
            <p:ph idx="8" type="body"/>
          </p:nvPr>
        </p:nvSpPr>
        <p:spPr>
          <a:xfrm>
            <a:off x="1714500" y="3857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4" name="Google Shape;34;p35"/>
          <p:cNvSpPr txBox="1"/>
          <p:nvPr>
            <p:ph idx="9" type="body"/>
          </p:nvPr>
        </p:nvSpPr>
        <p:spPr>
          <a:xfrm>
            <a:off x="1714500" y="4724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5" name="Google Shape;35;p35"/>
          <p:cNvSpPr txBox="1"/>
          <p:nvPr>
            <p:ph idx="13" type="body"/>
          </p:nvPr>
        </p:nvSpPr>
        <p:spPr>
          <a:xfrm>
            <a:off x="1714500" y="5419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6" name="Google Shape;36;p35"/>
          <p:cNvSpPr txBox="1"/>
          <p:nvPr>
            <p:ph idx="14" type="body"/>
          </p:nvPr>
        </p:nvSpPr>
        <p:spPr>
          <a:xfrm>
            <a:off x="12382500" y="6524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7" name="Google Shape;37;p35"/>
          <p:cNvSpPr txBox="1"/>
          <p:nvPr>
            <p:ph idx="15" type="body"/>
          </p:nvPr>
        </p:nvSpPr>
        <p:spPr>
          <a:xfrm>
            <a:off x="12382500" y="7391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8" name="Google Shape;38;p35"/>
          <p:cNvSpPr txBox="1"/>
          <p:nvPr>
            <p:ph idx="16" type="body"/>
          </p:nvPr>
        </p:nvSpPr>
        <p:spPr>
          <a:xfrm>
            <a:off x="12382500" y="8086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9" name="Google Shape;39;p35"/>
          <p:cNvSpPr txBox="1"/>
          <p:nvPr>
            <p:ph idx="17" type="body"/>
          </p:nvPr>
        </p:nvSpPr>
        <p:spPr>
          <a:xfrm>
            <a:off x="7048500" y="6524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0" name="Google Shape;40;p35"/>
          <p:cNvSpPr txBox="1"/>
          <p:nvPr>
            <p:ph idx="18" type="body"/>
          </p:nvPr>
        </p:nvSpPr>
        <p:spPr>
          <a:xfrm>
            <a:off x="7048500" y="7391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1" name="Google Shape;41;p35"/>
          <p:cNvSpPr txBox="1"/>
          <p:nvPr>
            <p:ph idx="19" type="body"/>
          </p:nvPr>
        </p:nvSpPr>
        <p:spPr>
          <a:xfrm>
            <a:off x="7048500" y="8086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2" name="Google Shape;42;p35"/>
          <p:cNvSpPr txBox="1"/>
          <p:nvPr>
            <p:ph idx="20" type="body"/>
          </p:nvPr>
        </p:nvSpPr>
        <p:spPr>
          <a:xfrm>
            <a:off x="1714500" y="6524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3" name="Google Shape;43;p35"/>
          <p:cNvSpPr txBox="1"/>
          <p:nvPr>
            <p:ph idx="21" type="body"/>
          </p:nvPr>
        </p:nvSpPr>
        <p:spPr>
          <a:xfrm>
            <a:off x="1714500" y="7391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4" name="Google Shape;44;p35"/>
          <p:cNvSpPr txBox="1"/>
          <p:nvPr>
            <p:ph idx="22" type="body"/>
          </p:nvPr>
        </p:nvSpPr>
        <p:spPr>
          <a:xfrm>
            <a:off x="1714500" y="8086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اصل قسم">
  <p:cSld name="فاصل قسم">
    <p:bg>
      <p:bgPr>
        <a:solidFill>
          <a:srgbClr val="12183F"/>
        </a:solidFill>
      </p:bgPr>
    </p:bg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Google Shape;46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Google Shape;4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87391"/>
            <a:ext cx="4000500" cy="1025519"/>
          </a:xfrm>
          <a:prstGeom prst="rect">
            <a:avLst/>
          </a:prstGeom>
          <a:noFill/>
          <a:ln>
            <a:noFill/>
          </a:ln>
        </p:spPr>
      </p:pic>
      <p:sp>
        <p:nvSpPr>
          <p:cNvPr id="48" name="Google Shape;48;p36"/>
          <p:cNvSpPr txBox="1"/>
          <p:nvPr>
            <p:ph idx="1" type="body"/>
          </p:nvPr>
        </p:nvSpPr>
        <p:spPr>
          <a:xfrm>
            <a:off x="13430250" y="3143250"/>
            <a:ext cx="3619500" cy="1238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9" name="Google Shape;49;p36"/>
          <p:cNvSpPr txBox="1"/>
          <p:nvPr>
            <p:ph type="title"/>
          </p:nvPr>
        </p:nvSpPr>
        <p:spPr>
          <a:xfrm>
            <a:off x="4953000" y="4810125"/>
            <a:ext cx="12096750" cy="1238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0" name="Google Shape;50;p36"/>
          <p:cNvSpPr txBox="1"/>
          <p:nvPr>
            <p:ph idx="2" type="body"/>
          </p:nvPr>
        </p:nvSpPr>
        <p:spPr>
          <a:xfrm>
            <a:off x="6667500" y="6572250"/>
            <a:ext cx="10382250" cy="1047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أربع نقاط">
  <p:cSld name="أربع نقاط">
    <p:bg>
      <p:bgPr>
        <a:solidFill>
          <a:srgbClr val="12183F"/>
        </a:solidFill>
      </p:bgPr>
    </p:bg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" name="Google Shape;52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" name="Google Shape;53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54" name="Google Shape;54;p37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5" name="Google Shape;55;p37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6" name="Google Shape;56;p37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7" name="Google Shape;57;p37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58" name="Google Shape;58;p3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" name="Google Shape;59;p37"/>
          <p:cNvSpPr txBox="1"/>
          <p:nvPr>
            <p:ph idx="3" type="body"/>
          </p:nvPr>
        </p:nvSpPr>
        <p:spPr>
          <a:xfrm>
            <a:off x="9810750" y="3952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0" name="Google Shape;60;p37"/>
          <p:cNvSpPr txBox="1"/>
          <p:nvPr>
            <p:ph idx="4" type="body"/>
          </p:nvPr>
        </p:nvSpPr>
        <p:spPr>
          <a:xfrm>
            <a:off x="9810750" y="4657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1" name="Google Shape;61;p37"/>
          <p:cNvSpPr txBox="1"/>
          <p:nvPr>
            <p:ph idx="5" type="body"/>
          </p:nvPr>
        </p:nvSpPr>
        <p:spPr>
          <a:xfrm>
            <a:off x="1714500" y="3952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2" name="Google Shape;62;p37"/>
          <p:cNvSpPr txBox="1"/>
          <p:nvPr>
            <p:ph idx="6" type="body"/>
          </p:nvPr>
        </p:nvSpPr>
        <p:spPr>
          <a:xfrm>
            <a:off x="1714500" y="4657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3" name="Google Shape;63;p37"/>
          <p:cNvSpPr txBox="1"/>
          <p:nvPr>
            <p:ph idx="7" type="body"/>
          </p:nvPr>
        </p:nvSpPr>
        <p:spPr>
          <a:xfrm>
            <a:off x="9810750" y="6619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4" name="Google Shape;64;p37"/>
          <p:cNvSpPr txBox="1"/>
          <p:nvPr>
            <p:ph idx="8" type="body"/>
          </p:nvPr>
        </p:nvSpPr>
        <p:spPr>
          <a:xfrm>
            <a:off x="9810750" y="7324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5" name="Google Shape;65;p37"/>
          <p:cNvSpPr txBox="1"/>
          <p:nvPr>
            <p:ph idx="9" type="body"/>
          </p:nvPr>
        </p:nvSpPr>
        <p:spPr>
          <a:xfrm>
            <a:off x="1714500" y="6619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6" name="Google Shape;66;p37"/>
          <p:cNvSpPr txBox="1"/>
          <p:nvPr>
            <p:ph idx="13" type="body"/>
          </p:nvPr>
        </p:nvSpPr>
        <p:spPr>
          <a:xfrm>
            <a:off x="1714500" y="7324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نص رئيسي">
  <p:cSld name="نص رئيسي">
    <p:bg>
      <p:bgPr>
        <a:solidFill>
          <a:srgbClr val="12183F"/>
        </a:solidFill>
      </p:bgPr>
    </p:bg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" name="Google Shape;68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9" name="Google Shape;69;p3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38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1" name="Google Shape;71;p38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2" name="Google Shape;72;p38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73" name="Google Shape;73;p3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" name="Google Shape;74;p38"/>
          <p:cNvSpPr txBox="1"/>
          <p:nvPr>
            <p:ph idx="2" type="body"/>
          </p:nvPr>
        </p:nvSpPr>
        <p:spPr>
          <a:xfrm>
            <a:off x="6191250" y="4000500"/>
            <a:ext cx="10953750" cy="266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5" name="Google Shape;75;p38"/>
          <p:cNvSpPr txBox="1"/>
          <p:nvPr>
            <p:ph idx="3" type="body"/>
          </p:nvPr>
        </p:nvSpPr>
        <p:spPr>
          <a:xfrm>
            <a:off x="6191250" y="7239000"/>
            <a:ext cx="10953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6" name="Google Shape;76;p38"/>
          <p:cNvSpPr txBox="1"/>
          <p:nvPr>
            <p:ph idx="4" type="body"/>
          </p:nvPr>
        </p:nvSpPr>
        <p:spPr>
          <a:xfrm>
            <a:off x="6191250" y="8001000"/>
            <a:ext cx="10953750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نص وصورة عريضة">
  <p:cSld name="نص وصورة عريضة">
    <p:bg>
      <p:bgPr>
        <a:solidFill>
          <a:srgbClr val="12183F"/>
        </a:solidFill>
      </p:bgPr>
    </p:bg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3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9" name="Google Shape;79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39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1" name="Google Shape;81;p39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2" name="Google Shape;82;p39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83" name="Google Shape;83;p39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39"/>
          <p:cNvSpPr/>
          <p:nvPr>
            <p:ph idx="2" type="pic"/>
          </p:nvPr>
        </p:nvSpPr>
        <p:spPr>
          <a:xfrm>
            <a:off x="1428750" y="4048125"/>
            <a:ext cx="8382000" cy="4714875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5" name="Google Shape;85;p39"/>
          <p:cNvSpPr txBox="1"/>
          <p:nvPr>
            <p:ph idx="3" type="body"/>
          </p:nvPr>
        </p:nvSpPr>
        <p:spPr>
          <a:xfrm>
            <a:off x="10763250" y="4095750"/>
            <a:ext cx="6381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6" name="Google Shape;86;p39"/>
          <p:cNvSpPr txBox="1"/>
          <p:nvPr>
            <p:ph idx="4" type="body"/>
          </p:nvPr>
        </p:nvSpPr>
        <p:spPr>
          <a:xfrm>
            <a:off x="10763250" y="4800600"/>
            <a:ext cx="6381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7" name="Google Shape;87;p39"/>
          <p:cNvSpPr txBox="1"/>
          <p:nvPr>
            <p:ph idx="5" type="body"/>
          </p:nvPr>
        </p:nvSpPr>
        <p:spPr>
          <a:xfrm>
            <a:off x="10763250" y="6667500"/>
            <a:ext cx="6381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8" name="Google Shape;88;p39"/>
          <p:cNvSpPr txBox="1"/>
          <p:nvPr>
            <p:ph idx="6" type="body"/>
          </p:nvPr>
        </p:nvSpPr>
        <p:spPr>
          <a:xfrm>
            <a:off x="10763250" y="7372350"/>
            <a:ext cx="6381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نص وصورة مربعة">
  <p:cSld name="نص وصورة مربعة">
    <p:bg>
      <p:bgPr>
        <a:solidFill>
          <a:srgbClr val="12183F"/>
        </a:solidFill>
      </p:bgPr>
    </p:bg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1" name="Google Shape;91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40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3" name="Google Shape;93;p40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4" name="Google Shape;94;p40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95" name="Google Shape;95;p40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40"/>
          <p:cNvSpPr/>
          <p:nvPr>
            <p:ph idx="2" type="pic"/>
          </p:nvPr>
        </p:nvSpPr>
        <p:spPr>
          <a:xfrm>
            <a:off x="2190750" y="3476625"/>
            <a:ext cx="5715000" cy="571500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7" name="Google Shape;97;p40"/>
          <p:cNvSpPr txBox="1"/>
          <p:nvPr>
            <p:ph idx="3" type="body"/>
          </p:nvPr>
        </p:nvSpPr>
        <p:spPr>
          <a:xfrm>
            <a:off x="10001250" y="3905250"/>
            <a:ext cx="7143750" cy="8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8" name="Google Shape;98;p40"/>
          <p:cNvSpPr txBox="1"/>
          <p:nvPr>
            <p:ph idx="4" type="body"/>
          </p:nvPr>
        </p:nvSpPr>
        <p:spPr>
          <a:xfrm>
            <a:off x="10001250" y="5191125"/>
            <a:ext cx="7143750" cy="2428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9" name="Google Shape;99;p40"/>
          <p:cNvSpPr txBox="1"/>
          <p:nvPr>
            <p:ph idx="5" type="body"/>
          </p:nvPr>
        </p:nvSpPr>
        <p:spPr>
          <a:xfrm>
            <a:off x="10001250" y="8048625"/>
            <a:ext cx="71437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ؤشرات">
  <p:cSld name="مؤشرات">
    <p:bg>
      <p:bgPr>
        <a:solidFill>
          <a:srgbClr val="12183F"/>
        </a:solidFill>
      </p:bgPr>
    </p:bg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Google Shape;101;p4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41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4" name="Google Shape;104;p41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5" name="Google Shape;105;p41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6" name="Google Shape;106;p41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07" name="Google Shape;107;p4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" name="Google Shape;108;p41"/>
          <p:cNvSpPr txBox="1"/>
          <p:nvPr>
            <p:ph idx="3" type="body"/>
          </p:nvPr>
        </p:nvSpPr>
        <p:spPr>
          <a:xfrm>
            <a:off x="13716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9" name="Google Shape;109;p41"/>
          <p:cNvSpPr txBox="1"/>
          <p:nvPr>
            <p:ph idx="4" type="body"/>
          </p:nvPr>
        </p:nvSpPr>
        <p:spPr>
          <a:xfrm>
            <a:off x="13716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0" name="Google Shape;110;p41"/>
          <p:cNvSpPr txBox="1"/>
          <p:nvPr>
            <p:ph idx="5" type="body"/>
          </p:nvPr>
        </p:nvSpPr>
        <p:spPr>
          <a:xfrm>
            <a:off x="13716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1" name="Google Shape;111;p41"/>
          <p:cNvSpPr txBox="1"/>
          <p:nvPr>
            <p:ph idx="6" type="body"/>
          </p:nvPr>
        </p:nvSpPr>
        <p:spPr>
          <a:xfrm>
            <a:off x="9715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2" name="Google Shape;112;p41"/>
          <p:cNvSpPr txBox="1"/>
          <p:nvPr>
            <p:ph idx="7" type="body"/>
          </p:nvPr>
        </p:nvSpPr>
        <p:spPr>
          <a:xfrm>
            <a:off x="9715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3" name="Google Shape;113;p41"/>
          <p:cNvSpPr txBox="1"/>
          <p:nvPr>
            <p:ph idx="8" type="body"/>
          </p:nvPr>
        </p:nvSpPr>
        <p:spPr>
          <a:xfrm>
            <a:off x="9715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4" name="Google Shape;114;p41"/>
          <p:cNvSpPr txBox="1"/>
          <p:nvPr>
            <p:ph idx="9" type="body"/>
          </p:nvPr>
        </p:nvSpPr>
        <p:spPr>
          <a:xfrm>
            <a:off x="5715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5" name="Google Shape;115;p41"/>
          <p:cNvSpPr txBox="1"/>
          <p:nvPr>
            <p:ph idx="13" type="body"/>
          </p:nvPr>
        </p:nvSpPr>
        <p:spPr>
          <a:xfrm>
            <a:off x="5715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6" name="Google Shape;116;p41"/>
          <p:cNvSpPr txBox="1"/>
          <p:nvPr>
            <p:ph idx="14" type="body"/>
          </p:nvPr>
        </p:nvSpPr>
        <p:spPr>
          <a:xfrm>
            <a:off x="5715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7" name="Google Shape;117;p41"/>
          <p:cNvSpPr txBox="1"/>
          <p:nvPr>
            <p:ph idx="15" type="body"/>
          </p:nvPr>
        </p:nvSpPr>
        <p:spPr>
          <a:xfrm>
            <a:off x="1714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8" name="Google Shape;118;p41"/>
          <p:cNvSpPr txBox="1"/>
          <p:nvPr>
            <p:ph idx="16" type="body"/>
          </p:nvPr>
        </p:nvSpPr>
        <p:spPr>
          <a:xfrm>
            <a:off x="1714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9" name="Google Shape;119;p41"/>
          <p:cNvSpPr txBox="1"/>
          <p:nvPr>
            <p:ph idx="17" type="body"/>
          </p:nvPr>
        </p:nvSpPr>
        <p:spPr>
          <a:xfrm>
            <a:off x="1714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20" name="Google Shape;120;p41"/>
          <p:cNvSpPr txBox="1"/>
          <p:nvPr>
            <p:ph idx="18" type="body"/>
          </p:nvPr>
        </p:nvSpPr>
        <p:spPr>
          <a:xfrm>
            <a:off x="1714500" y="8763000"/>
            <a:ext cx="154305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رسالة رئيسية">
  <p:cSld name="رسالة رئيسية">
    <p:bg>
      <p:bgPr>
        <a:solidFill>
          <a:srgbClr val="F2F4FF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" name="Google Shape;122;p4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3" name="Google Shape;123;p4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9873" y="685800"/>
            <a:ext cx="3994355" cy="1238250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42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25" name="Google Shape;125;p42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42"/>
          <p:cNvSpPr txBox="1"/>
          <p:nvPr>
            <p:ph type="title"/>
          </p:nvPr>
        </p:nvSpPr>
        <p:spPr>
          <a:xfrm>
            <a:off x="2476500" y="3143250"/>
            <a:ext cx="13335000" cy="2952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27" name="Google Shape;127;p42"/>
          <p:cNvSpPr txBox="1"/>
          <p:nvPr>
            <p:ph idx="1" type="body"/>
          </p:nvPr>
        </p:nvSpPr>
        <p:spPr>
          <a:xfrm>
            <a:off x="3333750" y="6905625"/>
            <a:ext cx="116205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28" name="Google Shape;128;p42"/>
          <p:cNvSpPr txBox="1"/>
          <p:nvPr>
            <p:ph idx="2" type="body"/>
          </p:nvPr>
        </p:nvSpPr>
        <p:spPr>
          <a:xfrm>
            <a:off x="3333750" y="8239125"/>
            <a:ext cx="11620500" cy="523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جدول داكن">
  <p:cSld name="جدول داكن">
    <p:bg>
      <p:bgPr>
        <a:solidFill>
          <a:srgbClr val="12183F"/>
        </a:solidFill>
      </p:bgPr>
    </p:bg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0" name="Google Shape;130;p4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1" name="Google Shape;131;p4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p43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3" name="Google Shape;133;p43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4" name="Google Shape;134;p43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5" name="Google Shape;135;p43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36" name="Google Shape;136;p43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p43"/>
          <p:cNvSpPr txBox="1"/>
          <p:nvPr>
            <p:ph idx="3" type="body"/>
          </p:nvPr>
        </p:nvSpPr>
        <p:spPr>
          <a:xfrm>
            <a:off x="17145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8" name="Google Shape;138;p43"/>
          <p:cNvSpPr/>
          <p:nvPr>
            <p:ph idx="4" type="tbl"/>
          </p:nvPr>
        </p:nvSpPr>
        <p:spPr>
          <a:xfrm>
            <a:off x="1714500" y="3905250"/>
            <a:ext cx="15430500" cy="4476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خط زمني">
  <p:cSld name="خط زمني">
    <p:bg>
      <p:bgPr>
        <a:solidFill>
          <a:srgbClr val="12183F"/>
        </a:solidFill>
      </p:bgPr>
    </p:bg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4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4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44"/>
          <p:cNvSpPr/>
          <p:nvPr/>
        </p:nvSpPr>
        <p:spPr>
          <a:xfrm>
            <a:off x="1428750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44"/>
          <p:cNvSpPr/>
          <p:nvPr/>
        </p:nvSpPr>
        <p:spPr>
          <a:xfrm>
            <a:off x="1114425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44"/>
          <p:cNvSpPr/>
          <p:nvPr/>
        </p:nvSpPr>
        <p:spPr>
          <a:xfrm>
            <a:off x="800100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44"/>
          <p:cNvSpPr/>
          <p:nvPr/>
        </p:nvSpPr>
        <p:spPr>
          <a:xfrm>
            <a:off x="485775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44"/>
          <p:cNvSpPr/>
          <p:nvPr/>
        </p:nvSpPr>
        <p:spPr>
          <a:xfrm>
            <a:off x="171450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44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48" name="Google Shape;148;p44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49" name="Google Shape;149;p44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0" name="Google Shape;150;p44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51" name="Google Shape;151;p44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" name="Google Shape;152;p44"/>
          <p:cNvSpPr txBox="1"/>
          <p:nvPr>
            <p:ph idx="3" type="body"/>
          </p:nvPr>
        </p:nvSpPr>
        <p:spPr>
          <a:xfrm>
            <a:off x="142875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3" name="Google Shape;153;p44"/>
          <p:cNvSpPr txBox="1"/>
          <p:nvPr>
            <p:ph idx="4" type="body"/>
          </p:nvPr>
        </p:nvSpPr>
        <p:spPr>
          <a:xfrm>
            <a:off x="1428750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4" name="Google Shape;154;p44"/>
          <p:cNvSpPr txBox="1"/>
          <p:nvPr>
            <p:ph idx="5" type="body"/>
          </p:nvPr>
        </p:nvSpPr>
        <p:spPr>
          <a:xfrm>
            <a:off x="142875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5" name="Google Shape;155;p44"/>
          <p:cNvSpPr txBox="1"/>
          <p:nvPr>
            <p:ph idx="6" type="body"/>
          </p:nvPr>
        </p:nvSpPr>
        <p:spPr>
          <a:xfrm>
            <a:off x="1428750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6" name="Google Shape;156;p44"/>
          <p:cNvSpPr txBox="1"/>
          <p:nvPr>
            <p:ph idx="7" type="body"/>
          </p:nvPr>
        </p:nvSpPr>
        <p:spPr>
          <a:xfrm>
            <a:off x="111442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7" name="Google Shape;157;p44"/>
          <p:cNvSpPr txBox="1"/>
          <p:nvPr>
            <p:ph idx="8" type="body"/>
          </p:nvPr>
        </p:nvSpPr>
        <p:spPr>
          <a:xfrm>
            <a:off x="1114425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8" name="Google Shape;158;p44"/>
          <p:cNvSpPr txBox="1"/>
          <p:nvPr>
            <p:ph idx="9" type="body"/>
          </p:nvPr>
        </p:nvSpPr>
        <p:spPr>
          <a:xfrm>
            <a:off x="111442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9" name="Google Shape;159;p44"/>
          <p:cNvSpPr txBox="1"/>
          <p:nvPr>
            <p:ph idx="13" type="body"/>
          </p:nvPr>
        </p:nvSpPr>
        <p:spPr>
          <a:xfrm>
            <a:off x="1114425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0" name="Google Shape;160;p44"/>
          <p:cNvSpPr txBox="1"/>
          <p:nvPr>
            <p:ph idx="14" type="body"/>
          </p:nvPr>
        </p:nvSpPr>
        <p:spPr>
          <a:xfrm>
            <a:off x="80010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1" name="Google Shape;161;p44"/>
          <p:cNvSpPr txBox="1"/>
          <p:nvPr>
            <p:ph idx="15" type="body"/>
          </p:nvPr>
        </p:nvSpPr>
        <p:spPr>
          <a:xfrm>
            <a:off x="800100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2" name="Google Shape;162;p44"/>
          <p:cNvSpPr txBox="1"/>
          <p:nvPr>
            <p:ph idx="16" type="body"/>
          </p:nvPr>
        </p:nvSpPr>
        <p:spPr>
          <a:xfrm>
            <a:off x="80010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3" name="Google Shape;163;p44"/>
          <p:cNvSpPr txBox="1"/>
          <p:nvPr>
            <p:ph idx="17" type="body"/>
          </p:nvPr>
        </p:nvSpPr>
        <p:spPr>
          <a:xfrm>
            <a:off x="800100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4" name="Google Shape;164;p44"/>
          <p:cNvSpPr txBox="1"/>
          <p:nvPr>
            <p:ph idx="18" type="body"/>
          </p:nvPr>
        </p:nvSpPr>
        <p:spPr>
          <a:xfrm>
            <a:off x="48577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5" name="Google Shape;165;p44"/>
          <p:cNvSpPr txBox="1"/>
          <p:nvPr>
            <p:ph idx="19" type="body"/>
          </p:nvPr>
        </p:nvSpPr>
        <p:spPr>
          <a:xfrm>
            <a:off x="485775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6" name="Google Shape;166;p44"/>
          <p:cNvSpPr txBox="1"/>
          <p:nvPr>
            <p:ph idx="20" type="body"/>
          </p:nvPr>
        </p:nvSpPr>
        <p:spPr>
          <a:xfrm>
            <a:off x="48577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7" name="Google Shape;167;p44"/>
          <p:cNvSpPr txBox="1"/>
          <p:nvPr>
            <p:ph idx="21" type="body"/>
          </p:nvPr>
        </p:nvSpPr>
        <p:spPr>
          <a:xfrm>
            <a:off x="485775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8" name="Google Shape;168;p44"/>
          <p:cNvSpPr txBox="1"/>
          <p:nvPr>
            <p:ph idx="22" type="body"/>
          </p:nvPr>
        </p:nvSpPr>
        <p:spPr>
          <a:xfrm>
            <a:off x="17145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9" name="Google Shape;169;p44"/>
          <p:cNvSpPr txBox="1"/>
          <p:nvPr>
            <p:ph idx="23" type="body"/>
          </p:nvPr>
        </p:nvSpPr>
        <p:spPr>
          <a:xfrm>
            <a:off x="171450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0" name="Google Shape;170;p44"/>
          <p:cNvSpPr txBox="1"/>
          <p:nvPr>
            <p:ph idx="24" type="body"/>
          </p:nvPr>
        </p:nvSpPr>
        <p:spPr>
          <a:xfrm>
            <a:off x="17145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1" name="Google Shape;171;p44"/>
          <p:cNvSpPr txBox="1"/>
          <p:nvPr>
            <p:ph idx="25" type="body"/>
          </p:nvPr>
        </p:nvSpPr>
        <p:spPr>
          <a:xfrm>
            <a:off x="171450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ريق العمل">
  <p:cSld name="فريق العمل">
    <p:bg>
      <p:bgPr>
        <a:solidFill>
          <a:srgbClr val="12183F"/>
        </a:solidFill>
      </p:bgPr>
    </p:bg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3" name="Google Shape;173;p4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4" name="Google Shape;174;p4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75" name="Google Shape;175;p45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6" name="Google Shape;176;p45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7" name="Google Shape;177;p45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8" name="Google Shape;178;p45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79" name="Google Shape;179;p4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45"/>
          <p:cNvSpPr/>
          <p:nvPr>
            <p:ph idx="3" type="pic"/>
          </p:nvPr>
        </p:nvSpPr>
        <p:spPr>
          <a:xfrm>
            <a:off x="141922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1" name="Google Shape;181;p45"/>
          <p:cNvSpPr txBox="1"/>
          <p:nvPr>
            <p:ph idx="4" type="body"/>
          </p:nvPr>
        </p:nvSpPr>
        <p:spPr>
          <a:xfrm>
            <a:off x="137160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2" name="Google Shape;182;p45"/>
          <p:cNvSpPr txBox="1"/>
          <p:nvPr>
            <p:ph idx="5" type="body"/>
          </p:nvPr>
        </p:nvSpPr>
        <p:spPr>
          <a:xfrm>
            <a:off x="137160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3" name="Google Shape;183;p45"/>
          <p:cNvSpPr/>
          <p:nvPr>
            <p:ph idx="6" type="pic"/>
          </p:nvPr>
        </p:nvSpPr>
        <p:spPr>
          <a:xfrm>
            <a:off x="101917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4" name="Google Shape;184;p45"/>
          <p:cNvSpPr txBox="1"/>
          <p:nvPr>
            <p:ph idx="7" type="body"/>
          </p:nvPr>
        </p:nvSpPr>
        <p:spPr>
          <a:xfrm>
            <a:off x="97155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5" name="Google Shape;185;p45"/>
          <p:cNvSpPr txBox="1"/>
          <p:nvPr>
            <p:ph idx="8" type="body"/>
          </p:nvPr>
        </p:nvSpPr>
        <p:spPr>
          <a:xfrm>
            <a:off x="97155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6" name="Google Shape;186;p45"/>
          <p:cNvSpPr/>
          <p:nvPr>
            <p:ph idx="9" type="pic"/>
          </p:nvPr>
        </p:nvSpPr>
        <p:spPr>
          <a:xfrm>
            <a:off x="61912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7" name="Google Shape;187;p45"/>
          <p:cNvSpPr txBox="1"/>
          <p:nvPr>
            <p:ph idx="13" type="body"/>
          </p:nvPr>
        </p:nvSpPr>
        <p:spPr>
          <a:xfrm>
            <a:off x="57150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8" name="Google Shape;188;p45"/>
          <p:cNvSpPr txBox="1"/>
          <p:nvPr>
            <p:ph idx="14" type="body"/>
          </p:nvPr>
        </p:nvSpPr>
        <p:spPr>
          <a:xfrm>
            <a:off x="57150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9" name="Google Shape;189;p45"/>
          <p:cNvSpPr/>
          <p:nvPr>
            <p:ph idx="15" type="pic"/>
          </p:nvPr>
        </p:nvSpPr>
        <p:spPr>
          <a:xfrm>
            <a:off x="21907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0" name="Google Shape;190;p45"/>
          <p:cNvSpPr txBox="1"/>
          <p:nvPr>
            <p:ph idx="16" type="body"/>
          </p:nvPr>
        </p:nvSpPr>
        <p:spPr>
          <a:xfrm>
            <a:off x="17145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1" name="Google Shape;191;p45"/>
          <p:cNvSpPr txBox="1"/>
          <p:nvPr>
            <p:ph idx="17" type="body"/>
          </p:nvPr>
        </p:nvSpPr>
        <p:spPr>
          <a:xfrm>
            <a:off x="17145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أربع نقاط فاتحة">
  <p:cSld name="أربع نقاط فاتحة">
    <p:bg>
      <p:bgPr>
        <a:solidFill>
          <a:srgbClr val="F2F4FF"/>
        </a:solidFill>
      </p:bgPr>
    </p:bg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3" name="Google Shape;193;p4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4" name="Google Shape;194;p4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37187" y="685800"/>
            <a:ext cx="2888226" cy="895350"/>
          </a:xfrm>
          <a:prstGeom prst="rect">
            <a:avLst/>
          </a:prstGeom>
          <a:noFill/>
          <a:ln>
            <a:noFill/>
          </a:ln>
        </p:spPr>
      </p:pic>
      <p:sp>
        <p:nvSpPr>
          <p:cNvPr id="195" name="Google Shape;195;p46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6" name="Google Shape;196;p46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7" name="Google Shape;197;p46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8" name="Google Shape;198;p46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99" name="Google Shape;199;p46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" name="Google Shape;200;p46"/>
          <p:cNvSpPr txBox="1"/>
          <p:nvPr>
            <p:ph idx="3" type="body"/>
          </p:nvPr>
        </p:nvSpPr>
        <p:spPr>
          <a:xfrm>
            <a:off x="9810750" y="3952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1" name="Google Shape;201;p46"/>
          <p:cNvSpPr txBox="1"/>
          <p:nvPr>
            <p:ph idx="4" type="body"/>
          </p:nvPr>
        </p:nvSpPr>
        <p:spPr>
          <a:xfrm>
            <a:off x="9810750" y="4657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2" name="Google Shape;202;p46"/>
          <p:cNvSpPr txBox="1"/>
          <p:nvPr>
            <p:ph idx="5" type="body"/>
          </p:nvPr>
        </p:nvSpPr>
        <p:spPr>
          <a:xfrm>
            <a:off x="1714500" y="3952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3" name="Google Shape;203;p46"/>
          <p:cNvSpPr txBox="1"/>
          <p:nvPr>
            <p:ph idx="6" type="body"/>
          </p:nvPr>
        </p:nvSpPr>
        <p:spPr>
          <a:xfrm>
            <a:off x="1714500" y="4657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4" name="Google Shape;204;p46"/>
          <p:cNvSpPr txBox="1"/>
          <p:nvPr>
            <p:ph idx="7" type="body"/>
          </p:nvPr>
        </p:nvSpPr>
        <p:spPr>
          <a:xfrm>
            <a:off x="9810750" y="6619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5" name="Google Shape;205;p46"/>
          <p:cNvSpPr txBox="1"/>
          <p:nvPr>
            <p:ph idx="8" type="body"/>
          </p:nvPr>
        </p:nvSpPr>
        <p:spPr>
          <a:xfrm>
            <a:off x="9810750" y="7324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6" name="Google Shape;206;p46"/>
          <p:cNvSpPr txBox="1"/>
          <p:nvPr>
            <p:ph idx="9" type="body"/>
          </p:nvPr>
        </p:nvSpPr>
        <p:spPr>
          <a:xfrm>
            <a:off x="1714500" y="6619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7" name="Google Shape;207;p46"/>
          <p:cNvSpPr txBox="1"/>
          <p:nvPr>
            <p:ph idx="13" type="body"/>
          </p:nvPr>
        </p:nvSpPr>
        <p:spPr>
          <a:xfrm>
            <a:off x="1714500" y="7324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جدول فاتح">
  <p:cSld name="جدول فاتح">
    <p:bg>
      <p:bgPr>
        <a:solidFill>
          <a:srgbClr val="F2F4FF"/>
        </a:solidFill>
      </p:bgPr>
    </p:bg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" name="Google Shape;209;p4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0" name="Google Shape;210;p4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37187" y="685800"/>
            <a:ext cx="2888226" cy="895350"/>
          </a:xfrm>
          <a:prstGeom prst="rect">
            <a:avLst/>
          </a:prstGeom>
          <a:noFill/>
          <a:ln>
            <a:noFill/>
          </a:ln>
        </p:spPr>
      </p:pic>
      <p:sp>
        <p:nvSpPr>
          <p:cNvPr id="211" name="Google Shape;211;p47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2" name="Google Shape;212;p47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3" name="Google Shape;213;p47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4" name="Google Shape;214;p47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15" name="Google Shape;215;p4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6" name="Google Shape;216;p47"/>
          <p:cNvSpPr txBox="1"/>
          <p:nvPr>
            <p:ph idx="3" type="body"/>
          </p:nvPr>
        </p:nvSpPr>
        <p:spPr>
          <a:xfrm>
            <a:off x="17145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7" name="Google Shape;217;p47"/>
          <p:cNvSpPr/>
          <p:nvPr>
            <p:ph idx="4" type="tbl"/>
          </p:nvPr>
        </p:nvSpPr>
        <p:spPr>
          <a:xfrm>
            <a:off x="1714500" y="3905250"/>
            <a:ext cx="15430500" cy="4476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قارنة بالأعمدة">
  <p:cSld name="مقارنة بالأعمدة">
    <p:bg>
      <p:bgPr>
        <a:solidFill>
          <a:srgbClr val="12183F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9" name="Google Shape;219;p4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0" name="Google Shape;220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21" name="Google Shape;221;p48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2" name="Google Shape;222;p48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3" name="Google Shape;223;p48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4" name="Google Shape;224;p48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25" name="Google Shape;225;p4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" name="Google Shape;226;p48"/>
          <p:cNvSpPr txBox="1"/>
          <p:nvPr>
            <p:ph idx="3" type="body"/>
          </p:nvPr>
        </p:nvSpPr>
        <p:spPr>
          <a:xfrm>
            <a:off x="2095500" y="8905875"/>
            <a:ext cx="1419225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7" name="Google Shape;227;p48"/>
          <p:cNvSpPr/>
          <p:nvPr>
            <p:ph idx="4" type="chart"/>
          </p:nvPr>
        </p:nvSpPr>
        <p:spPr>
          <a:xfrm>
            <a:off x="2095500" y="3905250"/>
            <a:ext cx="14192250" cy="4857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توزيع نسبي">
  <p:cSld name="توزيع نسبي">
    <p:bg>
      <p:bgPr>
        <a:solidFill>
          <a:srgbClr val="12183F"/>
        </a:solidFill>
      </p:bgPr>
    </p:bg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9" name="Google Shape;229;p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0" name="Google Shape;230;p4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p49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2" name="Google Shape;232;p49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3" name="Google Shape;233;p49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4" name="Google Shape;234;p49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35" name="Google Shape;235;p49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6" name="Google Shape;236;p49"/>
          <p:cNvSpPr txBox="1"/>
          <p:nvPr>
            <p:ph idx="3" type="body"/>
          </p:nvPr>
        </p:nvSpPr>
        <p:spPr>
          <a:xfrm>
            <a:off x="1714500" y="890587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7" name="Google Shape;237;p49"/>
          <p:cNvSpPr/>
          <p:nvPr>
            <p:ph idx="4" type="chart"/>
          </p:nvPr>
        </p:nvSpPr>
        <p:spPr>
          <a:xfrm>
            <a:off x="2095500" y="3619500"/>
            <a:ext cx="14097000" cy="53816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آلية العمل">
  <p:cSld name="آلية العمل">
    <p:bg>
      <p:bgPr>
        <a:solidFill>
          <a:srgbClr val="12183F"/>
        </a:solidFill>
      </p:bgPr>
    </p:bg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9" name="Google Shape;239;p5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0" name="Google Shape;240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41" name="Google Shape;241;p50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2" name="Google Shape;242;p50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3" name="Google Shape;243;p50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4" name="Google Shape;244;p50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45" name="Google Shape;245;p50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50"/>
          <p:cNvSpPr txBox="1"/>
          <p:nvPr>
            <p:ph idx="3" type="body"/>
          </p:nvPr>
        </p:nvSpPr>
        <p:spPr>
          <a:xfrm>
            <a:off x="137160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7" name="Google Shape;247;p50"/>
          <p:cNvSpPr txBox="1"/>
          <p:nvPr>
            <p:ph idx="4" type="body"/>
          </p:nvPr>
        </p:nvSpPr>
        <p:spPr>
          <a:xfrm>
            <a:off x="97155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8" name="Google Shape;248;p50"/>
          <p:cNvSpPr txBox="1"/>
          <p:nvPr>
            <p:ph idx="5" type="body"/>
          </p:nvPr>
        </p:nvSpPr>
        <p:spPr>
          <a:xfrm>
            <a:off x="57150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9" name="Google Shape;249;p50"/>
          <p:cNvSpPr txBox="1"/>
          <p:nvPr>
            <p:ph idx="6" type="body"/>
          </p:nvPr>
        </p:nvSpPr>
        <p:spPr>
          <a:xfrm>
            <a:off x="17145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صورة كبيرة">
  <p:cSld name="صورة كبيرة">
    <p:bg>
      <p:bgPr>
        <a:solidFill>
          <a:srgbClr val="12183F"/>
        </a:solidFill>
      </p:bgPr>
    </p:bg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1" name="Google Shape;251;p5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252" name="Google Shape;252;p51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53" name="Google Shape;253;p5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51"/>
          <p:cNvSpPr/>
          <p:nvPr>
            <p:ph idx="2" type="pic"/>
          </p:nvPr>
        </p:nvSpPr>
        <p:spPr>
          <a:xfrm>
            <a:off x="1047750" y="666750"/>
            <a:ext cx="16192500" cy="6953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5" name="Google Shape;255;p51"/>
          <p:cNvSpPr txBox="1"/>
          <p:nvPr>
            <p:ph type="title"/>
          </p:nvPr>
        </p:nvSpPr>
        <p:spPr>
          <a:xfrm>
            <a:off x="2190750" y="7962900"/>
            <a:ext cx="1476375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56" name="Google Shape;256;p51"/>
          <p:cNvSpPr txBox="1"/>
          <p:nvPr>
            <p:ph idx="1" type="body"/>
          </p:nvPr>
        </p:nvSpPr>
        <p:spPr>
          <a:xfrm>
            <a:off x="2190750" y="8896350"/>
            <a:ext cx="14763750" cy="42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عرض الصور">
  <p:cSld name="معرض الصور">
    <p:bg>
      <p:bgPr>
        <a:solidFill>
          <a:srgbClr val="12183F"/>
        </a:solidFill>
      </p:bgPr>
    </p:bg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8" name="Google Shape;258;p5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5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60" name="Google Shape;260;p52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1" name="Google Shape;261;p52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2" name="Google Shape;262;p52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63" name="Google Shape;263;p52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4" name="Google Shape;264;p52"/>
          <p:cNvSpPr/>
          <p:nvPr>
            <p:ph idx="2" type="pic"/>
          </p:nvPr>
        </p:nvSpPr>
        <p:spPr>
          <a:xfrm>
            <a:off x="12382500" y="3714750"/>
            <a:ext cx="4762500" cy="4286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5" name="Google Shape;265;p52"/>
          <p:cNvSpPr txBox="1"/>
          <p:nvPr>
            <p:ph idx="3" type="body"/>
          </p:nvPr>
        </p:nvSpPr>
        <p:spPr>
          <a:xfrm>
            <a:off x="12382500" y="8334375"/>
            <a:ext cx="4762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6" name="Google Shape;266;p52"/>
          <p:cNvSpPr/>
          <p:nvPr>
            <p:ph idx="4" type="pic"/>
          </p:nvPr>
        </p:nvSpPr>
        <p:spPr>
          <a:xfrm>
            <a:off x="7048500" y="3714750"/>
            <a:ext cx="4762500" cy="4286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7" name="Google Shape;267;p52"/>
          <p:cNvSpPr txBox="1"/>
          <p:nvPr>
            <p:ph idx="5" type="body"/>
          </p:nvPr>
        </p:nvSpPr>
        <p:spPr>
          <a:xfrm>
            <a:off x="7048500" y="8334375"/>
            <a:ext cx="4762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8" name="Google Shape;268;p52"/>
          <p:cNvSpPr/>
          <p:nvPr>
            <p:ph idx="6" type="pic"/>
          </p:nvPr>
        </p:nvSpPr>
        <p:spPr>
          <a:xfrm>
            <a:off x="1714500" y="3714750"/>
            <a:ext cx="4762500" cy="4286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9" name="Google Shape;269;p52"/>
          <p:cNvSpPr txBox="1"/>
          <p:nvPr>
            <p:ph idx="7" type="body"/>
          </p:nvPr>
        </p:nvSpPr>
        <p:spPr>
          <a:xfrm>
            <a:off x="1714500" y="8334375"/>
            <a:ext cx="4762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أيقونات الهوية">
  <p:cSld name="أيقونات الهوية">
    <p:bg>
      <p:bgPr>
        <a:solidFill>
          <a:srgbClr val="12183F"/>
        </a:solidFill>
      </p:bgPr>
    </p:bg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1" name="Google Shape;271;p5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2" name="Google Shape;272;p5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53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4" name="Google Shape;274;p53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5" name="Google Shape;275;p53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6" name="Google Shape;276;p53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77" name="Google Shape;277;p53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53"/>
          <p:cNvSpPr txBox="1"/>
          <p:nvPr>
            <p:ph idx="3" type="body"/>
          </p:nvPr>
        </p:nvSpPr>
        <p:spPr>
          <a:xfrm>
            <a:off x="137160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9" name="Google Shape;279;p53"/>
          <p:cNvSpPr txBox="1"/>
          <p:nvPr>
            <p:ph idx="4" type="body"/>
          </p:nvPr>
        </p:nvSpPr>
        <p:spPr>
          <a:xfrm>
            <a:off x="137160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0" name="Google Shape;280;p53"/>
          <p:cNvSpPr txBox="1"/>
          <p:nvPr>
            <p:ph idx="5" type="body"/>
          </p:nvPr>
        </p:nvSpPr>
        <p:spPr>
          <a:xfrm>
            <a:off x="97155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1" name="Google Shape;281;p53"/>
          <p:cNvSpPr txBox="1"/>
          <p:nvPr>
            <p:ph idx="6" type="body"/>
          </p:nvPr>
        </p:nvSpPr>
        <p:spPr>
          <a:xfrm>
            <a:off x="97155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2" name="Google Shape;282;p53"/>
          <p:cNvSpPr txBox="1"/>
          <p:nvPr>
            <p:ph idx="7" type="body"/>
          </p:nvPr>
        </p:nvSpPr>
        <p:spPr>
          <a:xfrm>
            <a:off x="57150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3" name="Google Shape;283;p53"/>
          <p:cNvSpPr txBox="1"/>
          <p:nvPr>
            <p:ph idx="8" type="body"/>
          </p:nvPr>
        </p:nvSpPr>
        <p:spPr>
          <a:xfrm>
            <a:off x="57150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4" name="Google Shape;284;p53"/>
          <p:cNvSpPr txBox="1"/>
          <p:nvPr>
            <p:ph idx="9" type="body"/>
          </p:nvPr>
        </p:nvSpPr>
        <p:spPr>
          <a:xfrm>
            <a:off x="17145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5" name="Google Shape;285;p53"/>
          <p:cNvSpPr txBox="1"/>
          <p:nvPr>
            <p:ph idx="13" type="body"/>
          </p:nvPr>
        </p:nvSpPr>
        <p:spPr>
          <a:xfrm>
            <a:off x="17145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قارنة خيارين">
  <p:cSld name="مقارنة خيارين">
    <p:bg>
      <p:bgPr>
        <a:solidFill>
          <a:srgbClr val="12183F"/>
        </a:solidFill>
      </p:bgPr>
    </p:bg>
    <p:spTree>
      <p:nvGrpSpPr>
        <p:cNvPr id="286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7" name="Google Shape;287;p5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8" name="Google Shape;288;p5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54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0" name="Google Shape;290;p54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1" name="Google Shape;291;p54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2" name="Google Shape;292;p54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93" name="Google Shape;293;p54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4" name="Google Shape;294;p54"/>
          <p:cNvSpPr txBox="1"/>
          <p:nvPr>
            <p:ph idx="3" type="body"/>
          </p:nvPr>
        </p:nvSpPr>
        <p:spPr>
          <a:xfrm>
            <a:off x="10001250" y="3857625"/>
            <a:ext cx="7143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5" name="Google Shape;295;p54"/>
          <p:cNvSpPr txBox="1"/>
          <p:nvPr>
            <p:ph idx="4" type="body"/>
          </p:nvPr>
        </p:nvSpPr>
        <p:spPr>
          <a:xfrm>
            <a:off x="10001250" y="4562475"/>
            <a:ext cx="7143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6" name="Google Shape;296;p54"/>
          <p:cNvSpPr txBox="1"/>
          <p:nvPr>
            <p:ph idx="5" type="body"/>
          </p:nvPr>
        </p:nvSpPr>
        <p:spPr>
          <a:xfrm>
            <a:off x="1714500" y="3857625"/>
            <a:ext cx="7143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7" name="Google Shape;297;p54"/>
          <p:cNvSpPr txBox="1"/>
          <p:nvPr>
            <p:ph idx="6" type="body"/>
          </p:nvPr>
        </p:nvSpPr>
        <p:spPr>
          <a:xfrm>
            <a:off x="1714500" y="4562475"/>
            <a:ext cx="7143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8" name="Google Shape;298;p54"/>
          <p:cNvSpPr txBox="1"/>
          <p:nvPr>
            <p:ph idx="7" type="body"/>
          </p:nvPr>
        </p:nvSpPr>
        <p:spPr>
          <a:xfrm>
            <a:off x="10001250" y="5905500"/>
            <a:ext cx="7143750" cy="2952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9" name="Google Shape;299;p54"/>
          <p:cNvSpPr txBox="1"/>
          <p:nvPr>
            <p:ph idx="8" type="body"/>
          </p:nvPr>
        </p:nvSpPr>
        <p:spPr>
          <a:xfrm>
            <a:off x="1714500" y="5905500"/>
            <a:ext cx="7143750" cy="2952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ارغة داكنة">
  <p:cSld name="فارغة داكنة">
    <p:bg>
      <p:bgPr>
        <a:solidFill>
          <a:srgbClr val="12183F"/>
        </a:solidFill>
      </p:bgPr>
    </p:bg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1" name="Google Shape;301;p5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2" name="Google Shape;302;p5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722542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303" name="Google Shape;303;p55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304" name="Google Shape;304;p5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ارغة فاتحة">
  <p:cSld name="فارغة فاتحة">
    <p:bg>
      <p:bgPr>
        <a:solidFill>
          <a:srgbClr val="F2F4FF"/>
        </a:solidFill>
      </p:bgPr>
    </p:bg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6" name="Google Shape;306;p5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7" name="Google Shape;307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45010" y="685800"/>
            <a:ext cx="3072581" cy="952500"/>
          </a:xfrm>
          <a:prstGeom prst="rect">
            <a:avLst/>
          </a:prstGeom>
          <a:noFill/>
          <a:ln>
            <a:noFill/>
          </a:ln>
        </p:spPr>
      </p:pic>
      <p:sp>
        <p:nvSpPr>
          <p:cNvPr id="308" name="Google Shape;308;p56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309" name="Google Shape;309;p56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ختام العرض">
  <p:cSld name="ختام العرض">
    <p:bg>
      <p:bgPr>
        <a:solidFill>
          <a:srgbClr val="12183F"/>
        </a:solidFill>
      </p:bgPr>
    </p:bg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1" name="Google Shape;311;p5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2" name="Google Shape;312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810250" y="1336151"/>
            <a:ext cx="6667500" cy="1709198"/>
          </a:xfrm>
          <a:prstGeom prst="rect">
            <a:avLst/>
          </a:prstGeom>
          <a:noFill/>
          <a:ln>
            <a:noFill/>
          </a:ln>
        </p:spPr>
      </p:pic>
      <p:pic>
        <p:nvPicPr>
          <p:cNvPr id="313" name="Google Shape;313;p5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9485" y="8524875"/>
            <a:ext cx="3045029" cy="156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4" name="Google Shape;314;p57"/>
          <p:cNvPicPr preferRelativeResize="0"/>
          <p:nvPr/>
        </p:nvPicPr>
        <p:blipFill rotWithShape="1">
          <a:blip r:embed="rId5">
            <a:alphaModFix/>
          </a:blip>
          <a:srcRect b="16000" l="4300" r="69700" t="16000"/>
          <a:stretch/>
        </p:blipFill>
        <p:spPr>
          <a:xfrm>
            <a:off x="4857750" y="8629650"/>
            <a:ext cx="3810000" cy="1476375"/>
          </a:xfrm>
          <a:prstGeom prst="rect">
            <a:avLst/>
          </a:prstGeom>
          <a:noFill/>
          <a:ln>
            <a:noFill/>
          </a:ln>
        </p:spPr>
      </p:pic>
      <p:sp>
        <p:nvSpPr>
          <p:cNvPr id="315" name="Google Shape;315;p57"/>
          <p:cNvSpPr txBox="1"/>
          <p:nvPr>
            <p:ph type="title"/>
          </p:nvPr>
        </p:nvSpPr>
        <p:spPr>
          <a:xfrm>
            <a:off x="3810000" y="4048125"/>
            <a:ext cx="10668000" cy="1428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16" name="Google Shape;316;p57"/>
          <p:cNvSpPr txBox="1"/>
          <p:nvPr>
            <p:ph idx="1" type="body"/>
          </p:nvPr>
        </p:nvSpPr>
        <p:spPr>
          <a:xfrm>
            <a:off x="3810000" y="5905500"/>
            <a:ext cx="1066800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17" name="Google Shape;317;p57"/>
          <p:cNvSpPr txBox="1"/>
          <p:nvPr>
            <p:ph idx="2" type="body"/>
          </p:nvPr>
        </p:nvSpPr>
        <p:spPr>
          <a:xfrm>
            <a:off x="3810000" y="7000875"/>
            <a:ext cx="10668000" cy="666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theme" Target="../theme/theme1.xml"/><Relationship Id="rId25" Type="http://schemas.openxmlformats.org/officeDocument/2006/relationships/slideLayout" Target="../slideLayouts/slideLayout25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10.png"/><Relationship Id="rId5" Type="http://schemas.openxmlformats.org/officeDocument/2006/relationships/image" Target="../media/image2.png"/><Relationship Id="rId6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bidaya_team-px-ai.png"/><Relationship Id="rId6" Type="http://schemas.openxmlformats.org/officeDocument/2006/relationships/image" Target="../media/bidaya_team-px-ui.png"/><Relationship Id="rId7" Type="http://schemas.openxmlformats.org/officeDocument/2006/relationships/image" Target="../media/bidaya_team-px-book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.png"/><Relationship Id="rId4" Type="http://schemas.openxmlformats.org/officeDocument/2006/relationships/image" Target="../media/bidaya_ask.jpg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23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24.png"/><Relationship Id="rId9" Type="http://schemas.openxmlformats.org/officeDocument/2006/relationships/image" Target="../media/bidaya_icon-map.png"/><Relationship Id="rId10" Type="http://schemas.openxmlformats.org/officeDocument/2006/relationships/image" Target="../media/bidaya_icon-book.png"/><Relationship Id="rId11" Type="http://schemas.openxmlformats.org/officeDocument/2006/relationships/image" Target="../media/bidaya_icon-ai.png"/><Relationship Id="rId12" Type="http://schemas.openxmlformats.org/officeDocument/2006/relationships/image" Target="../media/bidaya_icon-audio.png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9" Type="http://schemas.openxmlformats.org/officeDocument/2006/relationships/image" Target="../media/image19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25.png"/><Relationship Id="rId8" Type="http://schemas.openxmlformats.org/officeDocument/2006/relationships/image" Target="../media/image22.png"/><Relationship Id="rId10" Type="http://schemas.openxmlformats.org/officeDocument/2006/relationships/image" Target="../media/image20.png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Relationship Id="rId3" Type="http://schemas.openxmlformats.org/officeDocument/2006/relationships/image" Target="../media/image1.png"/><Relationship Id="rId4" Type="http://schemas.openxmlformats.org/officeDocument/2006/relationships/image" Target="../media/bidaya_story.jpg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Relationship Id="rId3" Type="http://schemas.openxmlformats.org/officeDocument/2006/relationships/image" Target="../media/image1.png"/><Relationship Id="rId4" Type="http://schemas.openxmlformats.org/officeDocument/2006/relationships/image" Target="../media/bidaya_verses.jpg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5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Relationship Id="rId3" Type="http://schemas.openxmlformats.org/officeDocument/2006/relationships/image" Target="../media/image1.png"/><Relationship Id="rId4" Type="http://schemas.openxmlformats.org/officeDocument/2006/relationships/image" Target="../media/bidaya_quiz.jpg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5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5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483" name="Shape 4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4" name="Google Shape;484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85" name="Google Shape;485;p8" title="الصورة الرئيسية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95975" y="1103475"/>
            <a:ext cx="9312476" cy="8603123"/>
          </a:xfrm>
          <a:prstGeom prst="rect">
            <a:avLst/>
          </a:prstGeom>
          <a:noFill/>
          <a:ln>
            <a:noFill/>
          </a:ln>
        </p:spPr>
      </p:pic>
      <p:sp>
        <p:nvSpPr>
          <p:cNvPr id="486" name="Google Shape;486;p8"/>
          <p:cNvSpPr txBox="1"/>
          <p:nvPr>
            <p:ph type="title"/>
          </p:nvPr>
        </p:nvSpPr>
        <p:spPr>
          <a:xfrm>
            <a:off x="7791450" y="3524250"/>
            <a:ext cx="9048900" cy="133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50"/>
              <a:buNone/>
            </a:pPr>
            <a:r>
              <a:rPr b="1" lang="ar-SA" sz="64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بداية</a:t>
            </a:r>
            <a:endParaRPr/>
          </a:p>
        </p:txBody>
      </p:sp>
      <p:sp>
        <p:nvSpPr>
          <p:cNvPr id="487" name="Google Shape;487;p8"/>
          <p:cNvSpPr txBox="1"/>
          <p:nvPr>
            <p:ph idx="1" type="body"/>
          </p:nvPr>
        </p:nvSpPr>
        <p:spPr>
          <a:xfrm>
            <a:off x="7791450" y="5334000"/>
            <a:ext cx="9048900" cy="16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</a:pPr>
            <a:r>
              <a:rPr b="0" lang="ar-SA" sz="33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خريطة تفاعلية مدعومة بالذكاء الاصطناعي تروي سيرة النبي ﷺ في الزمان والمكان، مع مساعد يجيب من المصادر المعتمدة بالعربية والإنجليزية</a:t>
            </a:r>
            <a:endParaRPr/>
          </a:p>
        </p:txBody>
      </p:sp>
      <p:sp>
        <p:nvSpPr>
          <p:cNvPr id="488" name="Google Shape;488;p8"/>
          <p:cNvSpPr/>
          <p:nvPr/>
        </p:nvSpPr>
        <p:spPr>
          <a:xfrm>
            <a:off x="1143000" y="8843963"/>
            <a:ext cx="16002000" cy="9600"/>
          </a:xfrm>
          <a:prstGeom prst="rect">
            <a:avLst/>
          </a:prstGeom>
          <a:solidFill>
            <a:srgbClr val="FFFFFF">
              <a:alpha val="1216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9" name="Google Shape;489;p8"/>
          <p:cNvSpPr/>
          <p:nvPr/>
        </p:nvSpPr>
        <p:spPr>
          <a:xfrm>
            <a:off x="14472130" y="9120188"/>
            <a:ext cx="2358000" cy="34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8E99CC"/>
              </a:buClr>
              <a:buSzPts val="1950"/>
              <a:buFont typeface="Readex Pro"/>
              <a:buNone/>
            </a:pPr>
            <a:r>
              <a:rPr lang="ar-SA" sz="1950">
                <a:solidFill>
                  <a:srgbClr val="8E99CC"/>
                </a:solidFill>
                <a:latin typeface="Readex Pro Light"/>
                <a:ea typeface="Readex Pro Light"/>
                <a:cs typeface="Readex Pro Light"/>
                <a:sym typeface="Readex Pro Light"/>
              </a:rPr>
              <a:t>فريق بداية</a:t>
            </a:r>
            <a:endParaRPr i="0" sz="1950" u="none" cap="none" strike="noStrike">
              <a:solidFill>
                <a:srgbClr val="000000"/>
              </a:solidFill>
              <a:latin typeface="Readex Pro Light"/>
              <a:ea typeface="Readex Pro Light"/>
              <a:cs typeface="Readex Pro Light"/>
              <a:sym typeface="Readex Pro Light"/>
            </a:endParaRPr>
          </a:p>
        </p:txBody>
      </p:sp>
      <p:sp>
        <p:nvSpPr>
          <p:cNvPr id="490" name="Google Shape;490;p8"/>
          <p:cNvSpPr/>
          <p:nvPr/>
        </p:nvSpPr>
        <p:spPr>
          <a:xfrm>
            <a:off x="1397000" y="9120188"/>
            <a:ext cx="2765700" cy="34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8E99CC"/>
              </a:buClr>
              <a:buSzPts val="1950"/>
              <a:buFont typeface="Readex Pro"/>
              <a:buNone/>
            </a:pPr>
            <a:r>
              <a:rPr lang="ar-SA" sz="1950">
                <a:solidFill>
                  <a:srgbClr val="8E99CC"/>
                </a:solidFill>
                <a:latin typeface="Readex Pro Light"/>
                <a:ea typeface="Readex Pro Light"/>
                <a:cs typeface="Readex Pro Light"/>
                <a:sym typeface="Readex Pro Light"/>
              </a:rPr>
              <a:t>6 أكتوبر 2026</a:t>
            </a:r>
            <a:endParaRPr i="0" sz="1950" u="none" cap="none" strike="noStrike">
              <a:solidFill>
                <a:srgbClr val="000000"/>
              </a:solidFill>
              <a:latin typeface="Readex Pro Light"/>
              <a:ea typeface="Readex Pro Light"/>
              <a:cs typeface="Readex Pro Light"/>
              <a:sym typeface="Readex Pro Light"/>
            </a:endParaRPr>
          </a:p>
        </p:txBody>
      </p:sp>
      <p:pic>
        <p:nvPicPr>
          <p:cNvPr id="491" name="Google Shape;491;p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78250" y="691134"/>
            <a:ext cx="6572252" cy="1684781"/>
          </a:xfrm>
          <a:prstGeom prst="rect">
            <a:avLst/>
          </a:prstGeom>
          <a:noFill/>
          <a:ln>
            <a:noFill/>
          </a:ln>
        </p:spPr>
      </p:pic>
      <p:pic>
        <p:nvPicPr>
          <p:cNvPr id="492" name="Google Shape;492;p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4954250" y="840995"/>
            <a:ext cx="2190750" cy="138506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535" name="Shape 5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6" name="Google Shape;536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537" name="Google Shape;537;p11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المشكلة</a:t>
            </a:r>
            <a:endParaRPr/>
          </a:p>
        </p:txBody>
      </p:sp>
      <p:sp>
        <p:nvSpPr>
          <p:cNvPr id="538" name="Google Shape;538;p11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لماذا يصعب فهم السيرة على المبتدئ؟</a:t>
            </a:r>
            <a:endParaRPr/>
          </a:p>
        </p:txBody>
      </p:sp>
      <p:sp>
        <p:nvSpPr>
          <p:cNvPr id="539" name="Google Shape;539;p11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السيرة من أوضح الطرق لفهم الإسلام، لكن المبتدئ يواجه فيها أربع عقبات</a:t>
            </a:r>
            <a:endParaRPr/>
          </a:p>
        </p:txBody>
      </p:sp>
      <p:sp>
        <p:nvSpPr>
          <p:cNvPr id="540" name="Google Shape;540;p1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541" name="Google Shape;541;p11"/>
          <p:cNvSpPr txBox="1"/>
          <p:nvPr>
            <p:ph idx="3" type="body"/>
          </p:nvPr>
        </p:nvSpPr>
        <p:spPr>
          <a:xfrm>
            <a:off x="9505950" y="3952875"/>
            <a:ext cx="73344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نصوص طويلة</a:t>
            </a:r>
            <a:endParaRPr/>
          </a:p>
        </p:txBody>
      </p:sp>
      <p:sp>
        <p:nvSpPr>
          <p:cNvPr id="542" name="Google Shape;542;p11"/>
          <p:cNvSpPr txBox="1"/>
          <p:nvPr>
            <p:ph idx="4" type="body"/>
          </p:nvPr>
        </p:nvSpPr>
        <p:spPr>
          <a:xfrm>
            <a:off x="9505950" y="4657725"/>
            <a:ext cx="73344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كتب السيرة مفصّلة وطويلة، ويصعب على المبتدئ أن يعرف من أين يبدأ</a:t>
            </a:r>
            <a:endParaRPr/>
          </a:p>
        </p:txBody>
      </p:sp>
      <p:sp>
        <p:nvSpPr>
          <p:cNvPr id="543" name="Google Shape;543;p11"/>
          <p:cNvSpPr txBox="1"/>
          <p:nvPr>
            <p:ph idx="5" type="body"/>
          </p:nvPr>
        </p:nvSpPr>
        <p:spPr>
          <a:xfrm>
            <a:off x="1714500" y="3952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أماكن بلا خريطة</a:t>
            </a:r>
            <a:endParaRPr/>
          </a:p>
        </p:txBody>
      </p:sp>
      <p:sp>
        <p:nvSpPr>
          <p:cNvPr id="544" name="Google Shape;544;p11"/>
          <p:cNvSpPr txBox="1"/>
          <p:nvPr>
            <p:ph idx="6" type="body"/>
          </p:nvPr>
        </p:nvSpPr>
        <p:spPr>
          <a:xfrm>
            <a:off x="1714500" y="4657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بدر وأحد والحديبية أسماء بلا موقع عند من يسمعها أول مرة</a:t>
            </a:r>
            <a:endParaRPr/>
          </a:p>
        </p:txBody>
      </p:sp>
      <p:sp>
        <p:nvSpPr>
          <p:cNvPr id="545" name="Google Shape;545;p11"/>
          <p:cNvSpPr txBox="1"/>
          <p:nvPr>
            <p:ph idx="7" type="body"/>
          </p:nvPr>
        </p:nvSpPr>
        <p:spPr>
          <a:xfrm>
            <a:off x="9505950" y="6619875"/>
            <a:ext cx="73344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آيات بلا سياق</a:t>
            </a:r>
            <a:endParaRPr/>
          </a:p>
        </p:txBody>
      </p:sp>
      <p:sp>
        <p:nvSpPr>
          <p:cNvPr id="546" name="Google Shape;546;p11"/>
          <p:cNvSpPr txBox="1"/>
          <p:nvPr>
            <p:ph idx="8" type="body"/>
          </p:nvPr>
        </p:nvSpPr>
        <p:spPr>
          <a:xfrm>
            <a:off x="9505950" y="7324725"/>
            <a:ext cx="73344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كثير من آيات القرآن نزلت في مواقف من السيرة، والمبتدئ لا يعرف أيها</a:t>
            </a:r>
            <a:endParaRPr/>
          </a:p>
        </p:txBody>
      </p:sp>
      <p:sp>
        <p:nvSpPr>
          <p:cNvPr id="547" name="Google Shape;547;p11"/>
          <p:cNvSpPr txBox="1"/>
          <p:nvPr>
            <p:ph idx="9" type="body"/>
          </p:nvPr>
        </p:nvSpPr>
        <p:spPr>
          <a:xfrm>
            <a:off x="1714500" y="6619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صعوبة التحقق</a:t>
            </a:r>
            <a:endParaRPr/>
          </a:p>
        </p:txBody>
      </p:sp>
      <p:sp>
        <p:nvSpPr>
          <p:cNvPr id="548" name="Google Shape;548;p11"/>
          <p:cNvSpPr txBox="1"/>
          <p:nvPr>
            <p:ph idx="13" type="body"/>
          </p:nvPr>
        </p:nvSpPr>
        <p:spPr>
          <a:xfrm>
            <a:off x="1714500" y="7324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يصعب على غير المختص معرفة الموثوق مما يقرؤه على الإنترنت</a:t>
            </a:r>
            <a:endParaRPr/>
          </a:p>
        </p:txBody>
      </p:sp>
      <p:sp>
        <p:nvSpPr>
          <p:cNvPr id="549" name="Google Shape;549;p11"/>
          <p:cNvSpPr/>
          <p:nvPr/>
        </p:nvSpPr>
        <p:spPr>
          <a:xfrm>
            <a:off x="7696200" y="9467850"/>
            <a:ext cx="9144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pic>
        <p:nvPicPr>
          <p:cNvPr id="550" name="Google Shape;550;p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600" name="Shape 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1" name="Google Shape;601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602" name="Google Shape;602;p15"/>
          <p:cNvSpPr/>
          <p:nvPr/>
        </p:nvSpPr>
        <p:spPr>
          <a:xfrm>
            <a:off x="7391400" y="9467850"/>
            <a:ext cx="9144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pic>
        <p:nvPicPr>
          <p:cNvPr id="603" name="Google Shape;603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04" name="Google Shape;604;p15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النتائج</a:t>
            </a:r>
            <a:endParaRPr/>
          </a:p>
        </p:txBody>
      </p:sp>
      <p:sp>
        <p:nvSpPr>
          <p:cNvPr id="605" name="Google Shape;605;p15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اختبار الإجابات</a:t>
            </a:r>
            <a:endParaRPr/>
          </a:p>
        </p:txBody>
      </p:sp>
      <p:sp>
        <p:nvSpPr>
          <p:cNvPr id="606" name="Google Shape;606;p15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بعد إضافة معيد الترتيب وتنقية المصادر: 97.9% بدل 95.8%، والامتناع عما لا مصدر له 100% بدل 83%</a:t>
            </a:r>
            <a:endParaRPr/>
          </a:p>
        </p:txBody>
      </p:sp>
      <p:sp>
        <p:nvSpPr>
          <p:cNvPr id="607" name="Google Shape;607;p1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608" name="Google Shape;608;p15"/>
          <p:cNvSpPr txBox="1"/>
          <p:nvPr>
            <p:ph idx="3" type="body"/>
          </p:nvPr>
        </p:nvSpPr>
        <p:spPr>
          <a:xfrm>
            <a:off x="13716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97.9%</a:t>
            </a:r>
            <a:endParaRPr/>
          </a:p>
        </p:txBody>
      </p:sp>
      <p:sp>
        <p:nvSpPr>
          <p:cNvPr id="609" name="Google Shape;609;p15"/>
          <p:cNvSpPr txBox="1"/>
          <p:nvPr>
            <p:ph idx="4" type="body"/>
          </p:nvPr>
        </p:nvSpPr>
        <p:spPr>
          <a:xfrm>
            <a:off x="13716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إجابات بمصدر صحيح</a:t>
            </a:r>
            <a:endParaRPr/>
          </a:p>
        </p:txBody>
      </p:sp>
      <p:sp>
        <p:nvSpPr>
          <p:cNvPr id="610" name="Google Shape;610;p15"/>
          <p:cNvSpPr txBox="1"/>
          <p:nvPr>
            <p:ph idx="5" type="body"/>
          </p:nvPr>
        </p:nvSpPr>
        <p:spPr>
          <a:xfrm>
            <a:off x="13716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47 من 48 سؤالًا، والباقي امتناع</a:t>
            </a:r>
            <a:endParaRPr/>
          </a:p>
        </p:txBody>
      </p:sp>
      <p:sp>
        <p:nvSpPr>
          <p:cNvPr id="611" name="Google Shape;611;p15"/>
          <p:cNvSpPr txBox="1"/>
          <p:nvPr>
            <p:ph idx="6" type="body"/>
          </p:nvPr>
        </p:nvSpPr>
        <p:spPr>
          <a:xfrm>
            <a:off x="9715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44/50</a:t>
            </a:r>
            <a:endParaRPr/>
          </a:p>
        </p:txBody>
      </p:sp>
      <p:sp>
        <p:nvSpPr>
          <p:cNvPr id="612" name="Google Shape;612;p15"/>
          <p:cNvSpPr txBox="1"/>
          <p:nvPr>
            <p:ph idx="7" type="body"/>
          </p:nvPr>
        </p:nvSpPr>
        <p:spPr>
          <a:xfrm>
            <a:off x="9715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درجة الأسئلة الصعبة</a:t>
            </a:r>
            <a:endParaRPr/>
          </a:p>
        </p:txBody>
      </p:sp>
      <p:sp>
        <p:nvSpPr>
          <p:cNvPr id="613" name="Google Shape;613;p15"/>
          <p:cNvSpPr txBox="1"/>
          <p:nvPr>
            <p:ph idx="8" type="body"/>
          </p:nvPr>
        </p:nvSpPr>
        <p:spPr>
          <a:xfrm>
            <a:off x="9715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40 صحيحة و8 جزئية و2 امتناع، بتصحيح يدوي</a:t>
            </a:r>
            <a:endParaRPr/>
          </a:p>
        </p:txBody>
      </p:sp>
      <p:sp>
        <p:nvSpPr>
          <p:cNvPr id="614" name="Google Shape;614;p15"/>
          <p:cNvSpPr txBox="1"/>
          <p:nvPr>
            <p:ph idx="9" type="body"/>
          </p:nvPr>
        </p:nvSpPr>
        <p:spPr>
          <a:xfrm>
            <a:off x="5715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</a:t>
            </a:r>
            <a:endParaRPr/>
          </a:p>
        </p:txBody>
      </p:sp>
      <p:sp>
        <p:nvSpPr>
          <p:cNvPr id="615" name="Google Shape;615;p15"/>
          <p:cNvSpPr txBox="1"/>
          <p:nvPr>
            <p:ph idx="13" type="body"/>
          </p:nvPr>
        </p:nvSpPr>
        <p:spPr>
          <a:xfrm>
            <a:off x="5715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معلومة خاطئة</a:t>
            </a:r>
            <a:endParaRPr/>
          </a:p>
        </p:txBody>
      </p:sp>
      <p:sp>
        <p:nvSpPr>
          <p:cNvPr id="616" name="Google Shape;616;p15"/>
          <p:cNvSpPr txBox="1"/>
          <p:nvPr>
            <p:ph idx="14" type="body"/>
          </p:nvPr>
        </p:nvSpPr>
        <p:spPr>
          <a:xfrm>
            <a:off x="5715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في 50 جوابًا صعبًا؛ ما لم يجده امتنع عنه</a:t>
            </a:r>
            <a:endParaRPr/>
          </a:p>
        </p:txBody>
      </p:sp>
      <p:sp>
        <p:nvSpPr>
          <p:cNvPr id="617" name="Google Shape;617;p15"/>
          <p:cNvSpPr txBox="1"/>
          <p:nvPr>
            <p:ph idx="15" type="body"/>
          </p:nvPr>
        </p:nvSpPr>
        <p:spPr>
          <a:xfrm>
            <a:off x="1714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47/50</a:t>
            </a:r>
            <a:endParaRPr/>
          </a:p>
        </p:txBody>
      </p:sp>
      <p:sp>
        <p:nvSpPr>
          <p:cNvPr id="618" name="Google Shape;618;p15"/>
          <p:cNvSpPr txBox="1"/>
          <p:nvPr>
            <p:ph idx="16" type="body"/>
          </p:nvPr>
        </p:nvSpPr>
        <p:spPr>
          <a:xfrm>
            <a:off x="1714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النتيجة نفسها عند إعادة السؤال</a:t>
            </a:r>
            <a:endParaRPr/>
          </a:p>
        </p:txBody>
      </p:sp>
      <p:sp>
        <p:nvSpPr>
          <p:cNvPr id="619" name="Google Shape;619;p15"/>
          <p:cNvSpPr txBox="1"/>
          <p:nvPr>
            <p:ph idx="17" type="body"/>
          </p:nvPr>
        </p:nvSpPr>
        <p:spPr>
          <a:xfrm>
            <a:off x="1714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بلا تعارض في المعلومات بين المحاولتين</a:t>
            </a:r>
            <a:endParaRPr/>
          </a:p>
        </p:txBody>
      </p:sp>
      <p:sp>
        <p:nvSpPr>
          <p:cNvPr id="620" name="Google Shape;620;p15"/>
          <p:cNvSpPr txBox="1"/>
          <p:nvPr>
            <p:ph idx="18" type="body"/>
          </p:nvPr>
        </p:nvSpPr>
        <p:spPr>
          <a:xfrm>
            <a:off x="8381075" y="8763000"/>
            <a:ext cx="84591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حدود معروفة: العربية المكتوبة بحروف لاتينية، والحساب بين حدثين، وتغيّر الصياغة بين المحاولات. كل سؤال وجوابه وسجل الأخطاء في المستودع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636" name="Shape 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7" name="Google Shape;637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38" name="Google Shape;638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39" name="Google Shape;639;p17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الموثوقية</a:t>
            </a:r>
            <a:endParaRPr/>
          </a:p>
        </p:txBody>
      </p:sp>
      <p:sp>
        <p:nvSpPr>
          <p:cNvPr id="640" name="Google Shape;640;p17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مستويات المحتوى وضبط الاستجابة</a:t>
            </a:r>
            <a:endParaRPr/>
          </a:p>
        </p:txBody>
      </p:sp>
      <p:sp>
        <p:nvSpPr>
          <p:cNvPr id="641" name="Google Shape;641;p17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كما في المرجعية العلمية للتحدي، وما تفعله بداية في كل مستوى</a:t>
            </a:r>
            <a:endParaRPr/>
          </a:p>
        </p:txBody>
      </p:sp>
      <p:sp>
        <p:nvSpPr>
          <p:cNvPr id="642" name="Google Shape;642;p1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graphicFrame>
        <p:nvGraphicFramePr>
          <p:cNvPr id="643" name="Google Shape;643;p17"/>
          <p:cNvGraphicFramePr/>
          <p:nvPr/>
        </p:nvGraphicFramePr>
        <p:xfrm>
          <a:off x="1314450" y="39052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{B8ED9858-D163-4338-9E88-1F424354888F}</a:tableStyleId>
              </a:tblPr>
              <a:tblGrid>
                <a:gridCol w="2286000"/>
                <a:gridCol w="3238500"/>
                <a:gridCol w="6191250"/>
                <a:gridCol w="3714750"/>
              </a:tblGrid>
              <a:tr h="78105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في الاختبار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ما تفعله بداية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أمثلة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المستوى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بمصدر صحيح، وإلا امتنع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جواب مباشر مع رابط المصدر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متى كانت غزوة بدر؟ من هو أبو بكر؟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(أ) معلومات مستقرة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5 من 5 أسئلة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جواب من المصادر مع المرجع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لماذا قبل النبي ﷺ صلح الحديبية؟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(ب) شرح وتعريف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5 من 5 صحيحة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ينقل ما في المصادر، ويذكر الخلاف إن ذكرته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عدد شهداء أحد، سنوات مكة بعد البعثة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(ج) مسائل خلافية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إحالة صحيحة في كل الاختبارات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امتناع وإحالة إلى الرئاسة العامة للبحوث العلمية والإفتاء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هل يجوز…؟ ما حكم…؟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(د) فتوى أو حالة شخصية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</a:tbl>
          </a:graphicData>
        </a:graphic>
      </p:graphicFrame>
      <p:sp>
        <p:nvSpPr>
          <p:cNvPr id="644" name="Google Shape;644;p17"/>
          <p:cNvSpPr txBox="1"/>
          <p:nvPr>
            <p:ph idx="3" type="body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المصادر: الدرر السنية، والصحيحان، وموسوعة التفسير، والرحيق المختوم، والواحدي (الصحيح والحسن فقط) · بلا حسابات، وموضع القراءة وسجل الأسئلة محفوظان في المتصفح فقط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649" name="Shape 6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0" name="Google Shape;650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905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651" name="Google Shape;651;p1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652" name="Google Shape;652;p18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خطة الاستمرار</a:t>
            </a:r>
            <a:endParaRPr/>
          </a:p>
        </p:txBody>
      </p:sp>
      <p:sp>
        <p:nvSpPr>
          <p:cNvPr id="653" name="Google Shape;653;p18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الخطوات التالية</a:t>
            </a:r>
            <a:endParaRPr/>
          </a:p>
        </p:txBody>
      </p:sp>
      <p:sp>
        <p:nvSpPr>
          <p:cNvPr id="654" name="Google Shape;654;p18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ما يعمل الآن، وما نقترحه بعده</a:t>
            </a:r>
            <a:endParaRPr/>
          </a:p>
        </p:txBody>
      </p:sp>
      <p:sp>
        <p:nvSpPr>
          <p:cNvPr id="655" name="Google Shape;655;p18"/>
          <p:cNvSpPr txBox="1"/>
          <p:nvPr>
            <p:ph idx="3" type="body"/>
          </p:nvPr>
        </p:nvSpPr>
        <p:spPr>
          <a:xfrm>
            <a:off x="139827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01</a:t>
            </a:r>
            <a:endParaRPr/>
          </a:p>
        </p:txBody>
      </p:sp>
      <p:sp>
        <p:nvSpPr>
          <p:cNvPr id="656" name="Google Shape;656;p18"/>
          <p:cNvSpPr txBox="1"/>
          <p:nvPr>
            <p:ph idx="4" type="body"/>
          </p:nvPr>
        </p:nvSpPr>
        <p:spPr>
          <a:xfrm>
            <a:off x="1398270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التشغيل الحالي</a:t>
            </a:r>
            <a:endParaRPr/>
          </a:p>
        </p:txBody>
      </p:sp>
      <p:sp>
        <p:nvSpPr>
          <p:cNvPr id="657" name="Google Shape;657;p18"/>
          <p:cNvSpPr txBox="1"/>
          <p:nvPr>
            <p:ph idx="5" type="body"/>
          </p:nvPr>
        </p:nvSpPr>
        <p:spPr>
          <a:xfrm>
            <a:off x="139827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الآن</a:t>
            </a:r>
            <a:endParaRPr/>
          </a:p>
        </p:txBody>
      </p:sp>
      <p:sp>
        <p:nvSpPr>
          <p:cNvPr id="658" name="Google Shape;658;p18"/>
          <p:cNvSpPr txBox="1"/>
          <p:nvPr>
            <p:ph idx="6" type="body"/>
          </p:nvPr>
        </p:nvSpPr>
        <p:spPr>
          <a:xfrm>
            <a:off x="1398270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موقع حي بالعربية والإنجليزية، مع قراءة صوتية للقصة</a:t>
            </a:r>
            <a:endParaRPr/>
          </a:p>
        </p:txBody>
      </p:sp>
      <p:sp>
        <p:nvSpPr>
          <p:cNvPr id="659" name="Google Shape;659;p18"/>
          <p:cNvSpPr txBox="1"/>
          <p:nvPr>
            <p:ph idx="7" type="body"/>
          </p:nvPr>
        </p:nvSpPr>
        <p:spPr>
          <a:xfrm>
            <a:off x="108394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02</a:t>
            </a:r>
            <a:endParaRPr/>
          </a:p>
        </p:txBody>
      </p:sp>
      <p:sp>
        <p:nvSpPr>
          <p:cNvPr id="660" name="Google Shape;660;p18"/>
          <p:cNvSpPr txBox="1"/>
          <p:nvPr>
            <p:ph idx="8" type="body"/>
          </p:nvPr>
        </p:nvSpPr>
        <p:spPr>
          <a:xfrm>
            <a:off x="1083945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اختبار أوسع</a:t>
            </a:r>
            <a:endParaRPr/>
          </a:p>
        </p:txBody>
      </p:sp>
      <p:sp>
        <p:nvSpPr>
          <p:cNvPr id="661" name="Google Shape;661;p18"/>
          <p:cNvSpPr txBox="1"/>
          <p:nvPr>
            <p:ph idx="9" type="body"/>
          </p:nvPr>
        </p:nvSpPr>
        <p:spPr>
          <a:xfrm>
            <a:off x="108394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الشهر الأول</a:t>
            </a:r>
            <a:endParaRPr/>
          </a:p>
        </p:txBody>
      </p:sp>
      <p:sp>
        <p:nvSpPr>
          <p:cNvPr id="662" name="Google Shape;662;p18"/>
          <p:cNvSpPr txBox="1"/>
          <p:nvPr>
            <p:ph idx="13" type="body"/>
          </p:nvPr>
        </p:nvSpPr>
        <p:spPr>
          <a:xfrm>
            <a:off x="1083945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بعد التجربة الأولى مع 10 أشخاص: عدد أكبر بكثير من المستفيدين</a:t>
            </a:r>
            <a:endParaRPr/>
          </a:p>
        </p:txBody>
      </p:sp>
      <p:sp>
        <p:nvSpPr>
          <p:cNvPr id="663" name="Google Shape;663;p18"/>
          <p:cNvSpPr txBox="1"/>
          <p:nvPr>
            <p:ph idx="14" type="body"/>
          </p:nvPr>
        </p:nvSpPr>
        <p:spPr>
          <a:xfrm>
            <a:off x="76962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03</a:t>
            </a:r>
            <a:endParaRPr/>
          </a:p>
        </p:txBody>
      </p:sp>
      <p:sp>
        <p:nvSpPr>
          <p:cNvPr id="664" name="Google Shape;664;p18"/>
          <p:cNvSpPr txBox="1"/>
          <p:nvPr>
            <p:ph idx="15" type="body"/>
          </p:nvPr>
        </p:nvSpPr>
        <p:spPr>
          <a:xfrm>
            <a:off x="769620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توسيع المحتوى</a:t>
            </a:r>
            <a:endParaRPr/>
          </a:p>
        </p:txBody>
      </p:sp>
      <p:sp>
        <p:nvSpPr>
          <p:cNvPr id="665" name="Google Shape;665;p18"/>
          <p:cNvSpPr txBox="1"/>
          <p:nvPr>
            <p:ph idx="16" type="body"/>
          </p:nvPr>
        </p:nvSpPr>
        <p:spPr>
          <a:xfrm>
            <a:off x="76962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مستمر</a:t>
            </a:r>
            <a:endParaRPr/>
          </a:p>
        </p:txBody>
      </p:sp>
      <p:sp>
        <p:nvSpPr>
          <p:cNvPr id="666" name="Google Shape;666;p18"/>
          <p:cNvSpPr txBox="1"/>
          <p:nvPr>
            <p:ph idx="17" type="body"/>
          </p:nvPr>
        </p:nvSpPr>
        <p:spPr>
          <a:xfrm>
            <a:off x="769620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إضافة تفاصيل أخرى مثل سير الصحابة رضوان الله عليهم</a:t>
            </a:r>
            <a:endParaRPr/>
          </a:p>
        </p:txBody>
      </p:sp>
      <p:sp>
        <p:nvSpPr>
          <p:cNvPr id="667" name="Google Shape;667;p18"/>
          <p:cNvSpPr txBox="1"/>
          <p:nvPr>
            <p:ph idx="18" type="body"/>
          </p:nvPr>
        </p:nvSpPr>
        <p:spPr>
          <a:xfrm>
            <a:off x="45529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04</a:t>
            </a:r>
            <a:endParaRPr/>
          </a:p>
        </p:txBody>
      </p:sp>
      <p:sp>
        <p:nvSpPr>
          <p:cNvPr id="668" name="Google Shape;668;p18"/>
          <p:cNvSpPr txBox="1"/>
          <p:nvPr>
            <p:ph idx="19" type="body"/>
          </p:nvPr>
        </p:nvSpPr>
        <p:spPr>
          <a:xfrm>
            <a:off x="455295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تحسين المساعد</a:t>
            </a:r>
            <a:endParaRPr/>
          </a:p>
        </p:txBody>
      </p:sp>
      <p:sp>
        <p:nvSpPr>
          <p:cNvPr id="669" name="Google Shape;669;p18"/>
          <p:cNvSpPr txBox="1"/>
          <p:nvPr>
            <p:ph idx="20" type="body"/>
          </p:nvPr>
        </p:nvSpPr>
        <p:spPr>
          <a:xfrm>
            <a:off x="45529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قريبًا</a:t>
            </a:r>
            <a:endParaRPr/>
          </a:p>
        </p:txBody>
      </p:sp>
      <p:sp>
        <p:nvSpPr>
          <p:cNvPr id="670" name="Google Shape;670;p18"/>
          <p:cNvSpPr txBox="1"/>
          <p:nvPr>
            <p:ph idx="21" type="body"/>
          </p:nvPr>
        </p:nvSpPr>
        <p:spPr>
          <a:xfrm>
            <a:off x="455295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يفهم الحدث الذي يقرؤه المستخدم، ويُعاد اختباره قبل النشر</a:t>
            </a:r>
            <a:endParaRPr/>
          </a:p>
        </p:txBody>
      </p:sp>
      <p:sp>
        <p:nvSpPr>
          <p:cNvPr id="671" name="Google Shape;671;p18"/>
          <p:cNvSpPr txBox="1"/>
          <p:nvPr>
            <p:ph idx="22" type="body"/>
          </p:nvPr>
        </p:nvSpPr>
        <p:spPr>
          <a:xfrm>
            <a:off x="14097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05</a:t>
            </a:r>
            <a:endParaRPr/>
          </a:p>
        </p:txBody>
      </p:sp>
      <p:sp>
        <p:nvSpPr>
          <p:cNvPr id="672" name="Google Shape;672;p18"/>
          <p:cNvSpPr txBox="1"/>
          <p:nvPr>
            <p:ph idx="23" type="body"/>
          </p:nvPr>
        </p:nvSpPr>
        <p:spPr>
          <a:xfrm>
            <a:off x="140970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لغات أخرى</a:t>
            </a:r>
            <a:endParaRPr/>
          </a:p>
        </p:txBody>
      </p:sp>
      <p:sp>
        <p:nvSpPr>
          <p:cNvPr id="673" name="Google Shape;673;p18"/>
          <p:cNvSpPr txBox="1"/>
          <p:nvPr>
            <p:ph idx="24" type="body"/>
          </p:nvPr>
        </p:nvSpPr>
        <p:spPr>
          <a:xfrm>
            <a:off x="14097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بعد ذلك</a:t>
            </a:r>
            <a:endParaRPr/>
          </a:p>
        </p:txBody>
      </p:sp>
      <p:sp>
        <p:nvSpPr>
          <p:cNvPr id="674" name="Google Shape;674;p18"/>
          <p:cNvSpPr txBox="1"/>
          <p:nvPr>
            <p:ph idx="25" type="body"/>
          </p:nvPr>
        </p:nvSpPr>
        <p:spPr>
          <a:xfrm>
            <a:off x="140970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لغات يحتاجها المستفيدون، بترجمات معتمدة للنصوص والصوت</a:t>
            </a:r>
            <a:endParaRPr/>
          </a:p>
        </p:txBody>
      </p:sp>
      <p:cxnSp>
        <p:nvCxnSpPr>
          <p:cNvPr id="675" name="Google Shape;675;p18"/>
          <p:cNvCxnSpPr/>
          <p:nvPr/>
        </p:nvCxnSpPr>
        <p:spPr>
          <a:xfrm rot="10800000">
            <a:off x="139923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676" name="Google Shape;676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77" name="Google Shape;677;p18"/>
          <p:cNvCxnSpPr/>
          <p:nvPr/>
        </p:nvCxnSpPr>
        <p:spPr>
          <a:xfrm rot="10800000">
            <a:off x="108300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78" name="Google Shape;678;p18"/>
          <p:cNvCxnSpPr/>
          <p:nvPr/>
        </p:nvCxnSpPr>
        <p:spPr>
          <a:xfrm rot="10800000">
            <a:off x="76677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79" name="Google Shape;679;p18"/>
          <p:cNvCxnSpPr/>
          <p:nvPr/>
        </p:nvCxnSpPr>
        <p:spPr>
          <a:xfrm rot="10800000">
            <a:off x="45054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80" name="Google Shape;680;p18"/>
          <p:cNvCxnSpPr/>
          <p:nvPr/>
        </p:nvCxnSpPr>
        <p:spPr>
          <a:xfrm rot="10800000">
            <a:off x="13431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5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6" name="Google Shape;686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905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87" name="Google Shape;687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88" name="Google Shape;688;p19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الفريق</a:t>
            </a:r>
            <a:endParaRPr/>
          </a:p>
        </p:txBody>
      </p:sp>
      <p:sp>
        <p:nvSpPr>
          <p:cNvPr id="689" name="Google Shape;689;p19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فريق العمل</a:t>
            </a:r>
            <a:endParaRPr/>
          </a:p>
        </p:txBody>
      </p:sp>
      <p:sp>
        <p:nvSpPr>
          <p:cNvPr id="690" name="Google Shape;690;p19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فريق بداية: التقنية والمحتوى والاختبار</a:t>
            </a:r>
            <a:endParaRPr/>
          </a:p>
        </p:txBody>
      </p:sp>
      <p:sp>
        <p:nvSpPr>
          <p:cNvPr id="691" name="Google Shape;691;p19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9190" name="Screenshot 1" descr="رمز الذكاء الاصطناعي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192000" y="3857625"/>
            <a:ext cx="2571750" cy="2571750"/>
          </a:xfrm>
          <a:prstGeom prst="rect">
            <a:avLst/>
          </a:prstGeom>
          <a:ln>
            <a:noFill/>
          </a:ln>
        </p:spPr>
      </p:pic>
      <p:sp>
        <p:nvSpPr>
          <p:cNvPr id="693" name="Google Shape;693;p19"/>
          <p:cNvSpPr txBox="1"/>
          <p:nvPr>
            <p:ph idx="4" type="body"/>
          </p:nvPr>
        </p:nvSpPr>
        <p:spPr>
          <a:xfrm>
            <a:off x="1171575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عمر بن طالب</a:t>
            </a:r>
            <a:endParaRPr/>
          </a:p>
        </p:txBody>
      </p:sp>
      <p:sp>
        <p:nvSpPr>
          <p:cNvPr id="694" name="Google Shape;694;p19"/>
          <p:cNvSpPr txBox="1"/>
          <p:nvPr>
            <p:ph idx="5" type="body"/>
          </p:nvPr>
        </p:nvSpPr>
        <p:spPr>
          <a:xfrm>
            <a:off x="1171575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الذكاء الاصطناعي: المساعد، والتبسيط والترجمة، ودقة الإجابات</a:t>
            </a:r>
            <a:endParaRPr/>
          </a:p>
        </p:txBody>
      </p:sp>
      <p:pic>
        <p:nvPicPr>
          <p:cNvPr id="9191" name="Screenshot 2" descr="رمز الواجهة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91500" y="3857625"/>
            <a:ext cx="2571750" cy="2571750"/>
          </a:xfrm>
          <a:prstGeom prst="rect">
            <a:avLst/>
          </a:prstGeom>
          <a:ln>
            <a:noFill/>
          </a:ln>
        </p:spPr>
      </p:pic>
      <p:sp>
        <p:nvSpPr>
          <p:cNvPr id="696" name="Google Shape;696;p19"/>
          <p:cNvSpPr txBox="1"/>
          <p:nvPr>
            <p:ph idx="7" type="body"/>
          </p:nvPr>
        </p:nvSpPr>
        <p:spPr>
          <a:xfrm>
            <a:off x="771525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الياس التركستاني</a:t>
            </a:r>
            <a:endParaRPr/>
          </a:p>
        </p:txBody>
      </p:sp>
      <p:sp>
        <p:nvSpPr>
          <p:cNvPr id="697" name="Google Shape;697;p19"/>
          <p:cNvSpPr txBox="1"/>
          <p:nvPr>
            <p:ph idx="8" type="body"/>
          </p:nvPr>
        </p:nvSpPr>
        <p:spPr>
          <a:xfrm>
            <a:off x="771525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الواجهة وتجربة المستخدم: الخريطة والخط الزمني، ورحلة التعلم</a:t>
            </a:r>
            <a:endParaRPr/>
          </a:p>
        </p:txBody>
      </p:sp>
      <p:pic>
        <p:nvPicPr>
          <p:cNvPr id="9192" name="Screenshot 3" descr="رمز المحتوى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91000" y="3857625"/>
            <a:ext cx="2571750" cy="2571750"/>
          </a:xfrm>
          <a:prstGeom prst="rect">
            <a:avLst/>
          </a:prstGeom>
          <a:ln>
            <a:noFill/>
          </a:ln>
        </p:spPr>
      </p:pic>
      <p:sp>
        <p:nvSpPr>
          <p:cNvPr id="699" name="Google Shape;699;p19"/>
          <p:cNvSpPr txBox="1"/>
          <p:nvPr>
            <p:ph idx="13" type="body"/>
          </p:nvPr>
        </p:nvSpPr>
        <p:spPr>
          <a:xfrm>
            <a:off x="371475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حسان الغامدي</a:t>
            </a:r>
            <a:endParaRPr/>
          </a:p>
        </p:txBody>
      </p:sp>
      <p:sp>
        <p:nvSpPr>
          <p:cNvPr id="700" name="Google Shape;700;p19"/>
          <p:cNvSpPr txBox="1"/>
          <p:nvPr>
            <p:ph idx="14" type="body"/>
          </p:nvPr>
        </p:nvSpPr>
        <p:spPr>
          <a:xfrm>
            <a:off x="371475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المحتوى والمراجعة: جمع المصادر، ومراجعة الأحداث والمصطلحات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6" name="Shape 8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7" name="Google Shape;817;p24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18" name="Google Shape;818;p24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الذكاء الاصطناعي</a:t>
            </a:r>
            <a:endParaRPr/>
          </a:p>
        </p:txBody>
      </p:sp>
      <p:sp>
        <p:nvSpPr>
          <p:cNvPr id="819" name="Google Shape;819;p24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كيف يجيب «اسأل الخريطة»</a:t>
            </a:r>
            <a:endParaRPr/>
          </a:p>
        </p:txBody>
      </p:sp>
      <p:sp>
        <p:nvSpPr>
          <p:cNvPr id="820" name="Google Shape;820;p24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من سؤال المستخدم إلى الجواب على الخريطة</a:t>
            </a:r>
            <a:endParaRPr/>
          </a:p>
        </p:txBody>
      </p:sp>
      <p:sp>
        <p:nvSpPr>
          <p:cNvPr id="821" name="Google Shape;821;p24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822" name="Google Shape;822;p24"/>
          <p:cNvSpPr/>
          <p:nvPr/>
        </p:nvSpPr>
        <p:spPr>
          <a:xfrm>
            <a:off x="13716000" y="4333800"/>
            <a:ext cx="3429000" cy="3714900"/>
          </a:xfrm>
          <a:prstGeom prst="roundRect">
            <a:avLst>
              <a:gd fmla="val 8059" name="adj"/>
            </a:avLst>
          </a:prstGeom>
          <a:solidFill>
            <a:srgbClr val="FFFFFF">
              <a:alpha val="3920"/>
            </a:srgbClr>
          </a:solidFill>
          <a:ln cap="flat" cmpd="sng" w="8175">
            <a:solidFill>
              <a:srgbClr val="2EF2C2">
                <a:alpha val="1216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400" lIns="78400" spcFirstLastPara="1" rIns="78400" wrap="square" tIns="78400">
            <a:noAutofit/>
          </a:bodyPr>
          <a:lstStyle/>
          <a:p>
            <a:pPr indent="0" lvl="0" marL="0" marR="23867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-SA" sz="36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01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300"/>
              </a:spcBef>
              <a:spcAft>
                <a:spcPts val="0"/>
              </a:spcAft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السؤال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بالعربية أو الإنجليزية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مع سياق المحادثة لأسئلة المتابعة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0"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1"/>
          </a:p>
        </p:txBody>
      </p:sp>
      <p:sp>
        <p:nvSpPr>
          <p:cNvPr id="823" name="Google Shape;823;p24"/>
          <p:cNvSpPr/>
          <p:nvPr/>
        </p:nvSpPr>
        <p:spPr>
          <a:xfrm>
            <a:off x="9715500" y="4333800"/>
            <a:ext cx="3429000" cy="3714900"/>
          </a:xfrm>
          <a:prstGeom prst="roundRect">
            <a:avLst>
              <a:gd fmla="val 8059" name="adj"/>
            </a:avLst>
          </a:prstGeom>
          <a:solidFill>
            <a:srgbClr val="FFFFFF">
              <a:alpha val="3920"/>
            </a:srgbClr>
          </a:solidFill>
          <a:ln cap="flat" cmpd="sng" w="8175">
            <a:solidFill>
              <a:srgbClr val="2EF2C2">
                <a:alpha val="1216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400" lIns="78400" spcFirstLastPara="1" rIns="78400" wrap="square" tIns="78400">
            <a:noAutofit/>
          </a:bodyPr>
          <a:lstStyle/>
          <a:p>
            <a:pPr indent="0" lvl="0" marL="0" marR="223307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-SA" sz="36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02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300"/>
              </a:spcBef>
              <a:spcAft>
                <a:spcPts val="0"/>
              </a:spcAft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الفهم والبحث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نموذج لغوي يصنّف السؤال ويعيد صياغته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بحث في 2,905 من نصوص المصادر ثم ترتيبها</a:t>
            </a:r>
            <a:endParaRPr b="1" sz="36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sp>
        <p:nvSpPr>
          <p:cNvPr id="824" name="Google Shape;824;p24"/>
          <p:cNvSpPr/>
          <p:nvPr/>
        </p:nvSpPr>
        <p:spPr>
          <a:xfrm>
            <a:off x="5715000" y="4333800"/>
            <a:ext cx="3429000" cy="3714900"/>
          </a:xfrm>
          <a:prstGeom prst="roundRect">
            <a:avLst>
              <a:gd fmla="val 8059" name="adj"/>
            </a:avLst>
          </a:prstGeom>
          <a:solidFill>
            <a:srgbClr val="FFFFFF">
              <a:alpha val="3920"/>
            </a:srgbClr>
          </a:solidFill>
          <a:ln cap="flat" cmpd="sng" w="8175">
            <a:solidFill>
              <a:srgbClr val="2EF2C2">
                <a:alpha val="1216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400" lIns="78400" spcFirstLastPara="1" rIns="78400" wrap="square" tIns="78400">
            <a:noAutofit/>
          </a:bodyPr>
          <a:lstStyle/>
          <a:p>
            <a:pPr indent="0" lvl="0" marL="0" marR="238125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-SA" sz="36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03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300"/>
              </a:spcBef>
              <a:spcAft>
                <a:spcPts val="0"/>
              </a:spcAft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جواب موثّق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يجيب من المصادر مع روابطها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وإن لم يجد فيها جوابًا امتنع</a:t>
            </a:r>
            <a:endParaRPr b="1" sz="36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sp>
        <p:nvSpPr>
          <p:cNvPr id="825" name="Google Shape;825;p24"/>
          <p:cNvSpPr/>
          <p:nvPr/>
        </p:nvSpPr>
        <p:spPr>
          <a:xfrm>
            <a:off x="1714500" y="4333800"/>
            <a:ext cx="3429000" cy="3714900"/>
          </a:xfrm>
          <a:prstGeom prst="roundRect">
            <a:avLst>
              <a:gd fmla="val 8059" name="adj"/>
            </a:avLst>
          </a:prstGeom>
          <a:solidFill>
            <a:srgbClr val="FFFFFF">
              <a:alpha val="3920"/>
            </a:srgbClr>
          </a:solidFill>
          <a:ln cap="flat" cmpd="sng" w="8175">
            <a:solidFill>
              <a:srgbClr val="2EF2C2">
                <a:alpha val="1216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400" lIns="78400" spcFirstLastPara="1" rIns="78400" wrap="square" tIns="78400">
            <a:noAutofit/>
          </a:bodyPr>
          <a:lstStyle/>
          <a:p>
            <a:pPr indent="0" lvl="0" marL="0" marR="223307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-SA" sz="36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04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300"/>
              </a:spcBef>
              <a:spcAft>
                <a:spcPts val="0"/>
              </a:spcAft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على الخريطة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تنتقل الخريطة إلى الحدث أو بطاقة الشخص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مع زر للعودة إلى موضع القراءة</a:t>
            </a:r>
            <a:endParaRPr b="1" sz="36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pic>
        <p:nvPicPr>
          <p:cNvPr id="826" name="Google Shape;826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2" name="Google Shape;832;p25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33" name="Google Shape;833;p2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9250" name="Screenshot 1" descr="Ask the map: an answer about the first revelation from Dorar and Sahih al-Bukhari, the map at the cave of Hira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4160" y="666750"/>
            <a:ext cx="12979680" cy="6953400"/>
          </a:xfrm>
          <a:prstGeom prst="roundRect">
            <a:avLst>
              <a:gd fmla="val 3580" name="adj"/>
            </a:avLst>
          </a:prstGeom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35" name="Google Shape;835;p25"/>
          <p:cNvSpPr txBox="1"/>
          <p:nvPr>
            <p:ph type="title"/>
          </p:nvPr>
        </p:nvSpPr>
        <p:spPr>
          <a:xfrm>
            <a:off x="2038350" y="7962900"/>
            <a:ext cx="1476390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اسأل الخريطة: مساعد بالذكاء الاصطناعي يجيب من المصادر</a:t>
            </a:r>
            <a:endParaRPr/>
          </a:p>
        </p:txBody>
      </p:sp>
      <p:sp>
        <p:nvSpPr>
          <p:cNvPr id="836" name="Google Shape;836;p25"/>
          <p:cNvSpPr txBox="1"/>
          <p:nvPr>
            <p:ph idx="1" type="body"/>
          </p:nvPr>
        </p:nvSpPr>
        <p:spPr>
          <a:xfrm>
            <a:off x="1990725" y="8824913"/>
            <a:ext cx="14763900" cy="4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سؤال عن بدء الوحي: جواب من الدرر السنية وصحيح البخاري مع رابطيهما، وتنتقل الخريطة إلى غار حراء مع زر للعودة إلى موضع القراءة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7" name="Shape 8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8" name="Google Shape;858;p27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59" name="Google Shape;859;p2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860" name="Google Shape;860;p27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الحل</a:t>
            </a:r>
            <a:endParaRPr/>
          </a:p>
        </p:txBody>
      </p:sp>
      <p:sp>
        <p:nvSpPr>
          <p:cNvPr id="861" name="Google Shape;861;p27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بداية: السيرة قصةً على الخريطة</a:t>
            </a:r>
            <a:endParaRPr/>
          </a:p>
        </p:txBody>
      </p:sp>
      <p:sp>
        <p:nvSpPr>
          <p:cNvPr id="862" name="Google Shape;862;p27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بالعربية والإنجليزية، مع ملخص للسيرة في 21 لحظة، وإعدادات للإتاحة: حجم النص، والتباعد، وألوان بتباين عالٍ، وخط القراءة، وتقليل الحركة</a:t>
            </a:r>
            <a:endParaRPr/>
          </a:p>
        </p:txBody>
      </p:sp>
      <p:sp>
        <p:nvSpPr>
          <p:cNvPr id="863" name="Google Shape;863;p2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864" name="Google Shape;864;p27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144589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65" name="Google Shape;865;p27"/>
          <p:cNvSpPr txBox="1"/>
          <p:nvPr>
            <p:ph idx="3" type="body"/>
          </p:nvPr>
        </p:nvSpPr>
        <p:spPr>
          <a:xfrm>
            <a:off x="134112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القصة على الخريطة</a:t>
            </a:r>
            <a:endParaRPr/>
          </a:p>
        </p:txBody>
      </p:sp>
      <p:sp>
        <p:nvSpPr>
          <p:cNvPr id="866" name="Google Shape;866;p27"/>
          <p:cNvSpPr txBox="1"/>
          <p:nvPr>
            <p:ph idx="4" type="body"/>
          </p:nvPr>
        </p:nvSpPr>
        <p:spPr>
          <a:xfrm>
            <a:off x="134112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142 حدثًا على الخريطة خطوة بخطوة، وسؤال في نهاية كل فصل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/>
            </a:r>
            <a:endParaRPr/>
          </a:p>
        </p:txBody>
      </p:sp>
      <p:pic>
        <p:nvPicPr>
          <p:cNvPr id="867" name="Google Shape;867;p27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104584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68" name="Google Shape;868;p27"/>
          <p:cNvSpPr txBox="1"/>
          <p:nvPr>
            <p:ph idx="5" type="body"/>
          </p:nvPr>
        </p:nvSpPr>
        <p:spPr>
          <a:xfrm>
            <a:off x="94107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السور في سياقها</a:t>
            </a:r>
            <a:endParaRPr/>
          </a:p>
        </p:txBody>
      </p:sp>
      <p:sp>
        <p:nvSpPr>
          <p:cNvPr id="869" name="Google Shape;869;p27"/>
          <p:cNvSpPr txBox="1"/>
          <p:nvPr>
            <p:ph idx="6" type="body"/>
          </p:nvPr>
        </p:nvSpPr>
        <p:spPr>
          <a:xfrm>
            <a:off x="94107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الآيات مع أحداثها، من الصحيحين وموسوعة التفسير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/>
            </a:r>
            <a:endParaRPr/>
          </a:p>
        </p:txBody>
      </p:sp>
      <p:pic>
        <p:nvPicPr>
          <p:cNvPr id="870" name="Google Shape;870;p27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64579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71" name="Google Shape;871;p27"/>
          <p:cNvSpPr txBox="1"/>
          <p:nvPr>
            <p:ph idx="7" type="body"/>
          </p:nvPr>
        </p:nvSpPr>
        <p:spPr>
          <a:xfrm>
            <a:off x="54102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اسأل الخريطة</a:t>
            </a:r>
            <a:endParaRPr/>
          </a:p>
        </p:txBody>
      </p:sp>
      <p:sp>
        <p:nvSpPr>
          <p:cNvPr id="872" name="Google Shape;872;p27"/>
          <p:cNvSpPr txBox="1"/>
          <p:nvPr>
            <p:ph idx="8" type="body"/>
          </p:nvPr>
        </p:nvSpPr>
        <p:spPr>
          <a:xfrm>
            <a:off x="54102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مساعد بالذكاء الاصطناعي يجيب من المصادر وينقل الخريطة إلى الحدث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/>
            </a:r>
            <a:endParaRPr/>
          </a:p>
        </p:txBody>
      </p:sp>
      <p:pic>
        <p:nvPicPr>
          <p:cNvPr id="873" name="Google Shape;873;p27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24574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74" name="Google Shape;874;p27"/>
          <p:cNvSpPr txBox="1"/>
          <p:nvPr>
            <p:ph idx="9" type="body"/>
          </p:nvPr>
        </p:nvSpPr>
        <p:spPr>
          <a:xfrm>
            <a:off x="14097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القصة مسموعة</a:t>
            </a:r>
            <a:endParaRPr/>
          </a:p>
        </p:txBody>
      </p:sp>
      <p:sp>
        <p:nvSpPr>
          <p:cNvPr id="875" name="Google Shape;875;p27"/>
          <p:cNvSpPr txBox="1"/>
          <p:nvPr>
            <p:ph idx="13" type="body"/>
          </p:nvPr>
        </p:nvSpPr>
        <p:spPr>
          <a:xfrm>
            <a:off x="14097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كل الأحداث ومقدمات الفصول بصوت مقروء، بالعربية والإنجليزية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/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3" name="Shape 9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4" name="Google Shape;914;p31" title="خلفية هكثون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915" name="Google Shape;915;p31"/>
          <p:cNvSpPr txBox="1"/>
          <p:nvPr>
            <p:ph idx="1" type="body"/>
          </p:nvPr>
        </p:nvSpPr>
        <p:spPr>
          <a:xfrm>
            <a:off x="3810000" y="5676900"/>
            <a:ext cx="106680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0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بداية</a:t>
            </a:r>
            <a:endParaRPr/>
          </a:p>
        </p:txBody>
      </p:sp>
      <p:sp>
        <p:nvSpPr>
          <p:cNvPr id="916" name="Google Shape;916;p31"/>
          <p:cNvSpPr txBox="1"/>
          <p:nvPr>
            <p:ph idx="2" type="body"/>
          </p:nvPr>
        </p:nvSpPr>
        <p:spPr>
          <a:xfrm>
            <a:off x="3810000" y="6653200"/>
            <a:ext cx="10668000" cy="66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en-US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bidaya-sirah.vercel.app  ·  github.com/omarbintalib/Bidaya</a:t>
            </a:r>
            <a:endParaRPr/>
          </a:p>
        </p:txBody>
      </p:sp>
      <p:sp>
        <p:nvSpPr>
          <p:cNvPr id="917" name="Google Shape;917;p31"/>
          <p:cNvSpPr txBox="1"/>
          <p:nvPr>
            <p:ph type="title"/>
          </p:nvPr>
        </p:nvSpPr>
        <p:spPr>
          <a:xfrm>
            <a:off x="3810000" y="3819525"/>
            <a:ext cx="10668000" cy="142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</a:pPr>
            <a:r>
              <a:rPr b="1" lang="ar-SA" sz="72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شكراً لكم</a:t>
            </a:r>
            <a:endParaRPr/>
          </a:p>
        </p:txBody>
      </p:sp>
      <p:pic>
        <p:nvPicPr>
          <p:cNvPr id="918" name="Google Shape;918;p31" title="شعار الهاكثون لايت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58450" y="1277075"/>
            <a:ext cx="6546002" cy="1678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19" name="Google Shape;919;p3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3237879" y="1460433"/>
            <a:ext cx="1891696" cy="1195990"/>
          </a:xfrm>
          <a:prstGeom prst="rect">
            <a:avLst/>
          </a:prstGeom>
          <a:noFill/>
          <a:ln>
            <a:noFill/>
          </a:ln>
        </p:spPr>
      </p:pic>
      <p:pic>
        <p:nvPicPr>
          <p:cNvPr id="920" name="Google Shape;920;p31" title="شعار عام الذكاء الاصطناعي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056994" y="1261812"/>
            <a:ext cx="2908672" cy="1708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921" name="Google Shape;921;p31" title="شعار سدايا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7750489" y="7716733"/>
            <a:ext cx="2292680" cy="13467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22" name="Google Shape;922;p31" title="شعار فيوتشر.pn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3179331" y="7929122"/>
            <a:ext cx="1570852" cy="921955"/>
          </a:xfrm>
          <a:prstGeom prst="rect">
            <a:avLst/>
          </a:prstGeom>
          <a:noFill/>
          <a:ln>
            <a:noFill/>
          </a:ln>
        </p:spPr>
      </p:pic>
      <p:pic>
        <p:nvPicPr>
          <p:cNvPr id="923" name="Google Shape;923;p31" title="شعار التحول.png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5373933" y="7875719"/>
            <a:ext cx="1752806" cy="1028753"/>
          </a:xfrm>
          <a:prstGeom prst="rect">
            <a:avLst/>
          </a:prstGeom>
          <a:noFill/>
          <a:ln>
            <a:noFill/>
          </a:ln>
        </p:spPr>
      </p:pic>
      <p:sp>
        <p:nvSpPr>
          <p:cNvPr id="924" name="Google Shape;924;p31"/>
          <p:cNvSpPr txBox="1"/>
          <p:nvPr/>
        </p:nvSpPr>
        <p:spPr>
          <a:xfrm>
            <a:off x="14046675" y="8254733"/>
            <a:ext cx="1062000" cy="29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شركاء التحدي</a:t>
            </a:r>
            <a:r>
              <a:rPr lang="ar-SA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:</a:t>
            </a:r>
            <a:endParaRPr sz="18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cxnSp>
        <p:nvCxnSpPr>
          <p:cNvPr id="925" name="Google Shape;925;p31"/>
          <p:cNvCxnSpPr/>
          <p:nvPr/>
        </p:nvCxnSpPr>
        <p:spPr>
          <a:xfrm>
            <a:off x="7456246" y="8142400"/>
            <a:ext cx="0" cy="453600"/>
          </a:xfrm>
          <a:prstGeom prst="straightConnector1">
            <a:avLst/>
          </a:prstGeom>
          <a:noFill/>
          <a:ln cap="flat" cmpd="sng" w="9525">
            <a:solidFill>
              <a:srgbClr val="2EF2C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26" name="Google Shape;926;p31"/>
          <p:cNvCxnSpPr/>
          <p:nvPr/>
        </p:nvCxnSpPr>
        <p:spPr>
          <a:xfrm>
            <a:off x="5075007" y="8142400"/>
            <a:ext cx="0" cy="453600"/>
          </a:xfrm>
          <a:prstGeom prst="straightConnector1">
            <a:avLst/>
          </a:prstGeom>
          <a:noFill/>
          <a:ln cap="flat" cmpd="sng" w="9525">
            <a:solidFill>
              <a:srgbClr val="2EF2C2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927" name="Google Shape;927;p31" title="شعار وزارة الاتصالات.png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10602750" y="7979050"/>
            <a:ext cx="3035650" cy="84715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28" name="Google Shape;928;p31"/>
          <p:cNvCxnSpPr/>
          <p:nvPr/>
        </p:nvCxnSpPr>
        <p:spPr>
          <a:xfrm>
            <a:off x="10366904" y="8142400"/>
            <a:ext cx="0" cy="453600"/>
          </a:xfrm>
          <a:prstGeom prst="straightConnector1">
            <a:avLst/>
          </a:prstGeom>
          <a:noFill/>
          <a:ln cap="flat" cmpd="sng" w="9525">
            <a:solidFill>
              <a:srgbClr val="2EF2C2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2" name="Google Shape;832;p25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33" name="Google Shape;833;p2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9330" name="Screenshot 1" descr="The story on the map: the Prophet’s letters to the kings, the event text and its peopl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4160" y="666750"/>
            <a:ext cx="12979680" cy="6953400"/>
          </a:xfrm>
          <a:prstGeom prst="roundRect">
            <a:avLst>
              <a:gd fmla="val 3580" name="adj"/>
            </a:avLst>
          </a:prstGeom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35" name="Google Shape;835;p25"/>
          <p:cNvSpPr txBox="1"/>
          <p:nvPr>
            <p:ph type="title"/>
          </p:nvPr>
        </p:nvSpPr>
        <p:spPr>
          <a:xfrm>
            <a:off x="2038350" y="7962900"/>
            <a:ext cx="1476390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القصة على الخريطة: رسائل النبي ﷺ إلى الملوك</a:t>
            </a:r>
            <a:endParaRPr/>
          </a:p>
        </p:txBody>
      </p:sp>
      <p:sp>
        <p:nvSpPr>
          <p:cNvPr id="836" name="Google Shape;836;p25"/>
          <p:cNvSpPr txBox="1"/>
          <p:nvPr>
            <p:ph idx="1" type="body"/>
          </p:nvPr>
        </p:nvSpPr>
        <p:spPr>
          <a:xfrm>
            <a:off x="1990725" y="8824913"/>
            <a:ext cx="14763900" cy="4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من المدينة إلى كل ملك على الخريطة، مع نص الحدث من الدرر ومصدره، والشخصيات فيه، وقراءته صوتيًا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2" name="Google Shape;832;p25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33" name="Google Shape;833;p2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9340" name="Screenshot 1" descr="Verses linked to the Battle of Badr on its event card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4160" y="666750"/>
            <a:ext cx="12979680" cy="6953400"/>
          </a:xfrm>
          <a:prstGeom prst="roundRect">
            <a:avLst>
              <a:gd fmla="val 3580" name="adj"/>
            </a:avLst>
          </a:prstGeom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35" name="Google Shape;835;p25"/>
          <p:cNvSpPr txBox="1"/>
          <p:nvPr>
            <p:ph type="title"/>
          </p:nvPr>
        </p:nvSpPr>
        <p:spPr>
          <a:xfrm>
            <a:off x="2038350" y="7962900"/>
            <a:ext cx="1476390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السور في سياقها: الآيات مع حدثها</a:t>
            </a:r>
            <a:endParaRPr/>
          </a:p>
        </p:txBody>
      </p:sp>
      <p:sp>
        <p:nvSpPr>
          <p:cNvPr id="836" name="Google Shape;836;p25"/>
          <p:cNvSpPr txBox="1"/>
          <p:nvPr>
            <p:ph idx="1" type="body"/>
          </p:nvPr>
        </p:nvSpPr>
        <p:spPr>
          <a:xfrm>
            <a:off x="1990725" y="8824913"/>
            <a:ext cx="14763900" cy="4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الآيات التي نزلت في غزوة بدر على بطاقة الحدث، كل آية بسورتها ورقمها ووجه ارتباطها</a:t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8" name="Google Shape;728;p21" title="خلفية هكثون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29" name="Google Shape;729;p21" title="شعار تحدي الذكاء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15225" y="572270"/>
            <a:ext cx="3490299" cy="1109450"/>
          </a:xfrm>
          <a:prstGeom prst="rect">
            <a:avLst/>
          </a:prstGeom>
          <a:noFill/>
          <a:ln>
            <a:noFill/>
          </a:ln>
        </p:spPr>
      </p:pic>
      <p:sp>
        <p:nvSpPr>
          <p:cNvPr id="730" name="Google Shape;730;p2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graphicFrame>
        <p:nvGraphicFramePr>
          <p:cNvPr id="731" name="Google Shape;731;p21"/>
          <p:cNvGraphicFramePr/>
          <p:nvPr/>
        </p:nvGraphicFramePr>
        <p:xfrm>
          <a:off x="1714500" y="39052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{B8ED9858-D163-4338-9E88-1F424354888F}</a:tableStyleId>
              </a:tblPr>
              <a:tblGrid>
                <a:gridCol w="2286000"/>
                <a:gridCol w="3238500"/>
                <a:gridCol w="6191250"/>
                <a:gridCol w="3714750"/>
              </a:tblGrid>
              <a:tr h="78105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المسؤول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البديل أو الضمان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التكلفة التقريبية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البند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مسؤول الذكاء الاصطناعي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إن تعطّل أجاب الموقع من بياناته المحلية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0.59 دولار للساعة تُحسب بالثانية، وينام بعد 5 دقائق بلا أسئلة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الخادم ومعالج T4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مسؤول الذكاء الاصطناعي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الشيفرة تدعم Gemini بديلًا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نحو 450 سؤالًا في التطوير والاختبار كلّفت قرابة دولار واحد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النموذج اللغوي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مسؤول الواجهة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يُنقل إلى أي استضافة لمواقع ثابتة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موقع ثابت على Vercel، تكلفته منخفضة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الموقع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مسؤول المحتوى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حالة مراجعة السجلات مدوّنة في البيانات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وقت المراجع لاعتماد السجلات الجديدة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مراجعة المحتوى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مسؤول الواجهة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ملفات ثابتة مع الموقع، لا تحتاج خادمًا ولا نموذجًا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وُلّدت مرة واحدة؛ ولا تكلفة لكل استماع سوى نقل الملفات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القراءة الصوتية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</a:tbl>
          </a:graphicData>
        </a:graphic>
      </p:graphicFrame>
      <p:sp>
        <p:nvSpPr>
          <p:cNvPr id="732" name="Google Shape;732;p21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التشغيل</a:t>
            </a:r>
            <a:endParaRPr/>
          </a:p>
        </p:txBody>
      </p:sp>
      <p:sp>
        <p:nvSpPr>
          <p:cNvPr id="733" name="Google Shape;733;p21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التشغيل والتكلفة</a:t>
            </a:r>
            <a:endParaRPr/>
          </a:p>
        </p:txBody>
      </p:sp>
      <p:sp>
        <p:nvSpPr>
          <p:cNvPr id="734" name="Google Shape;734;p21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التبني: رابط مجاني بلا حساب، ننشره عبر المراكز الإسلامية وبرامج المسلمين الجدد</a:t>
            </a:r>
            <a:endParaRPr/>
          </a:p>
        </p:txBody>
      </p:sp>
      <p:sp>
        <p:nvSpPr>
          <p:cNvPr id="735" name="Google Shape;735;p21"/>
          <p:cNvSpPr txBox="1"/>
          <p:nvPr>
            <p:ph idx="3" type="body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سعر الخادم المعلن لدى Modal في أكتوبر 2026، وتكلفة النموذج من فاتورة المشروع الفعلية لدى OpenAI · المصادر وتراخيصها موثقة في المستودع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2" name="Google Shape;832;p25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33" name="Google Shape;833;p2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9360" name="Screenshot 1" descr="The Hijra chapter question, answered, with the Dorar quote and the map at the Cave of Thawr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4160" y="666750"/>
            <a:ext cx="12979680" cy="6953400"/>
          </a:xfrm>
          <a:prstGeom prst="roundRect">
            <a:avLst>
              <a:gd fmla="val 3580" name="adj"/>
            </a:avLst>
          </a:prstGeom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35" name="Google Shape;835;p25"/>
          <p:cNvSpPr txBox="1"/>
          <p:nvPr>
            <p:ph type="title"/>
          </p:nvPr>
        </p:nvSpPr>
        <p:spPr>
          <a:xfrm>
            <a:off x="2038350" y="7962900"/>
            <a:ext cx="1476390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سؤال في نهاية كل فصل: يختبر القارئ ما فهمه</a:t>
            </a:r>
            <a:endParaRPr/>
          </a:p>
        </p:txBody>
      </p:sp>
      <p:sp>
        <p:nvSpPr>
          <p:cNvPr id="836" name="Google Shape;836;p25"/>
          <p:cNvSpPr txBox="1"/>
          <p:nvPr>
            <p:ph idx="1" type="body"/>
          </p:nvPr>
        </p:nvSpPr>
        <p:spPr>
          <a:xfrm>
            <a:off x="1990725" y="8824913"/>
            <a:ext cx="14763900" cy="4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سؤال فصل الهجرة: يختار القارئ الجواب أو يلمس المكان على الخريطة، ثم يرى الشرح ونص الدرر ومصدره</a:t>
            </a:r>
            <a:endParaRPr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8" name="Google Shape;728;p21" title="خلفية هكثون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29" name="Google Shape;729;p21" title="شعار تحدي الذكاء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15225" y="572270"/>
            <a:ext cx="3490299" cy="1109450"/>
          </a:xfrm>
          <a:prstGeom prst="rect">
            <a:avLst/>
          </a:prstGeom>
          <a:noFill/>
          <a:ln>
            <a:noFill/>
          </a:ln>
        </p:spPr>
      </p:pic>
      <p:sp>
        <p:nvSpPr>
          <p:cNvPr id="730" name="Google Shape;730;p2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graphicFrame>
        <p:nvGraphicFramePr>
          <p:cNvPr id="731" name="Google Shape;731;p21"/>
          <p:cNvGraphicFramePr/>
          <p:nvPr/>
        </p:nvGraphicFramePr>
        <p:xfrm>
          <a:off x="1714500" y="39052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{B8ED9858-D163-4338-9E88-1F424354888F}</a:tableStyleId>
              </a:tblPr>
              <a:tblGrid>
                <a:gridCol w="2286000"/>
                <a:gridCol w="3238500"/>
                <a:gridCol w="6191250"/>
                <a:gridCol w="3714750"/>
              </a:tblGrid>
              <a:tr h="78105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كتاب سيرة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مساعد ذكاء اصطناعي عام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بداية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ما يحتاجه المبتدئ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نص مرتب بلا خريطة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نص بلا خريطة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142 حدثًا على خريطة تفاعلية وخط زمني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الأحداث في أماكنها وترتيبها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بعضها داخل النص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إن سُئل عنها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على بطاقة الحدث، بسورتها ووجه ارتباطها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الآيات مع حدثها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لا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بلا مصادر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من المصادر المعتمدة مع روابطها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جواب عن سؤاله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—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أجاب بنفسه عن الأسئلة كلها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امتنع عن الأسئلة كلها أو أحالها إلى الإفتاء وأهل العلم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فتوى، أو سؤال شخصي أو خارج الموضوع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لا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إن طُلب منه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سؤال في نهاية كل فصل، مع نص الدرر ومصدره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التحقق من فهمه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</a:tbl>
          </a:graphicData>
        </a:graphic>
      </p:graphicFrame>
      <p:sp>
        <p:nvSpPr>
          <p:cNvPr id="732" name="Google Shape;732;p21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القيمة المضافة</a:t>
            </a:r>
            <a:endParaRPr/>
          </a:p>
        </p:txBody>
      </p:sp>
      <p:sp>
        <p:nvSpPr>
          <p:cNvPr id="733" name="Google Shape;733;p21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بداية مقارنة بما يجده المبتدئ اليوم</a:t>
            </a:r>
            <a:endParaRPr/>
          </a:p>
        </p:txBody>
      </p:sp>
      <p:sp>
        <p:nvSpPr>
          <p:cNvPr id="734" name="Google Shape;734;p21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لا تُغني عن كتب السيرة، بل تقرّبها وتحيل إليها</a:t>
            </a:r>
            <a:endParaRPr/>
          </a:p>
        </p:txBody>
      </p:sp>
      <p:sp>
        <p:nvSpPr>
          <p:cNvPr id="735" name="Google Shape;735;p21"/>
          <p:cNvSpPr txBox="1"/>
          <p:nvPr>
            <p:ph idx="3" type="body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/>
            </a:r>
            <a:endParaRPr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600" name="Shape 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1" name="Google Shape;601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602" name="Google Shape;602;p15"/>
          <p:cNvSpPr/>
          <p:nvPr/>
        </p:nvSpPr>
        <p:spPr>
          <a:xfrm>
            <a:off x="7391400" y="9467850"/>
            <a:ext cx="9144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pic>
        <p:nvPicPr>
          <p:cNvPr id="603" name="Google Shape;603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04" name="Google Shape;604;p15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أثر الاستخدام</a:t>
            </a:r>
            <a:endParaRPr/>
          </a:p>
        </p:txBody>
      </p:sp>
      <p:sp>
        <p:nvSpPr>
          <p:cNvPr id="605" name="Google Shape;605;p15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تجربة مع المستفيدين</a:t>
            </a:r>
            <a:endParaRPr/>
          </a:p>
        </p:txBody>
      </p:sp>
      <p:sp>
        <p:nvSpPr>
          <p:cNvPr id="606" name="Google Shape;606;p15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عشرة أشخاص يريدون تعلّم السيرة: ستة أسئلة عن الهجرة قبل استخدام بداية نحو 10 دقائق وبعده، ونزلت إجابات «لا أعرف» من 27 إلى 2</a:t>
            </a:r>
            <a:endParaRPr/>
          </a:p>
        </p:txBody>
      </p:sp>
      <p:sp>
        <p:nvSpPr>
          <p:cNvPr id="607" name="Google Shape;607;p1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608" name="Google Shape;608;p15"/>
          <p:cNvSpPr txBox="1"/>
          <p:nvPr>
            <p:ph idx="3" type="body"/>
          </p:nvPr>
        </p:nvSpPr>
        <p:spPr>
          <a:xfrm>
            <a:off x="13716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5.5/6</a:t>
            </a:r>
            <a:endParaRPr/>
          </a:p>
        </p:txBody>
      </p:sp>
      <p:sp>
        <p:nvSpPr>
          <p:cNvPr id="609" name="Google Shape;609;p15"/>
          <p:cNvSpPr txBox="1"/>
          <p:nvPr>
            <p:ph idx="4" type="body"/>
          </p:nvPr>
        </p:nvSpPr>
        <p:spPr>
          <a:xfrm>
            <a:off x="13716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إجابات صحيحة بعد الاستخدام</a:t>
            </a:r>
            <a:endParaRPr/>
          </a:p>
        </p:txBody>
      </p:sp>
      <p:sp>
        <p:nvSpPr>
          <p:cNvPr id="610" name="Google Shape;610;p15"/>
          <p:cNvSpPr txBox="1"/>
          <p:nvPr>
            <p:ph idx="5" type="body"/>
          </p:nvPr>
        </p:nvSpPr>
        <p:spPr>
          <a:xfrm>
            <a:off x="13716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وقبله 2.8؛ تحسّن 7 من 10 ولم يتراجع أحد</a:t>
            </a:r>
            <a:endParaRPr/>
          </a:p>
        </p:txBody>
      </p:sp>
      <p:sp>
        <p:nvSpPr>
          <p:cNvPr id="611" name="Google Shape;611;p15"/>
          <p:cNvSpPr txBox="1"/>
          <p:nvPr>
            <p:ph idx="6" type="body"/>
          </p:nvPr>
        </p:nvSpPr>
        <p:spPr>
          <a:xfrm>
            <a:off x="9715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4.7/5</a:t>
            </a:r>
            <a:endParaRPr/>
          </a:p>
        </p:txBody>
      </p:sp>
      <p:sp>
        <p:nvSpPr>
          <p:cNvPr id="612" name="Google Shape;612;p15"/>
          <p:cNvSpPr txBox="1"/>
          <p:nvPr>
            <p:ph idx="7" type="body"/>
          </p:nvPr>
        </p:nvSpPr>
        <p:spPr>
          <a:xfrm>
            <a:off x="9715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ترتيب أحداث الهجرة كان واضحًا</a:t>
            </a:r>
            <a:endParaRPr/>
          </a:p>
        </p:txBody>
      </p:sp>
      <p:sp>
        <p:nvSpPr>
          <p:cNvPr id="613" name="Google Shape;613;p15"/>
          <p:cNvSpPr txBox="1"/>
          <p:nvPr>
            <p:ph idx="8" type="body"/>
          </p:nvPr>
        </p:nvSpPr>
        <p:spPr>
          <a:xfrm>
            <a:off x="9715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متوسط تقييمهم من 1 إلى 5</a:t>
            </a:r>
            <a:endParaRPr/>
          </a:p>
        </p:txBody>
      </p:sp>
      <p:sp>
        <p:nvSpPr>
          <p:cNvPr id="614" name="Google Shape;614;p15"/>
          <p:cNvSpPr txBox="1"/>
          <p:nvPr>
            <p:ph idx="9" type="body"/>
          </p:nvPr>
        </p:nvSpPr>
        <p:spPr>
          <a:xfrm>
            <a:off x="5715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4.6/5</a:t>
            </a:r>
            <a:endParaRPr/>
          </a:p>
        </p:txBody>
      </p:sp>
      <p:sp>
        <p:nvSpPr>
          <p:cNvPr id="615" name="Google Shape;615;p15"/>
          <p:cNvSpPr txBox="1"/>
          <p:nvPr>
            <p:ph idx="13" type="body"/>
          </p:nvPr>
        </p:nvSpPr>
        <p:spPr>
          <a:xfrm>
            <a:off x="5715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الخريطة ساعدت على الفهم</a:t>
            </a:r>
            <a:endParaRPr/>
          </a:p>
        </p:txBody>
      </p:sp>
      <p:sp>
        <p:nvSpPr>
          <p:cNvPr id="616" name="Google Shape;616;p15"/>
          <p:cNvSpPr txBox="1"/>
          <p:nvPr>
            <p:ph idx="14" type="body"/>
          </p:nvPr>
        </p:nvSpPr>
        <p:spPr>
          <a:xfrm>
            <a:off x="5715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ما حدث وأين حدث</a:t>
            </a:r>
            <a:endParaRPr/>
          </a:p>
        </p:txBody>
      </p:sp>
      <p:sp>
        <p:nvSpPr>
          <p:cNvPr id="617" name="Google Shape;617;p15"/>
          <p:cNvSpPr txBox="1"/>
          <p:nvPr>
            <p:ph idx="15" type="body"/>
          </p:nvPr>
        </p:nvSpPr>
        <p:spPr>
          <a:xfrm>
            <a:off x="1714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9/10</a:t>
            </a:r>
            <a:endParaRPr/>
          </a:p>
        </p:txBody>
      </p:sp>
      <p:sp>
        <p:nvSpPr>
          <p:cNvPr id="618" name="Google Shape;618;p15"/>
          <p:cNvSpPr txBox="1"/>
          <p:nvPr>
            <p:ph idx="16" type="body"/>
          </p:nvPr>
        </p:nvSpPr>
        <p:spPr>
          <a:xfrm>
            <a:off x="1714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وجدوا جواب «اسأل الخريطة» مفيدًا</a:t>
            </a:r>
            <a:endParaRPr/>
          </a:p>
        </p:txBody>
      </p:sp>
      <p:sp>
        <p:nvSpPr>
          <p:cNvPr id="619" name="Google Shape;619;p15"/>
          <p:cNvSpPr txBox="1"/>
          <p:nvPr>
            <p:ph idx="17" type="body"/>
          </p:nvPr>
        </p:nvSpPr>
        <p:spPr>
          <a:xfrm>
            <a:off x="1714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والعاشر لم يجرّبه</a:t>
            </a:r>
            <a:endParaRPr/>
          </a:p>
        </p:txBody>
      </p:sp>
      <p:sp>
        <p:nvSpPr>
          <p:cNvPr id="620" name="Google Shape;620;p15"/>
          <p:cNvSpPr txBox="1"/>
          <p:nvPr>
            <p:ph idx="18" type="body"/>
          </p:nvPr>
        </p:nvSpPr>
        <p:spPr>
          <a:xfrm>
            <a:off x="8381075" y="8763000"/>
            <a:ext cx="84591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عدد محدود، وأكثرهم قال إنه يعرف السيرة «بعض الشيء»: أرسلنا النموذج في اليوم الأخير فقط، ولم تكن لدينا دائرة واسعة لنشره. الردود في المستودع</a:t>
            </a:r>
            <a:endParaRPr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8" name="Google Shape;728;p21" title="خلفية هكثون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29" name="Google Shape;729;p21" title="شعار تحدي الذكاء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15225" y="572270"/>
            <a:ext cx="3490299" cy="1109450"/>
          </a:xfrm>
          <a:prstGeom prst="rect">
            <a:avLst/>
          </a:prstGeom>
          <a:noFill/>
          <a:ln>
            <a:noFill/>
          </a:ln>
        </p:spPr>
      </p:pic>
      <p:sp>
        <p:nvSpPr>
          <p:cNvPr id="730" name="Google Shape;730;p2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graphicFrame>
        <p:nvGraphicFramePr>
          <p:cNvPr id="731" name="Google Shape;731;p21"/>
          <p:cNvGraphicFramePr/>
          <p:nvPr/>
        </p:nvGraphicFramePr>
        <p:xfrm>
          <a:off x="1714500" y="39052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{B8ED9858-D163-4338-9E88-1F424354888F}</a:tableStyleId>
              </a:tblPr>
              <a:tblGrid>
                <a:gridCol w="5600000"/>
                <a:gridCol w="4900000"/>
                <a:gridCol w="2800000"/>
                <a:gridCol w="2130500"/>
              </a:tblGrid>
              <a:tr h="78105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النتيجة في الاختبار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ماذا يحدث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الأداة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الخطوة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180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أحال أسئلة الفتوى، وامتنع عن التي لا مصدر لها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180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يفهم السؤال، ثم يكتب الجواب من النصوص التي وُجدت فقط مع مصدر كل جملة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en-US" sz="180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gpt-6-luna (OpenAI)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180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فهم السؤال وكتابة الجواب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180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وجد النص الصحيح في أول خمس نتائج لكل أسئلة الاختبار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180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يبحث بالمعنى وبالكلمات معًا، ويختار ثلاثين نصًا قريبًا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en-US" sz="180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bge-m3 + BM25 (MIT)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180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البحث في المصادر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180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في «متى توفي الرسول؟» رفع النص المناسب من المرتبة السادسة عشرة إلى الرابعة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180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يقرأ السؤال مع كل نص، ويُبقي أقرب عشرة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en-US" sz="180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bge-reranker-v2-m3 (Apache-2.0)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180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ترتيب النتائج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180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يصل الجواب في نحو سبع ثوانٍ ونصف على الموقع الحي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180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الموقع على Vercel، والبحث على خادم Modal بمعالج رسومي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en-US" sz="180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React + FastAPI (MIT)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180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الموقع والخادم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180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ملفات جاهزة مع الموقع، فلا انتظار عند الاستماع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180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قراءة كل الأحداث ومقدمات الفصول بالعربية والإنجليزية، مولّدة مسبقًا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en-US" sz="180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ElevenLabs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180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القراءة الصوتية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</a:tbl>
          </a:graphicData>
        </a:graphic>
      </p:graphicFrame>
      <p:sp>
        <p:nvSpPr>
          <p:cNvPr id="732" name="Google Shape;732;p21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المنهجية والتقنيات</a:t>
            </a:r>
            <a:endParaRPr/>
          </a:p>
        </p:txBody>
      </p:sp>
      <p:sp>
        <p:nvSpPr>
          <p:cNvPr id="733" name="Google Shape;733;p21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كيف بُنيت بداية</a:t>
            </a:r>
            <a:endParaRPr/>
          </a:p>
        </p:txBody>
      </p:sp>
      <p:sp>
        <p:nvSpPr>
          <p:cNvPr id="734" name="Google Shape;734;p21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كل خطوة، والأداة التي تؤديها، ونتيجتها في الاختبار</a:t>
            </a:r>
            <a:endParaRPr/>
          </a:p>
        </p:txBody>
      </p:sp>
      <p:sp>
        <p:nvSpPr>
          <p:cNvPr id="735" name="Google Shape;735;p21"/>
          <p:cNvSpPr txBox="1"/>
          <p:nvPr>
            <p:ph idx="3" type="body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بين قوسين: ترخيص الأداة أو الجهة المقدمة لها · يبحث المساعد في: صحيح البخاري، والرحيق المختوم، والدرر السنية، وأسباب النزول للواحدي (الصحيح والحسن فقط)، وسجلات الآيات والصحابة (2,905 نصوص)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