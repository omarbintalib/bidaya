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1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32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63" r:id="rId13"/>
    <p:sldId id="266" r:id="rId16"/>
    <p:sldId id="282" r:id="rId32"/>
    <p:sldId id="280" r:id="rId30"/>
    <p:sldId id="279" r:id="rId29"/>
    <p:sldId id="276" r:id="rId26"/>
    <p:sldId id="272" r:id="rId22"/>
    <p:sldId id="287" r:id="rId50"/>
    <p:sldId id="270" r:id="rId20"/>
    <p:sldId id="283" r:id="rId33"/>
    <p:sldId id="273" r:id="rId23"/>
    <p:sldId id="274" r:id="rId24"/>
    <p:sldId id="286" r:id="rId36"/>
  </p:sldIdLst>
  <p:sldSz cy="10287000" cx="18288000"/>
  <p:notesSz cx="6858000" cy="9144000"/>
  <p:embeddedFontLst>
    <p:embeddedFont>
      <p:font typeface="Urbanist"/>
      <p:regular r:id="rId37"/>
      <p:bold r:id="rId38"/>
      <p:italic r:id="rId39"/>
      <p:boldItalic r:id="rId40"/>
    </p:embeddedFont>
    <p:embeddedFont>
      <p:font typeface="Readex Pro Medium"/>
      <p:regular r:id="rId41"/>
      <p:bold r:id="rId42"/>
    </p:embeddedFont>
    <p:embeddedFont>
      <p:font typeface="Readex Pro SemiBold"/>
      <p:regular r:id="rId43"/>
      <p:bold r:id="rId44"/>
    </p:embeddedFont>
    <p:embeddedFont>
      <p:font typeface="Readex Pro"/>
      <p:regular r:id="rId45"/>
      <p:bold r:id="rId46"/>
    </p:embeddedFont>
    <p:embeddedFont>
      <p:font typeface="Readex Pro Light"/>
      <p:regular r:id="rId47"/>
      <p:bold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40" Type="http://schemas.openxmlformats.org/officeDocument/2006/relationships/font" Target="fonts/Urbanist-boldItalic.fntdata"/><Relationship Id="rId42" Type="http://schemas.openxmlformats.org/officeDocument/2006/relationships/font" Target="fonts/ReadexProMedium-bold.fntdata"/><Relationship Id="rId41" Type="http://schemas.openxmlformats.org/officeDocument/2006/relationships/font" Target="fonts/ReadexProMedium-regular.fntdata"/><Relationship Id="rId44" Type="http://schemas.openxmlformats.org/officeDocument/2006/relationships/font" Target="fonts/ReadexProSemiBold-bold.fntdata"/><Relationship Id="rId43" Type="http://schemas.openxmlformats.org/officeDocument/2006/relationships/font" Target="fonts/ReadexProSemiBold-regular.fntdata"/><Relationship Id="rId46" Type="http://schemas.openxmlformats.org/officeDocument/2006/relationships/font" Target="fonts/ReadexPro-bold.fntdata"/><Relationship Id="rId45" Type="http://schemas.openxmlformats.org/officeDocument/2006/relationships/font" Target="fonts/ReadexPro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48" Type="http://schemas.openxmlformats.org/officeDocument/2006/relationships/font" Target="fonts/ReadexProLight-bold.fntdata"/><Relationship Id="rId47" Type="http://schemas.openxmlformats.org/officeDocument/2006/relationships/font" Target="fonts/ReadexProLight-regular.fntdata"/><Relationship Id="rId49" Type="http://customschemas.google.com/relationships/presentationmetadata" Target="metadata"/><Relationship Id="rId5" Type="http://schemas.openxmlformats.org/officeDocument/2006/relationships/notesMaster" Target="notesMasters/notesMaster1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7" Type="http://schemas.openxmlformats.org/officeDocument/2006/relationships/font" Target="fonts/Urbanist-regular.fntdata"/><Relationship Id="rId36" Type="http://schemas.openxmlformats.org/officeDocument/2006/relationships/slide" Target="slides/slide31.xml"/><Relationship Id="rId39" Type="http://schemas.openxmlformats.org/officeDocument/2006/relationships/font" Target="fonts/Urbanist-italic.fntdata"/><Relationship Id="rId38" Type="http://schemas.openxmlformats.org/officeDocument/2006/relationships/font" Target="fonts/Urbanist-bold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9" Type="http://schemas.openxmlformats.org/officeDocument/2006/relationships/slide" Target="slides/slide24.xml"/><Relationship Id="rId13" Type="http://schemas.openxmlformats.org/officeDocument/2006/relationships/slide" Target="slides/slide8.xml"/><Relationship Id="rId16" Type="http://schemas.openxmlformats.org/officeDocument/2006/relationships/slide" Target="slides/slide11.xml"/>  <Relationship Id="rId50" Type="http://schemas.openxmlformats.org/officeDocument/2006/relationships/slide" Target="slides/slide32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بداية: خريطة تفاعلية تروي السيرة النبوية في الزمان والمكان، مع مساعد ذكي يجيب من المصادر. المسار الثالث.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482" name="Google Shape;48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المستفيد: غير المسلمين والمسلمين الجدد. السيرة مدخل واضح للإسلام، لكنها متفرقة.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34" name="Google Shape;53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النتائج قابلة للتحقق: كل سؤال وجوابه منشور في مستودع المشروع.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99" name="Google Shape;59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نلتزم مستويات المحتوى في المرجعية العلمية: جواب موثق، ذكر الخلاف، والإحالة في الفتوى.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7" name="Google Shape;647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كل ما سبق يعمل الآن على الموقع الحي. الخطة مقترحة: التكلفة الأساسية هي أسئلة النموذج اللغوي والمعالج عند الطلب فقط، والقراءة الصوتية بالعربية قيد التطوير.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48" name="Google Shape;648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83" name="Google Shape;683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فريق من ثلاثة أعضاء يغطي التقنية والمحتوى والاختبار.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84" name="Google Shape;684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5" name="Google Shape;725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التقنيات: نموذجان مفتوحان للبحث (bge-m3 ومعيد الترتيب)، ونموذج لغوي للفهم والصياغة، وموقع وخادم مستضافان.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726" name="Google Shape;726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آلية العمل: نموذج لغوي يفهم السؤال، بحث هجين مع إعادة ترتيب في 2,905 مقطعًا، جواب لا يُقبل إلا باستشهاد صحيح، ثم الخريطة.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7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9" name="Google Shape;829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مثال حي: سؤال عن بدر. الجواب من الدرر والبخاري مع الروابط، والخريطة تنتقل إلى بدر.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30" name="Google Shape;830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أربعة عناصر: القصة على الخريطة، السور في سياقها، اسأل الخريطة، ملخص السيرة. كلها بالعربية والإنجليزية، مع قراءة صوتية بالإنجليزية، والعربية قيد التطوير.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56" name="Google Shape;856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6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2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8" name="Google Shape;878;p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بداية لا تستبدل كتب السيرة، بل تقدم محتواها المعتمد في تجربة مرتبة يسأل فيها المبتدئ بلغته.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79" name="Google Shape;879;p2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شكرًا لكم. الموقع الحي والمستودع في الشريحة.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912" name="Google Shape;912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غلاف المشروع">
  <p:cSld name="غلاف المشروع">
    <p:bg>
      <p:bgPr>
        <a:solidFill>
          <a:srgbClr val="12183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/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" name="Google Shape;17;p34"/>
          <p:cNvSpPr txBox="1"/>
          <p:nvPr>
            <p:ph idx="1" type="body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" name="Google Shape;18;p34"/>
          <p:cNvSpPr txBox="1"/>
          <p:nvPr>
            <p:ph idx="2" type="body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" name="Google Shape;19;p34"/>
          <p:cNvSpPr txBox="1"/>
          <p:nvPr>
            <p:ph idx="3" type="body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حتويات العرض">
  <p:cSld name="محتويات العرض">
    <p:bg>
      <p:bgPr>
        <a:solidFill>
          <a:srgbClr val="12183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" name="Google Shape;24;p3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/>
          <p:nvPr>
            <p:ph idx="2" type="body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" name="Google Shape;28;p35"/>
          <p:cNvSpPr txBox="1"/>
          <p:nvPr>
            <p:ph idx="3" type="body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" name="Google Shape;29;p35"/>
          <p:cNvSpPr txBox="1"/>
          <p:nvPr>
            <p:ph idx="4" type="body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0" name="Google Shape;30;p35"/>
          <p:cNvSpPr txBox="1"/>
          <p:nvPr>
            <p:ph idx="5" type="body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" name="Google Shape;31;p35"/>
          <p:cNvSpPr txBox="1"/>
          <p:nvPr>
            <p:ph idx="6" type="body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2" name="Google Shape;32;p35"/>
          <p:cNvSpPr txBox="1"/>
          <p:nvPr>
            <p:ph idx="7" type="body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3" name="Google Shape;33;p35"/>
          <p:cNvSpPr txBox="1"/>
          <p:nvPr>
            <p:ph idx="8" type="body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4" name="Google Shape;34;p35"/>
          <p:cNvSpPr txBox="1"/>
          <p:nvPr>
            <p:ph idx="9" type="body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5" name="Google Shape;35;p35"/>
          <p:cNvSpPr txBox="1"/>
          <p:nvPr>
            <p:ph idx="13" type="body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6" name="Google Shape;36;p35"/>
          <p:cNvSpPr txBox="1"/>
          <p:nvPr>
            <p:ph idx="14" type="body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7" name="Google Shape;37;p35"/>
          <p:cNvSpPr txBox="1"/>
          <p:nvPr>
            <p:ph idx="15" type="body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8" name="Google Shape;38;p35"/>
          <p:cNvSpPr txBox="1"/>
          <p:nvPr>
            <p:ph idx="16" type="body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9" name="Google Shape;39;p35"/>
          <p:cNvSpPr txBox="1"/>
          <p:nvPr>
            <p:ph idx="17" type="body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0" name="Google Shape;40;p35"/>
          <p:cNvSpPr txBox="1"/>
          <p:nvPr>
            <p:ph idx="18" type="body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1" name="Google Shape;41;p35"/>
          <p:cNvSpPr txBox="1"/>
          <p:nvPr>
            <p:ph idx="19" type="body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2" name="Google Shape;42;p35"/>
          <p:cNvSpPr txBox="1"/>
          <p:nvPr>
            <p:ph idx="20" type="body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3" name="Google Shape;43;p35"/>
          <p:cNvSpPr txBox="1"/>
          <p:nvPr>
            <p:ph idx="21" type="body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4" name="Google Shape;44;p35"/>
          <p:cNvSpPr txBox="1"/>
          <p:nvPr>
            <p:ph idx="22" type="body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صل قسم">
  <p:cSld name="فاصل قسم">
    <p:bg>
      <p:bgPr>
        <a:solidFill>
          <a:srgbClr val="12183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/>
          <p:nvPr>
            <p:ph idx="1" type="body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9" name="Google Shape;49;p36"/>
          <p:cNvSpPr txBox="1"/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">
  <p:cSld name="أربع نقاط">
    <p:bg>
      <p:bgPr>
        <a:solidFill>
          <a:srgbClr val="12183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5" name="Google Shape;55;p3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6" name="Google Shape;56;p3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0" name="Google Shape;60;p37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1" name="Google Shape;61;p37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2" name="Google Shape;62;p37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3" name="Google Shape;63;p37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4" name="Google Shape;64;p37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5" name="Google Shape;65;p37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6" name="Google Shape;66;p37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رئيسي">
  <p:cSld name="نص رئيسي">
    <p:bg>
      <p:bgPr>
        <a:solidFill>
          <a:srgbClr val="12183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1" name="Google Shape;71;p3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/>
          <p:nvPr>
            <p:ph idx="2" type="body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5" name="Google Shape;75;p38"/>
          <p:cNvSpPr txBox="1"/>
          <p:nvPr>
            <p:ph idx="3" type="body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6" name="Google Shape;76;p38"/>
          <p:cNvSpPr txBox="1"/>
          <p:nvPr>
            <p:ph idx="4" type="body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عريضة">
  <p:cSld name="نص وصورة عريضة">
    <p:bg>
      <p:bgPr>
        <a:solidFill>
          <a:srgbClr val="12183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1" name="Google Shape;81;p3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/>
          <p:nvPr>
            <p:ph idx="2" type="pic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9"/>
          <p:cNvSpPr txBox="1"/>
          <p:nvPr>
            <p:ph idx="3" type="body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6" name="Google Shape;86;p39"/>
          <p:cNvSpPr txBox="1"/>
          <p:nvPr>
            <p:ph idx="4" type="body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7" name="Google Shape;87;p39"/>
          <p:cNvSpPr txBox="1"/>
          <p:nvPr>
            <p:ph idx="5" type="body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8" name="Google Shape;88;p39"/>
          <p:cNvSpPr txBox="1"/>
          <p:nvPr>
            <p:ph idx="6" type="body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مربعة">
  <p:cSld name="نص وصورة مربعة">
    <p:bg>
      <p:bgPr>
        <a:solidFill>
          <a:srgbClr val="12183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3" name="Google Shape;93;p4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/>
          <p:nvPr>
            <p:ph idx="2" type="pic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40"/>
          <p:cNvSpPr txBox="1"/>
          <p:nvPr>
            <p:ph idx="3" type="body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8" name="Google Shape;98;p40"/>
          <p:cNvSpPr txBox="1"/>
          <p:nvPr>
            <p:ph idx="4" type="body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9" name="Google Shape;99;p40"/>
          <p:cNvSpPr txBox="1"/>
          <p:nvPr>
            <p:ph idx="5" type="body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ؤشرات">
  <p:cSld name="مؤشرات">
    <p:bg>
      <p:bgPr>
        <a:solidFill>
          <a:srgbClr val="12183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4" name="Google Shape;104;p41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5" name="Google Shape;105;p41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9" name="Google Shape;109;p41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0" name="Google Shape;110;p41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1" name="Google Shape;111;p41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2" name="Google Shape;112;p41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3" name="Google Shape;113;p41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4" name="Google Shape;114;p41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5" name="Google Shape;115;p41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6" name="Google Shape;116;p41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7" name="Google Shape;117;p41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8" name="Google Shape;118;p41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9" name="Google Shape;119;p41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0" name="Google Shape;120;p41"/>
          <p:cNvSpPr txBox="1"/>
          <p:nvPr>
            <p:ph idx="18" type="body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رسالة رئيسية">
  <p:cSld name="رسالة رئيسية">
    <p:bg>
      <p:bgPr>
        <a:solidFill>
          <a:srgbClr val="F2F4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7" name="Google Shape;127;p42"/>
          <p:cNvSpPr txBox="1"/>
          <p:nvPr>
            <p:ph idx="1" type="body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8" name="Google Shape;128;p42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داكن">
  <p:cSld name="جدول داكن">
    <p:bg>
      <p:bgPr>
        <a:solidFill>
          <a:srgbClr val="12183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3" name="Google Shape;133;p4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4" name="Google Shape;134;p4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8" name="Google Shape;138;p43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ط زمني">
  <p:cSld name="خط زمني">
    <p:bg>
      <p:bgPr>
        <a:solidFill>
          <a:srgbClr val="12183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8" name="Google Shape;148;p4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9" name="Google Shape;149;p4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/>
          <p:nvPr>
            <p:ph idx="3" type="body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3" name="Google Shape;153;p44"/>
          <p:cNvSpPr txBox="1"/>
          <p:nvPr>
            <p:ph idx="4" type="body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4" name="Google Shape;154;p44"/>
          <p:cNvSpPr txBox="1"/>
          <p:nvPr>
            <p:ph idx="5" type="body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5" name="Google Shape;155;p44"/>
          <p:cNvSpPr txBox="1"/>
          <p:nvPr>
            <p:ph idx="6" type="body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6" name="Google Shape;156;p44"/>
          <p:cNvSpPr txBox="1"/>
          <p:nvPr>
            <p:ph idx="7" type="body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7" name="Google Shape;157;p44"/>
          <p:cNvSpPr txBox="1"/>
          <p:nvPr>
            <p:ph idx="8" type="body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8" name="Google Shape;158;p44"/>
          <p:cNvSpPr txBox="1"/>
          <p:nvPr>
            <p:ph idx="9" type="body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9" name="Google Shape;159;p44"/>
          <p:cNvSpPr txBox="1"/>
          <p:nvPr>
            <p:ph idx="13" type="body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0" name="Google Shape;160;p44"/>
          <p:cNvSpPr txBox="1"/>
          <p:nvPr>
            <p:ph idx="14" type="body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1" name="Google Shape;161;p44"/>
          <p:cNvSpPr txBox="1"/>
          <p:nvPr>
            <p:ph idx="15" type="body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2" name="Google Shape;162;p44"/>
          <p:cNvSpPr txBox="1"/>
          <p:nvPr>
            <p:ph idx="16" type="body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3" name="Google Shape;163;p44"/>
          <p:cNvSpPr txBox="1"/>
          <p:nvPr>
            <p:ph idx="17" type="body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4" name="Google Shape;164;p44"/>
          <p:cNvSpPr txBox="1"/>
          <p:nvPr>
            <p:ph idx="18" type="body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5" name="Google Shape;165;p44"/>
          <p:cNvSpPr txBox="1"/>
          <p:nvPr>
            <p:ph idx="19" type="body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6" name="Google Shape;166;p44"/>
          <p:cNvSpPr txBox="1"/>
          <p:nvPr>
            <p:ph idx="20" type="body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7" name="Google Shape;167;p44"/>
          <p:cNvSpPr txBox="1"/>
          <p:nvPr>
            <p:ph idx="21" type="body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8" name="Google Shape;168;p44"/>
          <p:cNvSpPr txBox="1"/>
          <p:nvPr>
            <p:ph idx="22" type="body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9" name="Google Shape;169;p44"/>
          <p:cNvSpPr txBox="1"/>
          <p:nvPr>
            <p:ph idx="23" type="body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24" type="body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1" name="Google Shape;171;p44"/>
          <p:cNvSpPr txBox="1"/>
          <p:nvPr>
            <p:ph idx="25" type="body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ريق العمل">
  <p:cSld name="فريق العمل">
    <p:bg>
      <p:bgPr>
        <a:solidFill>
          <a:srgbClr val="12183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6" name="Google Shape;176;p4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/>
          <p:nvPr>
            <p:ph idx="3" type="pic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45"/>
          <p:cNvSpPr txBox="1"/>
          <p:nvPr>
            <p:ph idx="4" type="body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2" name="Google Shape;182;p45"/>
          <p:cNvSpPr txBox="1"/>
          <p:nvPr>
            <p:ph idx="5" type="body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3" name="Google Shape;183;p45"/>
          <p:cNvSpPr/>
          <p:nvPr>
            <p:ph idx="6" type="pic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45"/>
          <p:cNvSpPr txBox="1"/>
          <p:nvPr>
            <p:ph idx="7" type="body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5" name="Google Shape;185;p45"/>
          <p:cNvSpPr txBox="1"/>
          <p:nvPr>
            <p:ph idx="8" type="body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6" name="Google Shape;186;p45"/>
          <p:cNvSpPr/>
          <p:nvPr>
            <p:ph idx="9" type="pic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45"/>
          <p:cNvSpPr txBox="1"/>
          <p:nvPr>
            <p:ph idx="13" type="body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8" name="Google Shape;188;p45"/>
          <p:cNvSpPr txBox="1"/>
          <p:nvPr>
            <p:ph idx="14" type="body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9" name="Google Shape;189;p45"/>
          <p:cNvSpPr/>
          <p:nvPr>
            <p:ph idx="15" type="pic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45"/>
          <p:cNvSpPr txBox="1"/>
          <p:nvPr>
            <p:ph idx="16" type="body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1" name="Google Shape;191;p45"/>
          <p:cNvSpPr txBox="1"/>
          <p:nvPr>
            <p:ph idx="17" type="body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 فاتحة">
  <p:cSld name="أربع نقاط فاتحة">
    <p:bg>
      <p:bgPr>
        <a:solidFill>
          <a:srgbClr val="F2F4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6" name="Google Shape;196;p46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7" name="Google Shape;197;p46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1" name="Google Shape;201;p46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2" name="Google Shape;202;p46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3" name="Google Shape;203;p46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4" name="Google Shape;204;p46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5" name="Google Shape;205;p46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6" name="Google Shape;206;p46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7" name="Google Shape;207;p46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فاتح">
  <p:cSld name="جدول فاتح">
    <p:bg>
      <p:bgPr>
        <a:solidFill>
          <a:srgbClr val="F2F4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2" name="Google Shape;212;p4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3" name="Google Shape;213;p4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7" name="Google Shape;217;p47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بالأعمدة">
  <p:cSld name="مقارنة بالأعمدة">
    <p:bg>
      <p:bgPr>
        <a:solidFill>
          <a:srgbClr val="12183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2" name="Google Shape;222;p4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3" name="Google Shape;223;p48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/>
          <p:nvPr>
            <p:ph idx="3" type="body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7" name="Google Shape;227;p48"/>
          <p:cNvSpPr/>
          <p:nvPr>
            <p:ph idx="4" type="chart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توزيع نسبي">
  <p:cSld name="توزيع نسبي">
    <p:bg>
      <p:bgPr>
        <a:solidFill>
          <a:srgbClr val="12183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2" name="Google Shape;232;p4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3" name="Google Shape;233;p49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/>
          <p:nvPr>
            <p:ph idx="3" type="body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7" name="Google Shape;237;p49"/>
          <p:cNvSpPr/>
          <p:nvPr>
            <p:ph idx="4" type="chart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آلية العمل">
  <p:cSld name="آلية العمل">
    <p:bg>
      <p:bgPr>
        <a:solidFill>
          <a:srgbClr val="12183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2" name="Google Shape;242;p5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3" name="Google Shape;243;p50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/>
          <p:nvPr>
            <p:ph idx="3" type="body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7" name="Google Shape;247;p50"/>
          <p:cNvSpPr txBox="1"/>
          <p:nvPr>
            <p:ph idx="4" type="body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8" name="Google Shape;248;p50"/>
          <p:cNvSpPr txBox="1"/>
          <p:nvPr>
            <p:ph idx="5" type="body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9" name="Google Shape;249;p50"/>
          <p:cNvSpPr txBox="1"/>
          <p:nvPr>
            <p:ph idx="6" type="body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صورة كبيرة">
  <p:cSld name="صورة كبيرة">
    <p:bg>
      <p:bgPr>
        <a:solidFill>
          <a:srgbClr val="12183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/>
          <p:nvPr>
            <p:ph idx="2" type="pic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51"/>
          <p:cNvSpPr txBox="1"/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6" name="Google Shape;256;p51"/>
          <p:cNvSpPr txBox="1"/>
          <p:nvPr>
            <p:ph idx="1" type="body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عرض الصور">
  <p:cSld name="معرض الصور">
    <p:bg>
      <p:bgPr>
        <a:solidFill>
          <a:srgbClr val="12183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1" name="Google Shape;261;p52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/>
          <p:nvPr>
            <p:ph idx="2" type="pic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52"/>
          <p:cNvSpPr txBox="1"/>
          <p:nvPr>
            <p:ph idx="3" type="body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6" name="Google Shape;266;p52"/>
          <p:cNvSpPr/>
          <p:nvPr>
            <p:ph idx="4" type="pic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52"/>
          <p:cNvSpPr txBox="1"/>
          <p:nvPr>
            <p:ph idx="5" type="body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8" name="Google Shape;268;p52"/>
          <p:cNvSpPr/>
          <p:nvPr>
            <p:ph idx="6" type="pic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52"/>
          <p:cNvSpPr txBox="1"/>
          <p:nvPr>
            <p:ph idx="7" type="body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يقونات الهوية">
  <p:cSld name="أيقونات الهوية">
    <p:bg>
      <p:bgPr>
        <a:solidFill>
          <a:srgbClr val="12183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4" name="Google Shape;274;p5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5" name="Google Shape;275;p5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/>
          <p:nvPr>
            <p:ph idx="3" type="body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9" name="Google Shape;279;p53"/>
          <p:cNvSpPr txBox="1"/>
          <p:nvPr>
            <p:ph idx="4" type="body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0" name="Google Shape;280;p53"/>
          <p:cNvSpPr txBox="1"/>
          <p:nvPr>
            <p:ph idx="5" type="body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1" name="Google Shape;281;p53"/>
          <p:cNvSpPr txBox="1"/>
          <p:nvPr>
            <p:ph idx="6" type="body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2" name="Google Shape;282;p53"/>
          <p:cNvSpPr txBox="1"/>
          <p:nvPr>
            <p:ph idx="7" type="body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3" name="Google Shape;283;p53"/>
          <p:cNvSpPr txBox="1"/>
          <p:nvPr>
            <p:ph idx="8" type="body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4" name="Google Shape;284;p53"/>
          <p:cNvSpPr txBox="1"/>
          <p:nvPr>
            <p:ph idx="9" type="body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5" name="Google Shape;285;p53"/>
          <p:cNvSpPr txBox="1"/>
          <p:nvPr>
            <p:ph idx="13" type="body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خيارين">
  <p:cSld name="مقارنة خيارين">
    <p:bg>
      <p:bgPr>
        <a:solidFill>
          <a:srgbClr val="12183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0" name="Google Shape;290;p5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1" name="Google Shape;291;p5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/>
          <p:nvPr>
            <p:ph idx="3" type="body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5" name="Google Shape;295;p54"/>
          <p:cNvSpPr txBox="1"/>
          <p:nvPr>
            <p:ph idx="4" type="body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6" name="Google Shape;296;p54"/>
          <p:cNvSpPr txBox="1"/>
          <p:nvPr>
            <p:ph idx="5" type="body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7" name="Google Shape;297;p54"/>
          <p:cNvSpPr txBox="1"/>
          <p:nvPr>
            <p:ph idx="6" type="body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8" name="Google Shape;298;p54"/>
          <p:cNvSpPr txBox="1"/>
          <p:nvPr>
            <p:ph idx="7" type="body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9" name="Google Shape;299;p54"/>
          <p:cNvSpPr txBox="1"/>
          <p:nvPr>
            <p:ph idx="8" type="body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داكنة">
  <p:cSld name="فارغة داكنة">
    <p:bg>
      <p:bgPr>
        <a:solidFill>
          <a:srgbClr val="12183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فاتحة">
  <p:cSld name="فارغة فاتحة">
    <p:bg>
      <p:bgPr>
        <a:solidFill>
          <a:srgbClr val="F2F4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تام العرض">
  <p:cSld name="ختام العرض">
    <p:bg>
      <p:bgPr>
        <a:solidFill>
          <a:srgbClr val="12183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b="16000" l="4300" r="69700" t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/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6" name="Google Shape;316;p57"/>
          <p:cNvSpPr txBox="1"/>
          <p:nvPr>
            <p:ph idx="1" type="body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7" name="Google Shape;317;p57"/>
          <p:cNvSpPr txBox="1"/>
          <p:nvPr>
            <p:ph idx="2" type="body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theme" Target="../theme/theme1.xml"/><Relationship Id="rId25" Type="http://schemas.openxmlformats.org/officeDocument/2006/relationships/slideLayout" Target="../slideLayouts/slideLayout25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bidaya_ask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5.png"/><Relationship Id="rId8" Type="http://schemas.openxmlformats.org/officeDocument/2006/relationships/image" Target="../media/image22.png"/><Relationship Id="rId10" Type="http://schemas.openxmlformats.org/officeDocument/2006/relationships/image" Target="../media/image20.pn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"/>
          <p:cNvSpPr txBox="1"/>
          <p:nvPr>
            <p:ph type="title"/>
          </p:nvPr>
        </p:nvSpPr>
        <p:spPr>
          <a:xfrm>
            <a:off x="7791450" y="3524250"/>
            <a:ext cx="90489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64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487" name="Google Shape;487;p8"/>
          <p:cNvSpPr txBox="1"/>
          <p:nvPr>
            <p:ph idx="1" type="body"/>
          </p:nvPr>
        </p:nvSpPr>
        <p:spPr>
          <a:xfrm>
            <a:off x="7791450" y="5334000"/>
            <a:ext cx="9048900" cy="16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b="0" lang="ar-SA" sz="33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خريطة تفاعلية مدعومة بالذكاء الاصطناعي تروي سيرة النبي ﷺ في الزمان والمكان، مع مساعد يجيب من المصادر المعتمدة بالعربية والإنجليزية</a:t>
            </a:r>
            <a:endParaRPr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4472130" y="9120188"/>
            <a:ext cx="23580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فريق بداية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6 أكتوبر 2026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538" name="Google Shape;538;p1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لماذا يصعب فهم السيرة على المبتدئ؟</a:t>
            </a:r>
            <a:endParaRPr/>
          </a:p>
        </p:txBody>
      </p:sp>
      <p:sp>
        <p:nvSpPr>
          <p:cNvPr id="539" name="Google Shape;539;p1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السيرة من أوضح الطرق لفهم الإسلام، لكنها موزعة بين كتب كثيرة</a:t>
            </a:r>
            <a:endParaRPr/>
          </a:p>
        </p:txBody>
      </p:sp>
      <p:sp>
        <p:nvSpPr>
          <p:cNvPr id="540" name="Google Shape;540;p1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41" name="Google Shape;541;p11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أحداث متفرقة</a:t>
            </a:r>
            <a:endParaRPr/>
          </a:p>
        </p:txBody>
      </p:sp>
      <p:sp>
        <p:nvSpPr>
          <p:cNvPr id="542" name="Google Shape;542;p11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142 حدثًا موزعة بين كتب السيرة والحديث، دون ترتيب واحد يراه المبتدئ</a:t>
            </a:r>
            <a:endParaRPr/>
          </a:p>
        </p:txBody>
      </p:sp>
      <p:sp>
        <p:nvSpPr>
          <p:cNvPr id="543" name="Google Shape;543;p11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أماكن بلا خريطة</a:t>
            </a:r>
            <a:endParaRPr/>
          </a:p>
        </p:txBody>
      </p:sp>
      <p:sp>
        <p:nvSpPr>
          <p:cNvPr id="544" name="Google Shape;544;p11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بدر وأحد والحديبية أسماء بلا موقع عند من يسمعها أول مرة</a:t>
            </a:r>
            <a:endParaRPr/>
          </a:p>
        </p:txBody>
      </p:sp>
      <p:sp>
        <p:nvSpPr>
          <p:cNvPr id="545" name="Google Shape;545;p11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آيات بلا سياق</a:t>
            </a:r>
            <a:endParaRPr/>
          </a:p>
        </p:txBody>
      </p:sp>
      <p:sp>
        <p:nvSpPr>
          <p:cNvPr id="546" name="Google Shape;546;p11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كثير من آيات القرآن نزلت في مواقف من السيرة، والمبتدئ لا يعرف أيها</a:t>
            </a:r>
            <a:endParaRPr/>
          </a:p>
        </p:txBody>
      </p:sp>
      <p:sp>
        <p:nvSpPr>
          <p:cNvPr id="547" name="Google Shape;547;p11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صعوبة التحقق</a:t>
            </a:r>
            <a:endParaRPr/>
          </a:p>
        </p:txBody>
      </p:sp>
      <p:sp>
        <p:nvSpPr>
          <p:cNvPr id="548" name="Google Shape;548;p11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يصعب على غير المختص معرفة الموثوق مما يقرؤه على الإنترنت</a:t>
            </a:r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النتائج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الإجابات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على الموقع الحي، 5–6 أكتوبر 2026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97.9%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بمصدر صحيح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48 سؤالًا لها مصدر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100%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امتناع صحيح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عن الفتوى وما لا مصدر له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88%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أسئلة صعبة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50 سؤالًا: أسماء متشابهة ومقدمات خاطئة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7.5 ث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زمن الجواب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الوسيط على الموقع الحي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المصدر: docs/evaluation في مستودع المشروع، مع كل سؤال وجوابه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الموثوقية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مستويات المحتوى وضبط الاستجابة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كما في المرجعية العلمية للتحدي، وما تفعله بداية في كل مستوى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643" name="Google Shape;643;p17"/>
          <p:cNvGraphicFramePr/>
          <p:nvPr/>
        </p:nvGraphicFramePr>
        <p:xfrm>
          <a:off x="131445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في الاختبار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تفعله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أمثلة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97.9% بمصدر صحيح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مباشر مع رابط 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متى كانت غزوة بدر؟ من هو أبو بكر؟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(أ) معلومات مستقرة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من المصادر مع المرجع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لماذا قبل النبي ﷺ صلح الحديبية؟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(ب) شرح وتعريف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ذكر اختلاف الروايات دون ترجيح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عدد شهداء أحد، سنوات مكة بعد البعثة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(ج) مسائل خلافية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100% امتناع صحيح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امتناع وإحالة إلى الرئاسة العامة للإفتاء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هل يجوز…؟ ما حكم…؟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(د) فتوى أو حالة شخصية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المصدر: اختبارا 60 و50 سؤالًا، مجلد docs/evaluation في المستودع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0" name="Google Shape;65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1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52" name="Google Shape;652;p1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خطة الاستمرار</a:t>
            </a:r>
            <a:endParaRPr/>
          </a:p>
        </p:txBody>
      </p:sp>
      <p:sp>
        <p:nvSpPr>
          <p:cNvPr id="653" name="Google Shape;653;p1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بعد التحدي</a:t>
            </a:r>
            <a:endParaRPr/>
          </a:p>
        </p:txBody>
      </p:sp>
      <p:sp>
        <p:nvSpPr>
          <p:cNvPr id="654" name="Google Shape;654;p1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الخادم ينام عند الخمول: لا تُدفع تكلفة المعالج إلا حين يُسأل</a:t>
            </a:r>
            <a:endParaRPr/>
          </a:p>
        </p:txBody>
      </p:sp>
      <p:sp>
        <p:nvSpPr>
          <p:cNvPr id="655" name="Google Shape;655;p18"/>
          <p:cNvSpPr txBox="1"/>
          <p:nvPr>
            <p:ph idx="3" type="body"/>
          </p:nvPr>
        </p:nvSpPr>
        <p:spPr>
          <a:xfrm>
            <a:off x="13982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656" name="Google Shape;656;p18"/>
          <p:cNvSpPr txBox="1"/>
          <p:nvPr>
            <p:ph idx="4" type="body"/>
          </p:nvPr>
        </p:nvSpPr>
        <p:spPr>
          <a:xfrm>
            <a:off x="13982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الحالي</a:t>
            </a:r>
            <a:endParaRPr/>
          </a:p>
        </p:txBody>
      </p:sp>
      <p:sp>
        <p:nvSpPr>
          <p:cNvPr id="657" name="Google Shape;657;p18"/>
          <p:cNvSpPr txBox="1"/>
          <p:nvPr>
            <p:ph idx="5" type="body"/>
          </p:nvPr>
        </p:nvSpPr>
        <p:spPr>
          <a:xfrm>
            <a:off x="13982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الآن</a:t>
            </a:r>
            <a:endParaRPr/>
          </a:p>
        </p:txBody>
      </p:sp>
      <p:sp>
        <p:nvSpPr>
          <p:cNvPr id="658" name="Google Shape;658;p18"/>
          <p:cNvSpPr txBox="1"/>
          <p:nvPr>
            <p:ph idx="6" type="body"/>
          </p:nvPr>
        </p:nvSpPr>
        <p:spPr>
          <a:xfrm>
            <a:off x="13982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موقع حي بالعربية والإنجليزية</a:t>
            </a:r>
            <a:endParaRPr/>
          </a:p>
        </p:txBody>
      </p:sp>
      <p:sp>
        <p:nvSpPr>
          <p:cNvPr id="659" name="Google Shape;659;p18"/>
          <p:cNvSpPr txBox="1"/>
          <p:nvPr>
            <p:ph idx="7" type="body"/>
          </p:nvPr>
        </p:nvSpPr>
        <p:spPr>
          <a:xfrm>
            <a:off x="108394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660" name="Google Shape;660;p18"/>
          <p:cNvSpPr txBox="1"/>
          <p:nvPr>
            <p:ph idx="8" type="body"/>
          </p:nvPr>
        </p:nvSpPr>
        <p:spPr>
          <a:xfrm>
            <a:off x="108394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المستفيدين</a:t>
            </a:r>
            <a:endParaRPr/>
          </a:p>
        </p:txBody>
      </p:sp>
      <p:sp>
        <p:nvSpPr>
          <p:cNvPr id="661" name="Google Shape;661;p18"/>
          <p:cNvSpPr txBox="1"/>
          <p:nvPr>
            <p:ph idx="9" type="body"/>
          </p:nvPr>
        </p:nvSpPr>
        <p:spPr>
          <a:xfrm>
            <a:off x="108394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الشهر الأول</a:t>
            </a:r>
            <a:endParaRPr/>
          </a:p>
        </p:txBody>
      </p:sp>
      <p:sp>
        <p:nvSpPr>
          <p:cNvPr id="662" name="Google Shape;662;p18"/>
          <p:cNvSpPr txBox="1"/>
          <p:nvPr>
            <p:ph idx="13" type="body"/>
          </p:nvPr>
        </p:nvSpPr>
        <p:spPr>
          <a:xfrm>
            <a:off x="108394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قياس الفهم قبل الاستخدام وبعده</a:t>
            </a:r>
            <a:endParaRPr/>
          </a:p>
        </p:txBody>
      </p:sp>
      <p:sp>
        <p:nvSpPr>
          <p:cNvPr id="663" name="Google Shape;663;p18"/>
          <p:cNvSpPr txBox="1"/>
          <p:nvPr>
            <p:ph idx="14" type="body"/>
          </p:nvPr>
        </p:nvSpPr>
        <p:spPr>
          <a:xfrm>
            <a:off x="76962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664" name="Google Shape;664;p18"/>
          <p:cNvSpPr txBox="1"/>
          <p:nvPr>
            <p:ph idx="15" type="body"/>
          </p:nvPr>
        </p:nvSpPr>
        <p:spPr>
          <a:xfrm>
            <a:off x="76962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مراجعة المحتوى</a:t>
            </a:r>
            <a:endParaRPr/>
          </a:p>
        </p:txBody>
      </p:sp>
      <p:sp>
        <p:nvSpPr>
          <p:cNvPr id="665" name="Google Shape;665;p18"/>
          <p:cNvSpPr txBox="1"/>
          <p:nvPr>
            <p:ph idx="16" type="body"/>
          </p:nvPr>
        </p:nvSpPr>
        <p:spPr>
          <a:xfrm>
            <a:off x="76962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مستمر</a:t>
            </a:r>
            <a:endParaRPr/>
          </a:p>
        </p:txBody>
      </p:sp>
      <p:sp>
        <p:nvSpPr>
          <p:cNvPr id="666" name="Google Shape;666;p18"/>
          <p:cNvSpPr txBox="1"/>
          <p:nvPr>
            <p:ph idx="17" type="body"/>
          </p:nvPr>
        </p:nvSpPr>
        <p:spPr>
          <a:xfrm>
            <a:off x="76962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اعتماد السجلات الجديدة من مسؤول المحتوى</a:t>
            </a:r>
            <a:endParaRPr/>
          </a:p>
        </p:txBody>
      </p:sp>
      <p:sp>
        <p:nvSpPr>
          <p:cNvPr id="667" name="Google Shape;667;p18"/>
          <p:cNvSpPr txBox="1"/>
          <p:nvPr>
            <p:ph idx="18" type="body"/>
          </p:nvPr>
        </p:nvSpPr>
        <p:spPr>
          <a:xfrm>
            <a:off x="45529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668" name="Google Shape;668;p18"/>
          <p:cNvSpPr txBox="1"/>
          <p:nvPr>
            <p:ph idx="19" type="body"/>
          </p:nvPr>
        </p:nvSpPr>
        <p:spPr>
          <a:xfrm>
            <a:off x="45529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تحسين المساعد</a:t>
            </a:r>
            <a:endParaRPr/>
          </a:p>
        </p:txBody>
      </p:sp>
      <p:sp>
        <p:nvSpPr>
          <p:cNvPr id="669" name="Google Shape;669;p18"/>
          <p:cNvSpPr txBox="1"/>
          <p:nvPr>
            <p:ph idx="20" type="body"/>
          </p:nvPr>
        </p:nvSpPr>
        <p:spPr>
          <a:xfrm>
            <a:off x="45529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كل تعديل</a:t>
            </a:r>
            <a:endParaRPr/>
          </a:p>
        </p:txBody>
      </p:sp>
      <p:sp>
        <p:nvSpPr>
          <p:cNvPr id="670" name="Google Shape;670;p18"/>
          <p:cNvSpPr txBox="1"/>
          <p:nvPr>
            <p:ph idx="21" type="body"/>
          </p:nvPr>
        </p:nvSpPr>
        <p:spPr>
          <a:xfrm>
            <a:off x="45529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إعادة اختبار الأسئلة الخمسين قبل النشر</a:t>
            </a:r>
            <a:endParaRPr/>
          </a:p>
        </p:txBody>
      </p:sp>
      <p:sp>
        <p:nvSpPr>
          <p:cNvPr id="671" name="Google Shape;671;p18"/>
          <p:cNvSpPr txBox="1"/>
          <p:nvPr>
            <p:ph idx="22" type="body"/>
          </p:nvPr>
        </p:nvSpPr>
        <p:spPr>
          <a:xfrm>
            <a:off x="1409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672" name="Google Shape;672;p18"/>
          <p:cNvSpPr txBox="1"/>
          <p:nvPr>
            <p:ph idx="23" type="body"/>
          </p:nvPr>
        </p:nvSpPr>
        <p:spPr>
          <a:xfrm>
            <a:off x="1409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القراءة الصوتية بالعربية</a:t>
            </a:r>
            <a:endParaRPr/>
          </a:p>
        </p:txBody>
      </p:sp>
      <p:sp>
        <p:nvSpPr>
          <p:cNvPr id="673" name="Google Shape;673;p18"/>
          <p:cNvSpPr txBox="1"/>
          <p:nvPr>
            <p:ph idx="24" type="body"/>
          </p:nvPr>
        </p:nvSpPr>
        <p:spPr>
          <a:xfrm>
            <a:off x="1409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قيد التطوير</a:t>
            </a:r>
            <a:endParaRPr/>
          </a:p>
        </p:txBody>
      </p:sp>
      <p:sp>
        <p:nvSpPr>
          <p:cNvPr id="674" name="Google Shape;674;p18"/>
          <p:cNvSpPr txBox="1"/>
          <p:nvPr>
            <p:ph idx="25" type="body"/>
          </p:nvPr>
        </p:nvSpPr>
        <p:spPr>
          <a:xfrm>
            <a:off x="1409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بعد الإنجليزية المتاحة الآن، ثم لغات أخرى</a:t>
            </a:r>
            <a:endParaRPr/>
          </a:p>
        </p:txBody>
      </p:sp>
      <p:cxnSp>
        <p:nvCxnSpPr>
          <p:cNvPr id="675" name="Google Shape;675;p18"/>
          <p:cNvCxnSpPr/>
          <p:nvPr/>
        </p:nvCxnSpPr>
        <p:spPr>
          <a:xfrm rot="10800000">
            <a:off x="139923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76" name="Google Shape;67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77" name="Google Shape;677;p18"/>
          <p:cNvCxnSpPr/>
          <p:nvPr/>
        </p:nvCxnSpPr>
        <p:spPr>
          <a:xfrm rot="10800000">
            <a:off x="108300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18"/>
          <p:cNvCxnSpPr/>
          <p:nvPr/>
        </p:nvCxnSpPr>
        <p:spPr>
          <a:xfrm rot="10800000">
            <a:off x="76677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18"/>
          <p:cNvCxnSpPr/>
          <p:nvPr/>
        </p:nvCxnSpPr>
        <p:spPr>
          <a:xfrm rot="10800000">
            <a:off x="45054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18"/>
          <p:cNvCxnSpPr/>
          <p:nvPr/>
        </p:nvCxnSpPr>
        <p:spPr>
          <a:xfrm rot="10800000">
            <a:off x="13431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" name="Google Shape;68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7" name="Google Shape;68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88" name="Google Shape;688;p1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الفريق</a:t>
            </a:r>
            <a:endParaRPr/>
          </a:p>
        </p:txBody>
      </p:sp>
      <p:sp>
        <p:nvSpPr>
          <p:cNvPr id="689" name="Google Shape;689;p1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</a:t>
            </a:r>
            <a:endParaRPr/>
          </a:p>
        </p:txBody>
      </p:sp>
      <p:sp>
        <p:nvSpPr>
          <p:cNvPr id="690" name="Google Shape;690;p19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فريق بداية: التقنية والمحتوى والاختبار</a:t>
            </a:r>
            <a:endParaRPr/>
          </a:p>
        </p:txBody>
      </p:sp>
      <p:sp>
        <p:nvSpPr>
          <p:cNvPr id="691" name="Google Shape;691;p1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92" name="Google Shape;692;p19"/>
          <p:cNvSpPr/>
          <p:nvPr>
            <p:ph idx="3" type="pic"/>
          </p:nvPr>
        </p:nvSpPr>
        <p:spPr>
          <a:xfrm>
            <a:off x="1219200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3" name="Google Shape;693;p19"/>
          <p:cNvSpPr txBox="1"/>
          <p:nvPr>
            <p:ph idx="4" type="body"/>
          </p:nvPr>
        </p:nvSpPr>
        <p:spPr>
          <a:xfrm>
            <a:off x="11715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عمر بن طالب</a:t>
            </a:r>
            <a:endParaRPr/>
          </a:p>
        </p:txBody>
      </p:sp>
      <p:sp>
        <p:nvSpPr>
          <p:cNvPr id="694" name="Google Shape;694;p19"/>
          <p:cNvSpPr txBox="1"/>
          <p:nvPr>
            <p:ph idx="5" type="body"/>
          </p:nvPr>
        </p:nvSpPr>
        <p:spPr>
          <a:xfrm>
            <a:off x="11715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الاصطناعي: المساعد، والتبسيط والترجمة، ودقة الإجابات</a:t>
            </a:r>
            <a:endParaRPr/>
          </a:p>
        </p:txBody>
      </p:sp>
      <p:sp>
        <p:nvSpPr>
          <p:cNvPr id="695" name="Google Shape;695;p19"/>
          <p:cNvSpPr/>
          <p:nvPr>
            <p:ph idx="6" type="pic"/>
          </p:nvPr>
        </p:nvSpPr>
        <p:spPr>
          <a:xfrm>
            <a:off x="819150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6" name="Google Shape;696;p19"/>
          <p:cNvSpPr txBox="1"/>
          <p:nvPr>
            <p:ph idx="7" type="body"/>
          </p:nvPr>
        </p:nvSpPr>
        <p:spPr>
          <a:xfrm>
            <a:off x="77152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الياس التركستاني</a:t>
            </a:r>
            <a:endParaRPr/>
          </a:p>
        </p:txBody>
      </p:sp>
      <p:sp>
        <p:nvSpPr>
          <p:cNvPr id="697" name="Google Shape;697;p19"/>
          <p:cNvSpPr txBox="1"/>
          <p:nvPr>
            <p:ph idx="8" type="body"/>
          </p:nvPr>
        </p:nvSpPr>
        <p:spPr>
          <a:xfrm>
            <a:off x="77152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الواجهة وتجربة المستخدم: الخريطة والخط الزمني، ورحلة التعلم</a:t>
            </a:r>
            <a:endParaRPr/>
          </a:p>
        </p:txBody>
      </p:sp>
      <p:sp>
        <p:nvSpPr>
          <p:cNvPr id="698" name="Google Shape;698;p19"/>
          <p:cNvSpPr/>
          <p:nvPr>
            <p:ph idx="9" type="pic"/>
          </p:nvPr>
        </p:nvSpPr>
        <p:spPr>
          <a:xfrm>
            <a:off x="419100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9" name="Google Shape;699;p19"/>
          <p:cNvSpPr txBox="1"/>
          <p:nvPr>
            <p:ph idx="13" type="body"/>
          </p:nvPr>
        </p:nvSpPr>
        <p:spPr>
          <a:xfrm>
            <a:off x="3714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حسان الغامدي</a:t>
            </a:r>
            <a:endParaRPr/>
          </a:p>
        </p:txBody>
      </p:sp>
      <p:sp>
        <p:nvSpPr>
          <p:cNvPr id="700" name="Google Shape;700;p19"/>
          <p:cNvSpPr txBox="1"/>
          <p:nvPr>
            <p:ph idx="14" type="body"/>
          </p:nvPr>
        </p:nvSpPr>
        <p:spPr>
          <a:xfrm>
            <a:off x="3714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المحتوى والمراجعة: جمع المصادر، ومراجعة الأحداث والمصطلحات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الترخيص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دوره في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التفاصيل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المكوّن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البحث الدلالي بالعربية والإنجليزية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بحث هجين مع BM25 في 2,905 مقطعًا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نموذج التضمين bge-m3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Apache-2.0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إعادة ترتيب المقاطع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يُقدّم المقطع الصحيح حين تختلف الصياغة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معيد الترتيب bge-reranker-v2-m3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شروط OpenAI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فهم السؤال وكتابة الجواب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المقاطع فقط، ويُرفض الجواب بلا استشهاد صحيح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النموذج اللغوي gpt-6-luna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مفتوحة 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الواجهة والخادم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React على Vercel، وFastAPI على معالج رسومي في Modal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والخادم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التقنيات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مكوّنات الذكاء الاصطناعي والمنصة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كل مكوّن، ودوره في الحل، وترخيصه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التفاصيل: backend/README.md و docs/SOURCES_AND_LICENSES.md في المستودع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كيف يجيب «اسأل الخريطة»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سؤال المستخدم إلى الجواب على الخريطة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22" name="Google Shape;822;p24"/>
          <p:cNvSpPr/>
          <p:nvPr/>
        </p:nvSpPr>
        <p:spPr>
          <a:xfrm>
            <a:off x="13716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67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السؤال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أو الإنجليزية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سياق المحادثة لأسئلة المتابعة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1"/>
          </a:p>
        </p:txBody>
      </p:sp>
      <p:sp>
        <p:nvSpPr>
          <p:cNvPr id="823" name="Google Shape;823;p24"/>
          <p:cNvSpPr/>
          <p:nvPr/>
        </p:nvSpPr>
        <p:spPr>
          <a:xfrm>
            <a:off x="9715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الفهم والبحث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نموذج لغوي يصنّف السؤال ويعيد صياغته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بحث هجين في 2,905 مقطعًا ثم إعادة ترتيب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4" name="Google Shape;824;p24"/>
          <p:cNvSpPr/>
          <p:nvPr/>
        </p:nvSpPr>
        <p:spPr>
          <a:xfrm>
            <a:off x="5715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125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جواب موثّق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جملة برقم مصدرها، أو امتناع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نص مع روابط المصادر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5" name="Google Shape;825;p24"/>
          <p:cNvSpPr/>
          <p:nvPr/>
        </p:nvSpPr>
        <p:spPr>
          <a:xfrm>
            <a:off x="1714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على الخريطة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تنتقل إلى الحدث أو تُفتح بطاقة الشخص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88% في 50 سؤالًا صعبًا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250" name="Screenshot 1" descr="Ask the map: an answer about Badr with its sources, the map at Badr"/>
          <p:cNvPicPr>
            <a:picLocks noChangeAspect="1"/>
          </p:cNvPicPr>
          <p:nvPr/>
        </p:nvPicPr>
        <p:blipFill>
          <a:blip r:embed="rId4"/>
          <a:srcRect t="4693" b="26599"/>
          <a:stretch>
            <a:fillRect/>
          </a:stretch>
        </p:blipFill>
        <p:spPr>
          <a:xfrm>
            <a:off x="1047750" y="666750"/>
            <a:ext cx="1619250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الخريطة: الجواب ومصدره، والخريطة عند الحدث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عن غزوة بدر: جواب من الدرر السنية وصحيح البخاري مع روابطهما، والخريطة تنتقل إلى بدر مع زر للعودة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861" name="Google Shape;861;p2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بداية: السيرة قصةً على الخريطة</a:t>
            </a:r>
            <a:endParaRPr/>
          </a:p>
        </p:txBody>
      </p:sp>
      <p:sp>
        <p:nvSpPr>
          <p:cNvPr id="862" name="Google Shape;862;p2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والإنجليزية، مع قراءة صوتية بالإنجليزية (والعربية قيد التطوير)</a:t>
            </a:r>
            <a:endParaRPr/>
          </a:p>
        </p:txBody>
      </p:sp>
      <p:sp>
        <p:nvSpPr>
          <p:cNvPr id="863" name="Google Shape;863;p2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/>
          <p:nvPr>
            <p:ph idx="3" type="body"/>
          </p:nvPr>
        </p:nvSpPr>
        <p:spPr>
          <a:xfrm>
            <a:off x="13411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</a:t>
            </a:r>
            <a:endParaRPr/>
          </a:p>
        </p:txBody>
      </p:sp>
      <p:sp>
        <p:nvSpPr>
          <p:cNvPr id="866" name="Google Shape;866;p27"/>
          <p:cNvSpPr txBox="1"/>
          <p:nvPr>
            <p:ph idx="4" type="body"/>
          </p:nvPr>
        </p:nvSpPr>
        <p:spPr>
          <a:xfrm>
            <a:off x="13411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142 حدثًا في أماكنها، تُروى خطوة بخطوة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/>
          <p:nvPr>
            <p:ph idx="5" type="body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</a:t>
            </a:r>
            <a:endParaRPr/>
          </a:p>
        </p:txBody>
      </p:sp>
      <p:sp>
        <p:nvSpPr>
          <p:cNvPr id="869" name="Google Shape;869;p27"/>
          <p:cNvSpPr txBox="1"/>
          <p:nvPr>
            <p:ph idx="6" type="body"/>
          </p:nvPr>
        </p:nvSpPr>
        <p:spPr>
          <a:xfrm>
            <a:off x="9410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مع أحداثها، من الصحيحين وموسوعة التفسير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/>
          <p:nvPr>
            <p:ph idx="7" type="body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</a:t>
            </a:r>
            <a:endParaRPr/>
          </a:p>
        </p:txBody>
      </p:sp>
      <p:sp>
        <p:nvSpPr>
          <p:cNvPr id="872" name="Google Shape;872;p27"/>
          <p:cNvSpPr txBox="1"/>
          <p:nvPr>
            <p:ph idx="8" type="body"/>
          </p:nvPr>
        </p:nvSpPr>
        <p:spPr>
          <a:xfrm>
            <a:off x="5410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يجيب من المصادر ويذكرها، وينقل الخريطة إلى الحدث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/>
          <p:nvPr>
            <p:ph idx="9" type="body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ملخص السيرة</a:t>
            </a:r>
            <a:endParaRPr/>
          </a:p>
        </p:txBody>
      </p:sp>
      <p:sp>
        <p:nvSpPr>
          <p:cNvPr id="875" name="Google Shape;875;p27"/>
          <p:cNvSpPr txBox="1"/>
          <p:nvPr>
            <p:ph idx="13" type="body"/>
          </p:nvPr>
        </p:nvSpPr>
        <p:spPr>
          <a:xfrm>
            <a:off x="1409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21 لحظة بنصوص الدرر، مع السؤال عن كل لحظة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0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1" name="Google Shape;881;p28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2" name="Google Shape;882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83" name="Google Shape;883;p2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القيمة المضافة</a:t>
            </a:r>
            <a:endParaRPr/>
          </a:p>
        </p:txBody>
      </p:sp>
      <p:sp>
        <p:nvSpPr>
          <p:cNvPr id="884" name="Google Shape;884;p2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كتب السيرة أم بداية؟</a:t>
            </a:r>
            <a:endParaRPr/>
          </a:p>
        </p:txBody>
      </p:sp>
      <p:sp>
        <p:nvSpPr>
          <p:cNvPr id="885" name="Google Shape;885;p2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للمبتدئ الذي يتعرف على الإسلام</a:t>
            </a:r>
            <a:endParaRPr/>
          </a:p>
        </p:txBody>
      </p:sp>
      <p:sp>
        <p:nvSpPr>
          <p:cNvPr id="886" name="Google Shape;886;p2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87" name="Google Shape;887;p28"/>
          <p:cNvSpPr txBox="1"/>
          <p:nvPr>
            <p:ph idx="3" type="body"/>
          </p:nvPr>
        </p:nvSpPr>
        <p:spPr>
          <a:xfrm>
            <a:off x="9696450" y="3857625"/>
            <a:ext cx="7143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كتب السيرة والبحث</a:t>
            </a:r>
            <a:endParaRPr/>
          </a:p>
        </p:txBody>
      </p:sp>
      <p:sp>
        <p:nvSpPr>
          <p:cNvPr id="888" name="Google Shape;888;p28"/>
          <p:cNvSpPr txBox="1"/>
          <p:nvPr>
            <p:ph idx="4" type="body"/>
          </p:nvPr>
        </p:nvSpPr>
        <p:spPr>
          <a:xfrm>
            <a:off x="9696450" y="4562475"/>
            <a:ext cx="7143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مصادر موثوقة، لكنها نصوص طويلة متفرقة</a:t>
            </a:r>
            <a:endParaRPr/>
          </a:p>
        </p:txBody>
      </p:sp>
      <p:sp>
        <p:nvSpPr>
          <p:cNvPr id="889" name="Google Shape;889;p28"/>
          <p:cNvSpPr txBox="1"/>
          <p:nvPr>
            <p:ph idx="5" type="body"/>
          </p:nvPr>
        </p:nvSpPr>
        <p:spPr>
          <a:xfrm>
            <a:off x="1409700" y="3857625"/>
            <a:ext cx="7143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890" name="Google Shape;890;p28"/>
          <p:cNvSpPr txBox="1"/>
          <p:nvPr>
            <p:ph idx="6" type="body"/>
          </p:nvPr>
        </p:nvSpPr>
        <p:spPr>
          <a:xfrm>
            <a:off x="1409700" y="4562475"/>
            <a:ext cx="7143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المصادر نفسها، قصةً على الخريطة مع مساعد يجيب منها</a:t>
            </a:r>
            <a:endParaRPr/>
          </a:p>
        </p:txBody>
      </p:sp>
      <p:sp>
        <p:nvSpPr>
          <p:cNvPr id="891" name="Google Shape;891;p28"/>
          <p:cNvSpPr txBox="1"/>
          <p:nvPr>
            <p:ph idx="7" type="body"/>
          </p:nvPr>
        </p:nvSpPr>
        <p:spPr>
          <a:xfrm>
            <a:off x="9696450" y="5905500"/>
            <a:ext cx="7143900" cy="295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عمق وتفصيل كامل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t/>
            </a:r>
            <a:endParaRPr b="0" sz="255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لا ترتيب على الخريطة، والآيات منفصلة عن أحداثها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t/>
            </a:r>
            <a:endParaRPr b="0" sz="255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للمتعلم المتقدم والباحث</a:t>
            </a:r>
            <a:endParaRPr/>
          </a:p>
        </p:txBody>
      </p:sp>
      <p:sp>
        <p:nvSpPr>
          <p:cNvPr id="892" name="Google Shape;892;p28"/>
          <p:cNvSpPr txBox="1"/>
          <p:nvPr>
            <p:ph idx="8" type="body"/>
          </p:nvPr>
        </p:nvSpPr>
        <p:spPr>
          <a:xfrm>
            <a:off x="1409700" y="5905500"/>
            <a:ext cx="7143900" cy="295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يرى الحدث ومكانه وآياته، ويسأل بلغته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t/>
            </a:r>
            <a:endParaRPr b="0" sz="255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يقتصر على ما في المصادر المعتمدة، ولا يفتي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t/>
            </a:r>
            <a:endParaRPr b="0" sz="255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للمبتدئ وغير المسلم والمسلم الجديد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31"/>
          <p:cNvSpPr txBox="1"/>
          <p:nvPr>
            <p:ph idx="1" type="body"/>
          </p:nvPr>
        </p:nvSpPr>
        <p:spPr>
          <a:xfrm>
            <a:off x="3810000" y="5676900"/>
            <a:ext cx="106680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916" name="Google Shape;916;p31"/>
          <p:cNvSpPr txBox="1"/>
          <p:nvPr>
            <p:ph idx="2" type="body"/>
          </p:nvPr>
        </p:nvSpPr>
        <p:spPr>
          <a:xfrm>
            <a:off x="3810000" y="6653200"/>
            <a:ext cx="106680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bidaya-sirah.vercel.app  ·  github.com/omarbintalib/Bidaya</a:t>
            </a:r>
            <a:endParaRPr/>
          </a:p>
        </p:txBody>
      </p:sp>
      <p:sp>
        <p:nvSpPr>
          <p:cNvPr id="917" name="Google Shape;917;p31"/>
          <p:cNvSpPr txBox="1"/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b="1" lang="ar-SA" sz="72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شركاؤنا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الإتاحة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الاستخدام في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كيف نتحقق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dorar.net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142 حدثًا: العناوين والتواريخ والأماكن والنصوص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كل حدث برابطه؛ ونصوص الملخص حرفية يفحصها اختبار آلي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الدرر السنية: الموسوعة التاريخية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sunnah.com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94 سجلًا يربط الآيات بأحداثها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كل رقم حديث طوبق مع نصه (223 رقمًا)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الصحيحان وموسوعة التفسير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الشاملة 9820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سياق السيرة في الإجابات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حُذفت الروايات الضعيفة المعروفة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الرحيق المختوم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الشاملة 11314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أسباب النزول في الإجابات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الصحيح والحسن فقط؛ استُبعدت 836 رواية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أسباب النزول للواحدي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المصادر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المصادر المعتمدة وكيف نتحقق منها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لا يُضاف شيء من الذاكرة؛ كل معلومة تعود إلى رابطها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سجل الأدوات والتراخيص (النماذج، الخطوط، الأصوات، الخرائط): docs/SOURCES_AND_LICENSES.md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