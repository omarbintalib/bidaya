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image/jpeg" Extension="jp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7.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26.xml"/>
  <Override ContentType="application/vnd.openxmlformats-officedocument.presentationml.notesSlide+xml" PartName="/ppt/notesSlides/notesSlide31.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Master+xml" PartName="/ppt/slideMasters/slideMaster1.xml"/>
  <Override ContentType="application/binary" PartName="/ppt/metadata"/>
  <Override ContentType="application/vnd.openxmlformats-officedocument.presentationml.slide+xml" PartName="/ppt/slides/slide18.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1.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28.xml"/>
  <Override ContentType="application/vnd.openxmlformats-officedocument.presentationml.slide+xml" PartName="/ppt/slides/slide15.xml"/>
  <Override ContentType="application/vnd.openxmlformats-officedocument.presentationml.slide+xml" PartName="/ppt/slides/slide31.xml"/>
  <Override ContentType="application/vnd.openxmlformats-officedocument.presentationml.slide+xml" PartName="/ppt/slides/slide27.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48" r:id="rId4"/>
  </p:sldMasterIdLst>
  <p:notesMasterIdLst>
    <p:notesMasterId r:id="rId5"/>
  </p:notesMasterIdLst>
  <p:sldIdLst>
    <p:sldId id="263" r:id="rId13"/>
    <p:sldId id="266" r:id="rId16"/>
    <p:sldId id="282" r:id="rId32"/>
    <p:sldId id="288" r:id="rId51"/>
    <p:sldId id="289" r:id="rId52"/>
    <p:sldId id="280" r:id="rId30"/>
    <p:sldId id="291" r:id="rId54"/>
    <p:sldId id="281" r:id="rId31"/>
    <p:sldId id="279" r:id="rId29"/>
    <p:sldId id="276" r:id="rId26"/>
    <p:sldId id="272" r:id="rId22"/>
    <p:sldId id="287" r:id="rId50"/>
    <p:sldId id="270" r:id="rId20"/>
    <p:sldId id="283" r:id="rId33"/>
    <p:sldId id="290" r:id="rId53"/>
    <p:sldId id="273" r:id="rId23"/>
    <p:sldId id="274" r:id="rId24"/>
    <p:sldId id="286" r:id="rId36"/>
  </p:sldIdLst>
  <p:sldSz cy="10287000" cx="18288000"/>
  <p:notesSz cx="6858000" cy="9144000"/>
  <p:embeddedFontLst>
    <p:embeddedFont>
      <p:font typeface="Urbanist"/>
      <p:regular r:id="rId37"/>
      <p:bold r:id="rId38"/>
      <p:italic r:id="rId39"/>
      <p:boldItalic r:id="rId40"/>
    </p:embeddedFont>
    <p:embeddedFont>
      <p:font typeface="Readex Pro Medium"/>
      <p:regular r:id="rId41"/>
      <p:bold r:id="rId42"/>
    </p:embeddedFont>
    <p:embeddedFont>
      <p:font typeface="Readex Pro SemiBold"/>
      <p:regular r:id="rId43"/>
      <p:bold r:id="rId44"/>
    </p:embeddedFont>
    <p:embeddedFont>
      <p:font typeface="Readex Pro"/>
      <p:regular r:id="rId45"/>
      <p:bold r:id="rId46"/>
    </p:embeddedFont>
    <p:embeddedFont>
      <p:font typeface="Readex Pro Light"/>
      <p:regular r:id="rId47"/>
      <p:bold r:id="rId4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GoogleSlidesCustomDataVersion2">
      <go:slidesCustomData xmlns:go="http://customooxmlschemas.google.com/" r:id="rId49" roundtripDataSignature="AMtx7mh1GeQrG1kO//gaBT9ZQp796F1rh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B8ED9858-D163-4338-9E88-1F424354888F}">
  <a:tblStyle styleId="{B8ED9858-D163-4338-9E88-1F424354888F}"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_rels/presentation.xml.rels><?xml version="1.0" encoding="utf-8"?><Relationships xmlns="http://schemas.openxmlformats.org/package/2006/relationships"><Relationship Id="rId40" Type="http://schemas.openxmlformats.org/officeDocument/2006/relationships/font" Target="fonts/Urbanist-boldItalic.fntdata"/><Relationship Id="rId42" Type="http://schemas.openxmlformats.org/officeDocument/2006/relationships/font" Target="fonts/ReadexProMedium-bold.fntdata"/><Relationship Id="rId41" Type="http://schemas.openxmlformats.org/officeDocument/2006/relationships/font" Target="fonts/ReadexProMedium-regular.fntdata"/><Relationship Id="rId44" Type="http://schemas.openxmlformats.org/officeDocument/2006/relationships/font" Target="fonts/ReadexProSemiBold-bold.fntdata"/><Relationship Id="rId43" Type="http://schemas.openxmlformats.org/officeDocument/2006/relationships/font" Target="fonts/ReadexProSemiBold-regular.fntdata"/><Relationship Id="rId46" Type="http://schemas.openxmlformats.org/officeDocument/2006/relationships/font" Target="fonts/ReadexPro-bold.fntdata"/><Relationship Id="rId45" Type="http://schemas.openxmlformats.org/officeDocument/2006/relationships/font" Target="fonts/ReadexPro-regular.fntdata"/><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tableStyles" Target="tableStyles.xml"/><Relationship Id="rId4" Type="http://schemas.openxmlformats.org/officeDocument/2006/relationships/slideMaster" Target="slideMasters/slideMaster1.xml"/><Relationship Id="rId48" Type="http://schemas.openxmlformats.org/officeDocument/2006/relationships/font" Target="fonts/ReadexProLight-bold.fntdata"/><Relationship Id="rId47" Type="http://schemas.openxmlformats.org/officeDocument/2006/relationships/font" Target="fonts/ReadexProLight-regular.fntdata"/><Relationship Id="rId49" Type="http://customschemas.google.com/relationships/presentationmetadata" Target="metadata"/><Relationship Id="rId5" Type="http://schemas.openxmlformats.org/officeDocument/2006/relationships/notesMaster" Target="notesMasters/notesMaster1.xml"/><Relationship Id="rId31" Type="http://schemas.openxmlformats.org/officeDocument/2006/relationships/slide" Target="slides/slide26.xml"/><Relationship Id="rId30" Type="http://schemas.openxmlformats.org/officeDocument/2006/relationships/slide" Target="slides/slide25.xml"/><Relationship Id="rId33" Type="http://schemas.openxmlformats.org/officeDocument/2006/relationships/slide" Target="slides/slide28.xml"/><Relationship Id="rId32" Type="http://schemas.openxmlformats.org/officeDocument/2006/relationships/slide" Target="slides/slide27.xml"/><Relationship Id="rId37" Type="http://schemas.openxmlformats.org/officeDocument/2006/relationships/font" Target="fonts/Urbanist-regular.fntdata"/><Relationship Id="rId36" Type="http://schemas.openxmlformats.org/officeDocument/2006/relationships/slide" Target="slides/slide31.xml"/><Relationship Id="rId39" Type="http://schemas.openxmlformats.org/officeDocument/2006/relationships/font" Target="fonts/Urbanist-italic.fntdata"/><Relationship Id="rId38" Type="http://schemas.openxmlformats.org/officeDocument/2006/relationships/font" Target="fonts/Urbanist-bold.fntdata"/><Relationship Id="rId20" Type="http://schemas.openxmlformats.org/officeDocument/2006/relationships/slide" Target="slides/slide15.xml"/><Relationship Id="rId22" Type="http://schemas.openxmlformats.org/officeDocument/2006/relationships/slide" Target="slides/slide17.xml"/><Relationship Id="rId24" Type="http://schemas.openxmlformats.org/officeDocument/2006/relationships/slide" Target="slides/slide19.xml"/><Relationship Id="rId23" Type="http://schemas.openxmlformats.org/officeDocument/2006/relationships/slide" Target="slides/slide18.xml"/><Relationship Id="rId26" Type="http://schemas.openxmlformats.org/officeDocument/2006/relationships/slide" Target="slides/slide21.xml"/><Relationship Id="rId29" Type="http://schemas.openxmlformats.org/officeDocument/2006/relationships/slide" Target="slides/slide24.xml"/><Relationship Id="rId13" Type="http://schemas.openxmlformats.org/officeDocument/2006/relationships/slide" Target="slides/slide8.xml"/><Relationship Id="rId16" Type="http://schemas.openxmlformats.org/officeDocument/2006/relationships/slide" Target="slides/slide11.xml"/>  <Relationship Id="rId50" Type="http://schemas.openxmlformats.org/officeDocument/2006/relationships/slide" Target="slides/slide32.xml"/>
  <Relationship Id="rId51" Type="http://schemas.openxmlformats.org/officeDocument/2006/relationships/slide" Target="slides/slide33.xml"/>
  <Relationship Id="rId52" Type="http://schemas.openxmlformats.org/officeDocument/2006/relationships/slide" Target="slides/slide34.xml"/>
  <Relationship Id="rId53" Type="http://schemas.openxmlformats.org/officeDocument/2006/relationships/slide" Target="slides/slide35.xml"/>
  <Relationship Id="rId54" Type="http://schemas.openxmlformats.org/officeDocument/2006/relationships/slide" Target="slides/slide36.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4" name="Google Shape;4;n"/>
          <p:cNvSpPr txBox="1"/>
          <p:nvPr>
            <p:ph idx="10" type="dt"/>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5" name="Google Shape;5;n"/>
          <p:cNvSpPr/>
          <p:nvPr>
            <p:ph idx="3"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 name="Google Shape;6;n"/>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lvl1pPr>
            <a:lvl2pPr indent="-228600" lvl="1" marL="914400">
              <a:spcBef>
                <a:spcPts val="0"/>
              </a:spcBef>
              <a:spcAft>
                <a:spcPts val="0"/>
              </a:spcAft>
              <a:buSzPts val="1400"/>
              <a:buNone/>
              <a:defRPr sz="1800"/>
            </a:lvl2pPr>
            <a:lvl3pPr indent="-228600" lvl="2" marL="1371600">
              <a:spcBef>
                <a:spcPts val="0"/>
              </a:spcBef>
              <a:spcAft>
                <a:spcPts val="0"/>
              </a:spcAft>
              <a:buSzPts val="1400"/>
              <a:buNone/>
              <a:defRPr sz="1800"/>
            </a:lvl3pPr>
            <a:lvl4pPr indent="-228600" lvl="3" marL="1828800">
              <a:spcBef>
                <a:spcPts val="0"/>
              </a:spcBef>
              <a:spcAft>
                <a:spcPts val="0"/>
              </a:spcAft>
              <a:buSzPts val="1400"/>
              <a:buNone/>
              <a:defRPr sz="1800"/>
            </a:lvl4pPr>
            <a:lvl5pPr indent="-228600" lvl="4" marL="2286000">
              <a:spcBef>
                <a:spcPts val="0"/>
              </a:spcBef>
              <a:spcAft>
                <a:spcPts val="0"/>
              </a:spcAft>
              <a:buSzPts val="1400"/>
              <a:buNone/>
              <a:defRPr sz="1800"/>
            </a:lvl5pPr>
            <a:lvl6pPr indent="-228600" lvl="5" marL="2743200">
              <a:spcBef>
                <a:spcPts val="0"/>
              </a:spcBef>
              <a:spcAft>
                <a:spcPts val="0"/>
              </a:spcAft>
              <a:buSzPts val="1400"/>
              <a:buNone/>
              <a:defRPr sz="1800"/>
            </a:lvl6pPr>
            <a:lvl7pPr indent="-228600" lvl="6" marL="3200400">
              <a:spcBef>
                <a:spcPts val="0"/>
              </a:spcBef>
              <a:spcAft>
                <a:spcPts val="0"/>
              </a:spcAft>
              <a:buSzPts val="1400"/>
              <a:buNone/>
              <a:defRPr sz="1800"/>
            </a:lvl7pPr>
            <a:lvl8pPr indent="-228600" lvl="7" marL="3657600">
              <a:spcBef>
                <a:spcPts val="0"/>
              </a:spcBef>
              <a:spcAft>
                <a:spcPts val="0"/>
              </a:spcAft>
              <a:buSzPts val="1400"/>
              <a:buNone/>
              <a:defRPr sz="1800"/>
            </a:lvl8pPr>
            <a:lvl9pPr indent="-228600" lvl="8" marL="4114800">
              <a:spcBef>
                <a:spcPts val="0"/>
              </a:spcBef>
              <a:spcAft>
                <a:spcPts val="0"/>
              </a:spcAft>
              <a:buSzPts val="1400"/>
              <a:buNone/>
              <a:defRPr sz="1800"/>
            </a:lvl9pPr>
          </a:lstStyle>
          <a:p/>
        </p:txBody>
      </p:sp>
      <p:sp>
        <p:nvSpPr>
          <p:cNvPr id="7" name="Google Shape;7;n"/>
          <p:cNvSpPr txBox="1"/>
          <p:nvPr>
            <p:ph idx="11" type="ftr"/>
          </p:nvPr>
        </p:nvSpPr>
        <p:spPr>
          <a:xfrm>
            <a:off x="0" y="0"/>
            <a:ext cx="3000000" cy="3000000"/>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800" u="none" cap="none" strike="noStrike"/>
            </a:lvl1pPr>
            <a:lvl2pPr lvl="1" marR="0" rtl="0" algn="l">
              <a:spcBef>
                <a:spcPts val="0"/>
              </a:spcBef>
              <a:spcAft>
                <a:spcPts val="0"/>
              </a:spcAft>
              <a:buSzPts val="1400"/>
              <a:buNone/>
              <a:defRPr b="0" i="0" sz="1800" u="none" cap="none" strike="noStrike"/>
            </a:lvl2pPr>
            <a:lvl3pPr lvl="2" marR="0" rtl="0" algn="l">
              <a:spcBef>
                <a:spcPts val="0"/>
              </a:spcBef>
              <a:spcAft>
                <a:spcPts val="0"/>
              </a:spcAft>
              <a:buSzPts val="1400"/>
              <a:buNone/>
              <a:defRPr b="0" i="0" sz="1800" u="none" cap="none" strike="noStrike"/>
            </a:lvl3pPr>
            <a:lvl4pPr lvl="3" marR="0" rtl="0" algn="l">
              <a:spcBef>
                <a:spcPts val="0"/>
              </a:spcBef>
              <a:spcAft>
                <a:spcPts val="0"/>
              </a:spcAft>
              <a:buSzPts val="1400"/>
              <a:buNone/>
              <a:defRPr b="0" i="0" sz="1800" u="none" cap="none" strike="noStrike"/>
            </a:lvl4pPr>
            <a:lvl5pPr lvl="4" marR="0" rtl="0" algn="l">
              <a:spcBef>
                <a:spcPts val="0"/>
              </a:spcBef>
              <a:spcAft>
                <a:spcPts val="0"/>
              </a:spcAft>
              <a:buSzPts val="1400"/>
              <a:buNone/>
              <a:defRPr b="0" i="0" sz="1800" u="none" cap="none" strike="noStrike"/>
            </a:lvl5pPr>
            <a:lvl6pPr lvl="5" marR="0" rtl="0" algn="l">
              <a:spcBef>
                <a:spcPts val="0"/>
              </a:spcBef>
              <a:spcAft>
                <a:spcPts val="0"/>
              </a:spcAft>
              <a:buSzPts val="1400"/>
              <a:buNone/>
              <a:defRPr b="0" i="0" sz="1800" u="none" cap="none" strike="noStrike"/>
            </a:lvl6pPr>
            <a:lvl7pPr lvl="6" marR="0" rtl="0" algn="l">
              <a:spcBef>
                <a:spcPts val="0"/>
              </a:spcBef>
              <a:spcAft>
                <a:spcPts val="0"/>
              </a:spcAft>
              <a:buSzPts val="1400"/>
              <a:buNone/>
              <a:defRPr b="0" i="0" sz="1800" u="none" cap="none" strike="noStrike"/>
            </a:lvl7pPr>
            <a:lvl8pPr lvl="7" marR="0" rtl="0" algn="l">
              <a:spcBef>
                <a:spcPts val="0"/>
              </a:spcBef>
              <a:spcAft>
                <a:spcPts val="0"/>
              </a:spcAft>
              <a:buSzPts val="1400"/>
              <a:buNone/>
              <a:defRPr b="0" i="0" sz="1800" u="none" cap="none" strike="noStrike"/>
            </a:lvl8pPr>
            <a:lvl9pPr lvl="8" marR="0" rtl="0" algn="l">
              <a:spcBef>
                <a:spcPts val="0"/>
              </a:spcBef>
              <a:spcAft>
                <a:spcPts val="0"/>
              </a:spcAft>
              <a:buSzPts val="1400"/>
              <a:buNone/>
              <a:defRPr b="0" i="0" sz="1800" u="none" cap="none" strike="noStrike"/>
            </a:lvl9pPr>
          </a:lstStyle>
          <a:p/>
        </p:txBody>
      </p:sp>
      <p:sp>
        <p:nvSpPr>
          <p:cNvPr id="8" name="Google Shape;8;n"/>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t/>
            </a:r>
            <a:endParaRPr sz="1800"/>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9" name="Shape 479"/>
        <p:cNvGrpSpPr/>
        <p:nvPr/>
      </p:nvGrpSpPr>
      <p:grpSpPr>
        <a:xfrm>
          <a:off x="0" y="0"/>
          <a:ext cx="0" cy="0"/>
          <a:chOff x="0" y="0"/>
          <a:chExt cx="0" cy="0"/>
        </a:xfrm>
      </p:grpSpPr>
      <p:sp>
        <p:nvSpPr>
          <p:cNvPr id="480" name="Google Shape;480;p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81" name="Google Shape;481;p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بداية: خريطة تفاعلية تروي السيرة النبوية في الزمان والمكان، مع مساعد ذكي يجيب من المصادر. المسار الثالث.</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482" name="Google Shape;482;p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 name="Shape 531"/>
        <p:cNvGrpSpPr/>
        <p:nvPr/>
      </p:nvGrpSpPr>
      <p:grpSpPr>
        <a:xfrm>
          <a:off x="0" y="0"/>
          <a:ext cx="0" cy="0"/>
          <a:chOff x="0" y="0"/>
          <a:chExt cx="0" cy="0"/>
        </a:xfrm>
      </p:grpSpPr>
      <p:sp>
        <p:nvSpPr>
          <p:cNvPr id="532" name="Google Shape;532;p1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33" name="Google Shape;533;p1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المستفيد: غير المسلمين والمسلمين الجدد. السيرة مدخل واضح للإسلام، لكن كتبها طويلة ومفصّلة على من يبدأ.</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534" name="Google Shape;534;p1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p1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98" name="Google Shape;598;p1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لم يُعطِ المساعد معلومة خاطئة في اختبار الأسئلة الخمسين: ما لم يجده في المصادر امتنع عنه. التحسن مقيس على مجموعة الأسئلة الستين نفسها قبل التعديل وبعده. ونذكر الحدود: الأجوبة تختلف بين المحاولات، والعربية بحروف لاتينية. كل سؤال وجوابه منشور في المستودع لإعادة التحقق.</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599" name="Google Shape;599;p1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p1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34" name="Google Shape;634;p1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نلتزم مستويات المحتوى في المرجعية العلمية: جواب موثق، ذكر الخلاف، والإحالة في الفتوى.</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635" name="Google Shape;635;p1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5" name="Shape 645"/>
        <p:cNvGrpSpPr/>
        <p:nvPr/>
      </p:nvGrpSpPr>
      <p:grpSpPr>
        <a:xfrm>
          <a:off x="0" y="0"/>
          <a:ext cx="0" cy="0"/>
          <a:chOff x="0" y="0"/>
          <a:chExt cx="0" cy="0"/>
        </a:xfrm>
      </p:grpSpPr>
      <p:sp>
        <p:nvSpPr>
          <p:cNvPr id="646" name="Google Shape;646;p1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47" name="Google Shape;647;p1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المرحلة الأولى تعمل الآن على الموقع الحي، والمراحل التالية خطة مقترحة. لم نختبر بداية بعد مع الفئة المستهدفة؛ هذا أول ما نقترحه، بمعيار نجاح المسار: تحسّن فهم المستفيد. سجلات الآيات والأشخاص كلها اعتمدها مسؤول المحتوى، وحالة مراجعة كل سجل مدوّنة في البيانات. ورواية القصة صوتياً بالعربية قيد التطوير (الإنجليزية متاحة الآن).</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648" name="Google Shape;648;p1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1" name="Shape 681"/>
        <p:cNvGrpSpPr/>
        <p:nvPr/>
      </p:nvGrpSpPr>
      <p:grpSpPr>
        <a:xfrm>
          <a:off x="0" y="0"/>
          <a:ext cx="0" cy="0"/>
          <a:chOff x="0" y="0"/>
          <a:chExt cx="0" cy="0"/>
        </a:xfrm>
      </p:grpSpPr>
      <p:sp>
        <p:nvSpPr>
          <p:cNvPr id="682" name="Google Shape;682;p1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83" name="Google Shape;683;p1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فريق من ثلاثة أعضاء يغطي التقنية والمحتوى والاختبار.</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684" name="Google Shape;684;p19: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23" name="Shape 723"/>
        <p:cNvGrpSpPr/>
        <p:nvPr/>
      </p:nvGrpSpPr>
      <p:grpSpPr>
        <a:xfrm>
          <a:off x="0" y="0"/>
          <a:ext cx="0" cy="0"/>
          <a:chOff x="0" y="0"/>
          <a:chExt cx="0" cy="0"/>
        </a:xfrm>
      </p:grpSpPr>
      <p:sp>
        <p:nvSpPr>
          <p:cNvPr id="724" name="Google Shape;724;p2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725" name="Google Shape;725;p2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التقنيات: نموذجان مفتوحان للبحث (bge-m3 ومعيد الترتيب)، ونموذج لغوي للفهم والصياغة، وتحويل النص إلى كلام لرواية القصة كاملة بالإنجليزية (العربية قيد التطوير)، وموقع وخادم مستضافان.</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726" name="Google Shape;726;p2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2" name="Shape 812"/>
        <p:cNvGrpSpPr/>
        <p:nvPr/>
      </p:nvGrpSpPr>
      <p:grpSpPr>
        <a:xfrm>
          <a:off x="0" y="0"/>
          <a:ext cx="0" cy="0"/>
          <a:chOff x="0" y="0"/>
          <a:chExt cx="0" cy="0"/>
        </a:xfrm>
      </p:grpSpPr>
      <p:sp>
        <p:nvSpPr>
          <p:cNvPr id="813" name="Google Shape;813;p2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14" name="Google Shape;814;p2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آلية العمل: نموذج لغوي يفهم السؤال، بحث في 2,905 نصًا من المصادر ثم ترتيبها، جواب من المصادر مع روابطها أو امتناع، ثم تنتقل الخريطة إلى الحدث. وفي اختبار 50 سؤالًا صعبًا لم يرد جواب بمعلومة خاطئة.</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815" name="Google Shape;815;p24: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27" name="Shape 827"/>
        <p:cNvGrpSpPr/>
        <p:nvPr/>
      </p:nvGrpSpPr>
      <p:grpSpPr>
        <a:xfrm>
          <a:off x="0" y="0"/>
          <a:ext cx="0" cy="0"/>
          <a:chOff x="0" y="0"/>
          <a:chExt cx="0" cy="0"/>
        </a:xfrm>
      </p:grpSpPr>
      <p:sp>
        <p:nvSpPr>
          <p:cNvPr id="828" name="Google Shape;828;p2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29" name="Google Shape;829;p2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مثال حي من المساعد الذكي: سؤال عن بدر، والجواب من الدرر السنية والرحيق المختوم مع الروابط، والخريطة تنتقل إلى بدر.</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830" name="Google Shape;830;p25: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7" name="Shape 837"/>
        <p:cNvGrpSpPr/>
        <p:nvPr/>
      </p:nvGrpSpPr>
      <p:grpSpPr>
        <a:xfrm>
          <a:off x="0" y="0"/>
          <a:ext cx="0" cy="0"/>
          <a:chOff x="0" y="0"/>
          <a:chExt cx="0" cy="0"/>
        </a:xfrm>
      </p:grpSpPr>
      <p:sp>
        <p:nvSpPr>
          <p:cNvPr id="838" name="Google Shape;838;p2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39" name="Google Shape;839;p2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الملخص، وبطاقة الشخص التي يفتحها المساعد، وإعدادات الإتاحة على الجوال. رسائل الامتناع توضح الخطوة التالية: الرئاسة العامة للإفتاء أو أقرب مركز إسلامي.</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840" name="Google Shape;840;p26: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3" name="Shape 853"/>
        <p:cNvGrpSpPr/>
        <p:nvPr/>
      </p:nvGrpSpPr>
      <p:grpSpPr>
        <a:xfrm>
          <a:off x="0" y="0"/>
          <a:ext cx="0" cy="0"/>
          <a:chOff x="0" y="0"/>
          <a:chExt cx="0" cy="0"/>
        </a:xfrm>
      </p:grpSpPr>
      <p:sp>
        <p:nvSpPr>
          <p:cNvPr id="854" name="Google Shape;854;p2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55" name="Google Shape;855;p2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أربعة عناصر: القصة على الخريطة، السور في سياقها، اسأل الخريطة، ملخص السيرة. كلها بالعربية والإنجليزية، ويمكن الاستماع إلى القصة كاملة بصوت مقروء بالإنجليزية، والنسخة العربية قيد التطوير.</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856" name="Google Shape;856;p27: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6" name="Shape 876"/>
        <p:cNvGrpSpPr/>
        <p:nvPr/>
      </p:nvGrpSpPr>
      <p:grpSpPr>
        <a:xfrm>
          <a:off x="0" y="0"/>
          <a:ext cx="0" cy="0"/>
          <a:chOff x="0" y="0"/>
          <a:chExt cx="0" cy="0"/>
        </a:xfrm>
      </p:grpSpPr>
      <p:sp>
        <p:nvSpPr>
          <p:cNvPr id="877" name="Google Shape;877;p2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78" name="Google Shape;878;p2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بداية لا تستبدل كتب السيرة ولا تنافسها؛ هي باب إليها: تعرض محتواها المعتمد مرتبًا على الخريطة، وكل جواب يحيل إلى مصدره ليكمل القارئ من الكتب.</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879" name="Google Shape;879;p28: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9" name="Shape 909"/>
        <p:cNvGrpSpPr/>
        <p:nvPr/>
      </p:nvGrpSpPr>
      <p:grpSpPr>
        <a:xfrm>
          <a:off x="0" y="0"/>
          <a:ext cx="0" cy="0"/>
          <a:chOff x="0" y="0"/>
          <a:chExt cx="0" cy="0"/>
        </a:xfrm>
      </p:grpSpPr>
      <p:sp>
        <p:nvSpPr>
          <p:cNvPr id="910" name="Google Shape;910;p3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11" name="Google Shape;911;p3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ar-SA" sz="1200"/>
              <a:t>شكرًا لكم. الموقع الحي والمستودع في الشريحة.</a:t>
            </a:r>
            <a:endParaRPr/>
          </a:p>
          <a:p>
            <a:pPr indent="0" lvl="0" marL="0" rtl="0" algn="l">
              <a:spcBef>
                <a:spcPts val="0"/>
              </a:spcBef>
              <a:spcAft>
                <a:spcPts val="0"/>
              </a:spcAft>
              <a:buNone/>
            </a:pPr>
            <a:r>
              <a:t/>
            </a:r>
            <a:endParaRPr sz="1200"/>
          </a:p>
          <a:p>
            <a:pPr indent="0" lvl="0" marL="0" rtl="0" algn="l">
              <a:spcBef>
                <a:spcPts val="0"/>
              </a:spcBef>
              <a:spcAft>
                <a:spcPts val="0"/>
              </a:spcAft>
              <a:buNone/>
            </a:pPr>
            <a:r>
              <a:rPr lang="ar-SA" sz="1200"/>
              <a:t/>
            </a:r>
            <a:endParaRPr/>
          </a:p>
        </p:txBody>
      </p:sp>
      <p:sp>
        <p:nvSpPr>
          <p:cNvPr id="912" name="Google Shape;912;p31:notes"/>
          <p:cNvSpPr txBox="1"/>
          <p:nvPr>
            <p:ph idx="12" type="sldNum"/>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2.png"/><Relationship Id="rId4" Type="http://schemas.openxmlformats.org/officeDocument/2006/relationships/image" Target="../media/image5.png"/><Relationship Id="rId5" Type="http://schemas.openxmlformats.org/officeDocument/2006/relationships/image" Target="../media/image10.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4.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4.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4.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 Id="rId3" Type="http://schemas.openxmlformats.org/officeDocument/2006/relationships/image" Target="../media/image14.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image" Target="../media/image9.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DEFAULT">
  <p:cSld name="DEFAULT">
    <p:bg>
      <p:bgPr>
        <a:solidFill>
          <a:schemeClr val="lt1"/>
        </a:solidFill>
      </p:bgPr>
    </p:bg>
    <p:spTree>
      <p:nvGrpSpPr>
        <p:cNvPr id="10" name="Shape 10"/>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غلاف المشروع">
  <p:cSld name="غلاف المشروع">
    <p:bg>
      <p:bgPr>
        <a:solidFill>
          <a:srgbClr val="12183F"/>
        </a:solidFill>
      </p:bgPr>
    </p:bg>
    <p:spTree>
      <p:nvGrpSpPr>
        <p:cNvPr id="11" name="Shape 11"/>
        <p:cNvGrpSpPr/>
        <p:nvPr/>
      </p:nvGrpSpPr>
      <p:grpSpPr>
        <a:xfrm>
          <a:off x="0" y="0"/>
          <a:ext cx="0" cy="0"/>
          <a:chOff x="0" y="0"/>
          <a:chExt cx="0" cy="0"/>
        </a:xfrm>
      </p:grpSpPr>
      <p:pic>
        <p:nvPicPr>
          <p:cNvPr id="12" name="Google Shape;12;p34"/>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3" name="Google Shape;13;p34"/>
          <p:cNvPicPr preferRelativeResize="0"/>
          <p:nvPr/>
        </p:nvPicPr>
        <p:blipFill rotWithShape="1">
          <a:blip r:embed="rId3">
            <a:alphaModFix/>
          </a:blip>
          <a:srcRect b="0" l="0" r="0" t="0"/>
          <a:stretch/>
        </p:blipFill>
        <p:spPr>
          <a:xfrm>
            <a:off x="1066800" y="876872"/>
            <a:ext cx="6572250" cy="1684781"/>
          </a:xfrm>
          <a:prstGeom prst="rect">
            <a:avLst/>
          </a:prstGeom>
          <a:noFill/>
          <a:ln>
            <a:noFill/>
          </a:ln>
        </p:spPr>
      </p:pic>
      <p:pic>
        <p:nvPicPr>
          <p:cNvPr id="14" name="Google Shape;14;p34"/>
          <p:cNvPicPr preferRelativeResize="0"/>
          <p:nvPr/>
        </p:nvPicPr>
        <p:blipFill rotWithShape="1">
          <a:blip r:embed="rId4">
            <a:alphaModFix/>
          </a:blip>
          <a:srcRect b="0" l="0" r="0" t="0"/>
          <a:stretch/>
        </p:blipFill>
        <p:spPr>
          <a:xfrm>
            <a:off x="14954250" y="840995"/>
            <a:ext cx="2190750" cy="1385061"/>
          </a:xfrm>
          <a:prstGeom prst="rect">
            <a:avLst/>
          </a:prstGeom>
          <a:noFill/>
          <a:ln>
            <a:noFill/>
          </a:ln>
        </p:spPr>
      </p:pic>
      <p:pic>
        <p:nvPicPr>
          <p:cNvPr id="15" name="Google Shape;15;p34"/>
          <p:cNvPicPr preferRelativeResize="0"/>
          <p:nvPr/>
        </p:nvPicPr>
        <p:blipFill rotWithShape="1">
          <a:blip r:embed="rId5">
            <a:alphaModFix/>
          </a:blip>
          <a:srcRect b="0" l="0" r="0" t="0"/>
          <a:stretch/>
        </p:blipFill>
        <p:spPr>
          <a:xfrm>
            <a:off x="1078258" y="3190875"/>
            <a:ext cx="6701734" cy="6191250"/>
          </a:xfrm>
          <a:prstGeom prst="rect">
            <a:avLst/>
          </a:prstGeom>
          <a:noFill/>
          <a:ln>
            <a:noFill/>
          </a:ln>
        </p:spPr>
      </p:pic>
      <p:sp>
        <p:nvSpPr>
          <p:cNvPr id="16" name="Google Shape;16;p34"/>
          <p:cNvSpPr txBox="1"/>
          <p:nvPr>
            <p:ph type="title"/>
          </p:nvPr>
        </p:nvSpPr>
        <p:spPr>
          <a:xfrm>
            <a:off x="8096250" y="3524250"/>
            <a:ext cx="9048750" cy="1333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 name="Google Shape;17;p34"/>
          <p:cNvSpPr txBox="1"/>
          <p:nvPr>
            <p:ph idx="1" type="body"/>
          </p:nvPr>
        </p:nvSpPr>
        <p:spPr>
          <a:xfrm>
            <a:off x="8096250" y="5334000"/>
            <a:ext cx="9048750" cy="16192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 name="Google Shape;18;p34"/>
          <p:cNvSpPr txBox="1"/>
          <p:nvPr>
            <p:ph idx="2" type="body"/>
          </p:nvPr>
        </p:nvSpPr>
        <p:spPr>
          <a:xfrm>
            <a:off x="8953500" y="7762875"/>
            <a:ext cx="8191500" cy="714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9" name="Google Shape;19;p34"/>
          <p:cNvSpPr txBox="1"/>
          <p:nvPr>
            <p:ph idx="3" type="body"/>
          </p:nvPr>
        </p:nvSpPr>
        <p:spPr>
          <a:xfrm>
            <a:off x="1066800" y="9391650"/>
            <a:ext cx="5429250" cy="4953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محتويات العرض">
  <p:cSld name="محتويات العرض">
    <p:bg>
      <p:bgPr>
        <a:solidFill>
          <a:srgbClr val="12183F"/>
        </a:solidFill>
      </p:bgPr>
    </p:bg>
    <p:spTree>
      <p:nvGrpSpPr>
        <p:cNvPr id="20" name="Shape 20"/>
        <p:cNvGrpSpPr/>
        <p:nvPr/>
      </p:nvGrpSpPr>
      <p:grpSpPr>
        <a:xfrm>
          <a:off x="0" y="0"/>
          <a:ext cx="0" cy="0"/>
          <a:chOff x="0" y="0"/>
          <a:chExt cx="0" cy="0"/>
        </a:xfrm>
      </p:grpSpPr>
      <p:pic>
        <p:nvPicPr>
          <p:cNvPr id="21" name="Google Shape;21;p35"/>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2" name="Google Shape;22;p35"/>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3" name="Google Shape;23;p35"/>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 name="Google Shape;24;p35"/>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5" name="Google Shape;25;p35"/>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6" name="Google Shape;26;p3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7" name="Google Shape;27;p35"/>
          <p:cNvSpPr txBox="1"/>
          <p:nvPr>
            <p:ph idx="2" type="body"/>
          </p:nvPr>
        </p:nvSpPr>
        <p:spPr>
          <a:xfrm>
            <a:off x="12382500" y="3857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 name="Google Shape;28;p35"/>
          <p:cNvSpPr txBox="1"/>
          <p:nvPr>
            <p:ph idx="3" type="body"/>
          </p:nvPr>
        </p:nvSpPr>
        <p:spPr>
          <a:xfrm>
            <a:off x="12382500" y="4724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 name="Google Shape;29;p35"/>
          <p:cNvSpPr txBox="1"/>
          <p:nvPr>
            <p:ph idx="4" type="body"/>
          </p:nvPr>
        </p:nvSpPr>
        <p:spPr>
          <a:xfrm>
            <a:off x="12382500" y="5419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0" name="Google Shape;30;p35"/>
          <p:cNvSpPr txBox="1"/>
          <p:nvPr>
            <p:ph idx="5" type="body"/>
          </p:nvPr>
        </p:nvSpPr>
        <p:spPr>
          <a:xfrm>
            <a:off x="7048500" y="3857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1" name="Google Shape;31;p35"/>
          <p:cNvSpPr txBox="1"/>
          <p:nvPr>
            <p:ph idx="6" type="body"/>
          </p:nvPr>
        </p:nvSpPr>
        <p:spPr>
          <a:xfrm>
            <a:off x="7048500" y="4724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2" name="Google Shape;32;p35"/>
          <p:cNvSpPr txBox="1"/>
          <p:nvPr>
            <p:ph idx="7" type="body"/>
          </p:nvPr>
        </p:nvSpPr>
        <p:spPr>
          <a:xfrm>
            <a:off x="7048500" y="5419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3" name="Google Shape;33;p35"/>
          <p:cNvSpPr txBox="1"/>
          <p:nvPr>
            <p:ph idx="8" type="body"/>
          </p:nvPr>
        </p:nvSpPr>
        <p:spPr>
          <a:xfrm>
            <a:off x="1714500" y="3857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4" name="Google Shape;34;p35"/>
          <p:cNvSpPr txBox="1"/>
          <p:nvPr>
            <p:ph idx="9" type="body"/>
          </p:nvPr>
        </p:nvSpPr>
        <p:spPr>
          <a:xfrm>
            <a:off x="1714500" y="4724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5" name="Google Shape;35;p35"/>
          <p:cNvSpPr txBox="1"/>
          <p:nvPr>
            <p:ph idx="13" type="body"/>
          </p:nvPr>
        </p:nvSpPr>
        <p:spPr>
          <a:xfrm>
            <a:off x="1714500" y="5419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6" name="Google Shape;36;p35"/>
          <p:cNvSpPr txBox="1"/>
          <p:nvPr>
            <p:ph idx="14" type="body"/>
          </p:nvPr>
        </p:nvSpPr>
        <p:spPr>
          <a:xfrm>
            <a:off x="12382500" y="6524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7" name="Google Shape;37;p35"/>
          <p:cNvSpPr txBox="1"/>
          <p:nvPr>
            <p:ph idx="15" type="body"/>
          </p:nvPr>
        </p:nvSpPr>
        <p:spPr>
          <a:xfrm>
            <a:off x="12382500" y="7391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8" name="Google Shape;38;p35"/>
          <p:cNvSpPr txBox="1"/>
          <p:nvPr>
            <p:ph idx="16" type="body"/>
          </p:nvPr>
        </p:nvSpPr>
        <p:spPr>
          <a:xfrm>
            <a:off x="12382500" y="8086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9" name="Google Shape;39;p35"/>
          <p:cNvSpPr txBox="1"/>
          <p:nvPr>
            <p:ph idx="17" type="body"/>
          </p:nvPr>
        </p:nvSpPr>
        <p:spPr>
          <a:xfrm>
            <a:off x="7048500" y="6524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0" name="Google Shape;40;p35"/>
          <p:cNvSpPr txBox="1"/>
          <p:nvPr>
            <p:ph idx="18" type="body"/>
          </p:nvPr>
        </p:nvSpPr>
        <p:spPr>
          <a:xfrm>
            <a:off x="7048500" y="7391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1" name="Google Shape;41;p35"/>
          <p:cNvSpPr txBox="1"/>
          <p:nvPr>
            <p:ph idx="19" type="body"/>
          </p:nvPr>
        </p:nvSpPr>
        <p:spPr>
          <a:xfrm>
            <a:off x="7048500" y="8086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2" name="Google Shape;42;p35"/>
          <p:cNvSpPr txBox="1"/>
          <p:nvPr>
            <p:ph idx="20" type="body"/>
          </p:nvPr>
        </p:nvSpPr>
        <p:spPr>
          <a:xfrm>
            <a:off x="1714500" y="6524625"/>
            <a:ext cx="4476750" cy="7239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3" name="Google Shape;43;p35"/>
          <p:cNvSpPr txBox="1"/>
          <p:nvPr>
            <p:ph idx="21" type="body"/>
          </p:nvPr>
        </p:nvSpPr>
        <p:spPr>
          <a:xfrm>
            <a:off x="1714500" y="7391400"/>
            <a:ext cx="44767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4" name="Google Shape;44;p35"/>
          <p:cNvSpPr txBox="1"/>
          <p:nvPr>
            <p:ph idx="22" type="body"/>
          </p:nvPr>
        </p:nvSpPr>
        <p:spPr>
          <a:xfrm>
            <a:off x="1714500" y="8086725"/>
            <a:ext cx="4476750" cy="7810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فاصل قسم">
  <p:cSld name="فاصل قسم">
    <p:bg>
      <p:bgPr>
        <a:solidFill>
          <a:srgbClr val="12183F"/>
        </a:solidFill>
      </p:bgPr>
    </p:bg>
    <p:spTree>
      <p:nvGrpSpPr>
        <p:cNvPr id="45" name="Shape 45"/>
        <p:cNvGrpSpPr/>
        <p:nvPr/>
      </p:nvGrpSpPr>
      <p:grpSpPr>
        <a:xfrm>
          <a:off x="0" y="0"/>
          <a:ext cx="0" cy="0"/>
          <a:chOff x="0" y="0"/>
          <a:chExt cx="0" cy="0"/>
        </a:xfrm>
      </p:grpSpPr>
      <p:pic>
        <p:nvPicPr>
          <p:cNvPr id="46" name="Google Shape;46;p36"/>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47" name="Google Shape;47;p36"/>
          <p:cNvPicPr preferRelativeResize="0"/>
          <p:nvPr/>
        </p:nvPicPr>
        <p:blipFill rotWithShape="1">
          <a:blip r:embed="rId3">
            <a:alphaModFix/>
          </a:blip>
          <a:srcRect b="0" l="0" r="0" t="0"/>
          <a:stretch/>
        </p:blipFill>
        <p:spPr>
          <a:xfrm>
            <a:off x="1066800" y="687391"/>
            <a:ext cx="4000500" cy="1025519"/>
          </a:xfrm>
          <a:prstGeom prst="rect">
            <a:avLst/>
          </a:prstGeom>
          <a:noFill/>
          <a:ln>
            <a:noFill/>
          </a:ln>
        </p:spPr>
      </p:pic>
      <p:sp>
        <p:nvSpPr>
          <p:cNvPr id="48" name="Google Shape;48;p36"/>
          <p:cNvSpPr txBox="1"/>
          <p:nvPr>
            <p:ph idx="1" type="body"/>
          </p:nvPr>
        </p:nvSpPr>
        <p:spPr>
          <a:xfrm>
            <a:off x="13430250" y="3143250"/>
            <a:ext cx="3619500" cy="12382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49" name="Google Shape;49;p36"/>
          <p:cNvSpPr txBox="1"/>
          <p:nvPr>
            <p:ph type="title"/>
          </p:nvPr>
        </p:nvSpPr>
        <p:spPr>
          <a:xfrm>
            <a:off x="4953000" y="4810125"/>
            <a:ext cx="12096750" cy="123825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50" name="Google Shape;50;p36"/>
          <p:cNvSpPr txBox="1"/>
          <p:nvPr>
            <p:ph idx="2" type="body"/>
          </p:nvPr>
        </p:nvSpPr>
        <p:spPr>
          <a:xfrm>
            <a:off x="6667500" y="6572250"/>
            <a:ext cx="10382250" cy="10477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أربع نقاط">
  <p:cSld name="أربع نقاط">
    <p:bg>
      <p:bgPr>
        <a:solidFill>
          <a:srgbClr val="12183F"/>
        </a:solidFill>
      </p:bgPr>
    </p:bg>
    <p:spTree>
      <p:nvGrpSpPr>
        <p:cNvPr id="51" name="Shape 51"/>
        <p:cNvGrpSpPr/>
        <p:nvPr/>
      </p:nvGrpSpPr>
      <p:grpSpPr>
        <a:xfrm>
          <a:off x="0" y="0"/>
          <a:ext cx="0" cy="0"/>
          <a:chOff x="0" y="0"/>
          <a:chExt cx="0" cy="0"/>
        </a:xfrm>
      </p:grpSpPr>
      <p:pic>
        <p:nvPicPr>
          <p:cNvPr id="52" name="Google Shape;52;p37"/>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53" name="Google Shape;53;p37"/>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54" name="Google Shape;54;p37"/>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55" name="Google Shape;55;p37"/>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56" name="Google Shape;56;p37"/>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57" name="Google Shape;57;p37"/>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58" name="Google Shape;58;p37"/>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59" name="Google Shape;59;p37"/>
          <p:cNvSpPr txBox="1"/>
          <p:nvPr>
            <p:ph idx="3" type="body"/>
          </p:nvPr>
        </p:nvSpPr>
        <p:spPr>
          <a:xfrm>
            <a:off x="9810750" y="3952875"/>
            <a:ext cx="7334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0" name="Google Shape;60;p37"/>
          <p:cNvSpPr txBox="1"/>
          <p:nvPr>
            <p:ph idx="4" type="body"/>
          </p:nvPr>
        </p:nvSpPr>
        <p:spPr>
          <a:xfrm>
            <a:off x="9810750" y="4657725"/>
            <a:ext cx="7334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1" name="Google Shape;61;p37"/>
          <p:cNvSpPr txBox="1"/>
          <p:nvPr>
            <p:ph idx="5" type="body"/>
          </p:nvPr>
        </p:nvSpPr>
        <p:spPr>
          <a:xfrm>
            <a:off x="1714500" y="3952875"/>
            <a:ext cx="6953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2" name="Google Shape;62;p37"/>
          <p:cNvSpPr txBox="1"/>
          <p:nvPr>
            <p:ph idx="6" type="body"/>
          </p:nvPr>
        </p:nvSpPr>
        <p:spPr>
          <a:xfrm>
            <a:off x="1714500" y="4657725"/>
            <a:ext cx="6953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3" name="Google Shape;63;p37"/>
          <p:cNvSpPr txBox="1"/>
          <p:nvPr>
            <p:ph idx="7" type="body"/>
          </p:nvPr>
        </p:nvSpPr>
        <p:spPr>
          <a:xfrm>
            <a:off x="9810750" y="6619875"/>
            <a:ext cx="7334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4" name="Google Shape;64;p37"/>
          <p:cNvSpPr txBox="1"/>
          <p:nvPr>
            <p:ph idx="8" type="body"/>
          </p:nvPr>
        </p:nvSpPr>
        <p:spPr>
          <a:xfrm>
            <a:off x="9810750" y="7324725"/>
            <a:ext cx="7334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5" name="Google Shape;65;p37"/>
          <p:cNvSpPr txBox="1"/>
          <p:nvPr>
            <p:ph idx="9" type="body"/>
          </p:nvPr>
        </p:nvSpPr>
        <p:spPr>
          <a:xfrm>
            <a:off x="1714500" y="6619875"/>
            <a:ext cx="6953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66" name="Google Shape;66;p37"/>
          <p:cNvSpPr txBox="1"/>
          <p:nvPr>
            <p:ph idx="13" type="body"/>
          </p:nvPr>
        </p:nvSpPr>
        <p:spPr>
          <a:xfrm>
            <a:off x="1714500" y="7324725"/>
            <a:ext cx="6953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نص رئيسي">
  <p:cSld name="نص رئيسي">
    <p:bg>
      <p:bgPr>
        <a:solidFill>
          <a:srgbClr val="12183F"/>
        </a:solidFill>
      </p:bgPr>
    </p:bg>
    <p:spTree>
      <p:nvGrpSpPr>
        <p:cNvPr id="67" name="Shape 67"/>
        <p:cNvGrpSpPr/>
        <p:nvPr/>
      </p:nvGrpSpPr>
      <p:grpSpPr>
        <a:xfrm>
          <a:off x="0" y="0"/>
          <a:ext cx="0" cy="0"/>
          <a:chOff x="0" y="0"/>
          <a:chExt cx="0" cy="0"/>
        </a:xfrm>
      </p:grpSpPr>
      <p:pic>
        <p:nvPicPr>
          <p:cNvPr id="68" name="Google Shape;68;p38"/>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69" name="Google Shape;69;p38"/>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70" name="Google Shape;70;p38"/>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71" name="Google Shape;71;p38"/>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72" name="Google Shape;72;p38"/>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73" name="Google Shape;73;p38"/>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74" name="Google Shape;74;p38"/>
          <p:cNvSpPr txBox="1"/>
          <p:nvPr>
            <p:ph idx="2" type="body"/>
          </p:nvPr>
        </p:nvSpPr>
        <p:spPr>
          <a:xfrm>
            <a:off x="6191250" y="4000500"/>
            <a:ext cx="10953750" cy="2667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75" name="Google Shape;75;p38"/>
          <p:cNvSpPr txBox="1"/>
          <p:nvPr>
            <p:ph idx="3" type="body"/>
          </p:nvPr>
        </p:nvSpPr>
        <p:spPr>
          <a:xfrm>
            <a:off x="6191250" y="7239000"/>
            <a:ext cx="109537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76" name="Google Shape;76;p38"/>
          <p:cNvSpPr txBox="1"/>
          <p:nvPr>
            <p:ph idx="4" type="body"/>
          </p:nvPr>
        </p:nvSpPr>
        <p:spPr>
          <a:xfrm>
            <a:off x="6191250" y="8001000"/>
            <a:ext cx="10953750" cy="8572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نص وصورة عريضة">
  <p:cSld name="نص وصورة عريضة">
    <p:bg>
      <p:bgPr>
        <a:solidFill>
          <a:srgbClr val="12183F"/>
        </a:solidFill>
      </p:bgPr>
    </p:bg>
    <p:spTree>
      <p:nvGrpSpPr>
        <p:cNvPr id="77" name="Shape 77"/>
        <p:cNvGrpSpPr/>
        <p:nvPr/>
      </p:nvGrpSpPr>
      <p:grpSpPr>
        <a:xfrm>
          <a:off x="0" y="0"/>
          <a:ext cx="0" cy="0"/>
          <a:chOff x="0" y="0"/>
          <a:chExt cx="0" cy="0"/>
        </a:xfrm>
      </p:grpSpPr>
      <p:pic>
        <p:nvPicPr>
          <p:cNvPr id="78" name="Google Shape;78;p39"/>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79" name="Google Shape;79;p39"/>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80" name="Google Shape;80;p39"/>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81" name="Google Shape;81;p39"/>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82" name="Google Shape;82;p39"/>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83" name="Google Shape;83;p39"/>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84" name="Google Shape;84;p39"/>
          <p:cNvSpPr/>
          <p:nvPr>
            <p:ph idx="2" type="pic"/>
          </p:nvPr>
        </p:nvSpPr>
        <p:spPr>
          <a:xfrm>
            <a:off x="1428750" y="4048125"/>
            <a:ext cx="8382000" cy="4714875"/>
          </a:xfrm>
          <a:prstGeom prst="rect">
            <a:avLst/>
          </a:prstGeom>
          <a:solidFill>
            <a:srgbClr val="161D48"/>
          </a:solidFill>
          <a:ln cap="flat" cmpd="sng" w="11425">
            <a:solidFill>
              <a:srgbClr val="4A5590"/>
            </a:solidFill>
            <a:prstDash val="solid"/>
            <a:round/>
            <a:headEnd len="sm" w="sm" type="none"/>
            <a:tailEnd len="sm" w="sm" type="none"/>
          </a:ln>
        </p:spPr>
      </p:sp>
      <p:sp>
        <p:nvSpPr>
          <p:cNvPr id="85" name="Google Shape;85;p39"/>
          <p:cNvSpPr txBox="1"/>
          <p:nvPr>
            <p:ph idx="3" type="body"/>
          </p:nvPr>
        </p:nvSpPr>
        <p:spPr>
          <a:xfrm>
            <a:off x="10763250" y="4095750"/>
            <a:ext cx="63817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86" name="Google Shape;86;p39"/>
          <p:cNvSpPr txBox="1"/>
          <p:nvPr>
            <p:ph idx="4" type="body"/>
          </p:nvPr>
        </p:nvSpPr>
        <p:spPr>
          <a:xfrm>
            <a:off x="10763250" y="4800600"/>
            <a:ext cx="63817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87" name="Google Shape;87;p39"/>
          <p:cNvSpPr txBox="1"/>
          <p:nvPr>
            <p:ph idx="5" type="body"/>
          </p:nvPr>
        </p:nvSpPr>
        <p:spPr>
          <a:xfrm>
            <a:off x="10763250" y="6667500"/>
            <a:ext cx="63817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88" name="Google Shape;88;p39"/>
          <p:cNvSpPr txBox="1"/>
          <p:nvPr>
            <p:ph idx="6" type="body"/>
          </p:nvPr>
        </p:nvSpPr>
        <p:spPr>
          <a:xfrm>
            <a:off x="10763250" y="7372350"/>
            <a:ext cx="63817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نص وصورة مربعة">
  <p:cSld name="نص وصورة مربعة">
    <p:bg>
      <p:bgPr>
        <a:solidFill>
          <a:srgbClr val="12183F"/>
        </a:solidFill>
      </p:bgPr>
    </p:bg>
    <p:spTree>
      <p:nvGrpSpPr>
        <p:cNvPr id="89" name="Shape 89"/>
        <p:cNvGrpSpPr/>
        <p:nvPr/>
      </p:nvGrpSpPr>
      <p:grpSpPr>
        <a:xfrm>
          <a:off x="0" y="0"/>
          <a:ext cx="0" cy="0"/>
          <a:chOff x="0" y="0"/>
          <a:chExt cx="0" cy="0"/>
        </a:xfrm>
      </p:grpSpPr>
      <p:pic>
        <p:nvPicPr>
          <p:cNvPr id="90" name="Google Shape;90;p40"/>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91" name="Google Shape;91;p40"/>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92" name="Google Shape;92;p40"/>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93" name="Google Shape;93;p40"/>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94" name="Google Shape;94;p40"/>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95" name="Google Shape;95;p40"/>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96" name="Google Shape;96;p40"/>
          <p:cNvSpPr/>
          <p:nvPr>
            <p:ph idx="2" type="pic"/>
          </p:nvPr>
        </p:nvSpPr>
        <p:spPr>
          <a:xfrm>
            <a:off x="2190750" y="3476625"/>
            <a:ext cx="5715000" cy="5715000"/>
          </a:xfrm>
          <a:prstGeom prst="rect">
            <a:avLst/>
          </a:prstGeom>
          <a:solidFill>
            <a:srgbClr val="161D48"/>
          </a:solidFill>
          <a:ln cap="flat" cmpd="sng" w="11425">
            <a:solidFill>
              <a:srgbClr val="4A5590"/>
            </a:solidFill>
            <a:prstDash val="solid"/>
            <a:round/>
            <a:headEnd len="sm" w="sm" type="none"/>
            <a:tailEnd len="sm" w="sm" type="none"/>
          </a:ln>
        </p:spPr>
      </p:sp>
      <p:sp>
        <p:nvSpPr>
          <p:cNvPr id="97" name="Google Shape;97;p40"/>
          <p:cNvSpPr txBox="1"/>
          <p:nvPr>
            <p:ph idx="3" type="body"/>
          </p:nvPr>
        </p:nvSpPr>
        <p:spPr>
          <a:xfrm>
            <a:off x="10001250" y="3905250"/>
            <a:ext cx="7143750" cy="800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98" name="Google Shape;98;p40"/>
          <p:cNvSpPr txBox="1"/>
          <p:nvPr>
            <p:ph idx="4" type="body"/>
          </p:nvPr>
        </p:nvSpPr>
        <p:spPr>
          <a:xfrm>
            <a:off x="10001250" y="5191125"/>
            <a:ext cx="7143750" cy="2428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99" name="Google Shape;99;p40"/>
          <p:cNvSpPr txBox="1"/>
          <p:nvPr>
            <p:ph idx="5" type="body"/>
          </p:nvPr>
        </p:nvSpPr>
        <p:spPr>
          <a:xfrm>
            <a:off x="10001250" y="8048625"/>
            <a:ext cx="714375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مؤشرات">
  <p:cSld name="مؤشرات">
    <p:bg>
      <p:bgPr>
        <a:solidFill>
          <a:srgbClr val="12183F"/>
        </a:solidFill>
      </p:bgPr>
    </p:bg>
    <p:spTree>
      <p:nvGrpSpPr>
        <p:cNvPr id="100" name="Shape 100"/>
        <p:cNvGrpSpPr/>
        <p:nvPr/>
      </p:nvGrpSpPr>
      <p:grpSpPr>
        <a:xfrm>
          <a:off x="0" y="0"/>
          <a:ext cx="0" cy="0"/>
          <a:chOff x="0" y="0"/>
          <a:chExt cx="0" cy="0"/>
        </a:xfrm>
      </p:grpSpPr>
      <p:pic>
        <p:nvPicPr>
          <p:cNvPr id="101" name="Google Shape;101;p41"/>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02" name="Google Shape;102;p41"/>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103" name="Google Shape;103;p41"/>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04" name="Google Shape;104;p41"/>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05" name="Google Shape;105;p41"/>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06" name="Google Shape;106;p41"/>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107" name="Google Shape;107;p4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08" name="Google Shape;108;p41"/>
          <p:cNvSpPr txBox="1"/>
          <p:nvPr>
            <p:ph idx="3" type="body"/>
          </p:nvPr>
        </p:nvSpPr>
        <p:spPr>
          <a:xfrm>
            <a:off x="13716000" y="4333875"/>
            <a:ext cx="3429000" cy="1524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09" name="Google Shape;109;p41"/>
          <p:cNvSpPr txBox="1"/>
          <p:nvPr>
            <p:ph idx="4" type="body"/>
          </p:nvPr>
        </p:nvSpPr>
        <p:spPr>
          <a:xfrm>
            <a:off x="13716000" y="6048375"/>
            <a:ext cx="3429000" cy="714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0" name="Google Shape;110;p41"/>
          <p:cNvSpPr txBox="1"/>
          <p:nvPr>
            <p:ph idx="5" type="body"/>
          </p:nvPr>
        </p:nvSpPr>
        <p:spPr>
          <a:xfrm>
            <a:off x="13716000" y="7000875"/>
            <a:ext cx="3429000" cy="1000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1" name="Google Shape;111;p41"/>
          <p:cNvSpPr txBox="1"/>
          <p:nvPr>
            <p:ph idx="6" type="body"/>
          </p:nvPr>
        </p:nvSpPr>
        <p:spPr>
          <a:xfrm>
            <a:off x="9715500" y="4333875"/>
            <a:ext cx="3429000" cy="1524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2" name="Google Shape;112;p41"/>
          <p:cNvSpPr txBox="1"/>
          <p:nvPr>
            <p:ph idx="7" type="body"/>
          </p:nvPr>
        </p:nvSpPr>
        <p:spPr>
          <a:xfrm>
            <a:off x="9715500" y="6048375"/>
            <a:ext cx="3429000" cy="714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3" name="Google Shape;113;p41"/>
          <p:cNvSpPr txBox="1"/>
          <p:nvPr>
            <p:ph idx="8" type="body"/>
          </p:nvPr>
        </p:nvSpPr>
        <p:spPr>
          <a:xfrm>
            <a:off x="9715500" y="7000875"/>
            <a:ext cx="3429000" cy="1000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4" name="Google Shape;114;p41"/>
          <p:cNvSpPr txBox="1"/>
          <p:nvPr>
            <p:ph idx="9" type="body"/>
          </p:nvPr>
        </p:nvSpPr>
        <p:spPr>
          <a:xfrm>
            <a:off x="5715000" y="4333875"/>
            <a:ext cx="3429000" cy="1524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5" name="Google Shape;115;p41"/>
          <p:cNvSpPr txBox="1"/>
          <p:nvPr>
            <p:ph idx="13" type="body"/>
          </p:nvPr>
        </p:nvSpPr>
        <p:spPr>
          <a:xfrm>
            <a:off x="5715000" y="6048375"/>
            <a:ext cx="3429000" cy="714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6" name="Google Shape;116;p41"/>
          <p:cNvSpPr txBox="1"/>
          <p:nvPr>
            <p:ph idx="14" type="body"/>
          </p:nvPr>
        </p:nvSpPr>
        <p:spPr>
          <a:xfrm>
            <a:off x="5715000" y="7000875"/>
            <a:ext cx="3429000" cy="1000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7" name="Google Shape;117;p41"/>
          <p:cNvSpPr txBox="1"/>
          <p:nvPr>
            <p:ph idx="15" type="body"/>
          </p:nvPr>
        </p:nvSpPr>
        <p:spPr>
          <a:xfrm>
            <a:off x="1714500" y="4333875"/>
            <a:ext cx="3429000" cy="1524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8" name="Google Shape;118;p41"/>
          <p:cNvSpPr txBox="1"/>
          <p:nvPr>
            <p:ph idx="16" type="body"/>
          </p:nvPr>
        </p:nvSpPr>
        <p:spPr>
          <a:xfrm>
            <a:off x="1714500" y="6048375"/>
            <a:ext cx="3429000" cy="714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19" name="Google Shape;119;p41"/>
          <p:cNvSpPr txBox="1"/>
          <p:nvPr>
            <p:ph idx="17" type="body"/>
          </p:nvPr>
        </p:nvSpPr>
        <p:spPr>
          <a:xfrm>
            <a:off x="1714500" y="7000875"/>
            <a:ext cx="3429000" cy="1000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20" name="Google Shape;120;p41"/>
          <p:cNvSpPr txBox="1"/>
          <p:nvPr>
            <p:ph idx="18" type="body"/>
          </p:nvPr>
        </p:nvSpPr>
        <p:spPr>
          <a:xfrm>
            <a:off x="1714500" y="8763000"/>
            <a:ext cx="15430500" cy="4762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رسالة رئيسية">
  <p:cSld name="رسالة رئيسية">
    <p:bg>
      <p:bgPr>
        <a:solidFill>
          <a:srgbClr val="F2F4FF"/>
        </a:solidFill>
      </p:bgPr>
    </p:bg>
    <p:spTree>
      <p:nvGrpSpPr>
        <p:cNvPr id="121" name="Shape 121"/>
        <p:cNvGrpSpPr/>
        <p:nvPr/>
      </p:nvGrpSpPr>
      <p:grpSpPr>
        <a:xfrm>
          <a:off x="0" y="0"/>
          <a:ext cx="0" cy="0"/>
          <a:chOff x="0" y="0"/>
          <a:chExt cx="0" cy="0"/>
        </a:xfrm>
      </p:grpSpPr>
      <p:pic>
        <p:nvPicPr>
          <p:cNvPr id="122" name="Google Shape;122;p42"/>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23" name="Google Shape;123;p42"/>
          <p:cNvPicPr preferRelativeResize="0"/>
          <p:nvPr/>
        </p:nvPicPr>
        <p:blipFill rotWithShape="1">
          <a:blip r:embed="rId3">
            <a:alphaModFix/>
          </a:blip>
          <a:srcRect b="0" l="0" r="0" t="0"/>
          <a:stretch/>
        </p:blipFill>
        <p:spPr>
          <a:xfrm>
            <a:off x="1069873" y="685800"/>
            <a:ext cx="3994355" cy="1238250"/>
          </a:xfrm>
          <a:prstGeom prst="rect">
            <a:avLst/>
          </a:prstGeom>
          <a:noFill/>
          <a:ln>
            <a:noFill/>
          </a:ln>
        </p:spPr>
      </p:pic>
      <p:sp>
        <p:nvSpPr>
          <p:cNvPr id="124" name="Google Shape;124;p42"/>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4A5590"/>
                </a:solidFill>
                <a:latin typeface="Readex Pro"/>
                <a:ea typeface="Readex Pro"/>
                <a:cs typeface="Readex Pro"/>
                <a:sym typeface="Readex Pro"/>
              </a:rPr>
              <a:t>تحدي الذكاء الاصطناعي في خدمة المحتوى الإسلامي</a:t>
            </a:r>
            <a:endParaRPr/>
          </a:p>
        </p:txBody>
      </p:sp>
      <p:sp>
        <p:nvSpPr>
          <p:cNvPr id="125" name="Google Shape;125;p42"/>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4A5590"/>
                </a:solidFill>
                <a:latin typeface="Readex Pro"/>
                <a:ea typeface="Readex Pro"/>
                <a:cs typeface="Readex Pro"/>
                <a:sym typeface="Readex Pro"/>
              </a:defRPr>
            </a:lvl1pPr>
            <a:lvl2pPr indent="0" lvl="1" marL="0" marR="0" rtl="0" algn="l">
              <a:spcBef>
                <a:spcPts val="0"/>
              </a:spcBef>
              <a:buNone/>
              <a:defRPr b="0" sz="1800">
                <a:solidFill>
                  <a:srgbClr val="4A5590"/>
                </a:solidFill>
                <a:latin typeface="Readex Pro"/>
                <a:ea typeface="Readex Pro"/>
                <a:cs typeface="Readex Pro"/>
                <a:sym typeface="Readex Pro"/>
              </a:defRPr>
            </a:lvl2pPr>
            <a:lvl3pPr indent="0" lvl="2" marL="0" marR="0" rtl="0" algn="l">
              <a:spcBef>
                <a:spcPts val="0"/>
              </a:spcBef>
              <a:buNone/>
              <a:defRPr b="0" sz="1800">
                <a:solidFill>
                  <a:srgbClr val="4A5590"/>
                </a:solidFill>
                <a:latin typeface="Readex Pro"/>
                <a:ea typeface="Readex Pro"/>
                <a:cs typeface="Readex Pro"/>
                <a:sym typeface="Readex Pro"/>
              </a:defRPr>
            </a:lvl3pPr>
            <a:lvl4pPr indent="0" lvl="3" marL="0" marR="0" rtl="0" algn="l">
              <a:spcBef>
                <a:spcPts val="0"/>
              </a:spcBef>
              <a:buNone/>
              <a:defRPr b="0" sz="1800">
                <a:solidFill>
                  <a:srgbClr val="4A5590"/>
                </a:solidFill>
                <a:latin typeface="Readex Pro"/>
                <a:ea typeface="Readex Pro"/>
                <a:cs typeface="Readex Pro"/>
                <a:sym typeface="Readex Pro"/>
              </a:defRPr>
            </a:lvl4pPr>
            <a:lvl5pPr indent="0" lvl="4" marL="0" marR="0" rtl="0" algn="l">
              <a:spcBef>
                <a:spcPts val="0"/>
              </a:spcBef>
              <a:buNone/>
              <a:defRPr b="0" sz="1800">
                <a:solidFill>
                  <a:srgbClr val="4A5590"/>
                </a:solidFill>
                <a:latin typeface="Readex Pro"/>
                <a:ea typeface="Readex Pro"/>
                <a:cs typeface="Readex Pro"/>
                <a:sym typeface="Readex Pro"/>
              </a:defRPr>
            </a:lvl5pPr>
            <a:lvl6pPr indent="0" lvl="5" marL="0" marR="0" rtl="0" algn="l">
              <a:spcBef>
                <a:spcPts val="0"/>
              </a:spcBef>
              <a:buNone/>
              <a:defRPr b="0" sz="1800">
                <a:solidFill>
                  <a:srgbClr val="4A5590"/>
                </a:solidFill>
                <a:latin typeface="Readex Pro"/>
                <a:ea typeface="Readex Pro"/>
                <a:cs typeface="Readex Pro"/>
                <a:sym typeface="Readex Pro"/>
              </a:defRPr>
            </a:lvl6pPr>
            <a:lvl7pPr indent="0" lvl="6" marL="0" marR="0" rtl="0" algn="l">
              <a:spcBef>
                <a:spcPts val="0"/>
              </a:spcBef>
              <a:buNone/>
              <a:defRPr b="0" sz="1800">
                <a:solidFill>
                  <a:srgbClr val="4A5590"/>
                </a:solidFill>
                <a:latin typeface="Readex Pro"/>
                <a:ea typeface="Readex Pro"/>
                <a:cs typeface="Readex Pro"/>
                <a:sym typeface="Readex Pro"/>
              </a:defRPr>
            </a:lvl7pPr>
            <a:lvl8pPr indent="0" lvl="7" marL="0" marR="0" rtl="0" algn="l">
              <a:spcBef>
                <a:spcPts val="0"/>
              </a:spcBef>
              <a:buNone/>
              <a:defRPr b="0" sz="1800">
                <a:solidFill>
                  <a:srgbClr val="4A5590"/>
                </a:solidFill>
                <a:latin typeface="Readex Pro"/>
                <a:ea typeface="Readex Pro"/>
                <a:cs typeface="Readex Pro"/>
                <a:sym typeface="Readex Pro"/>
              </a:defRPr>
            </a:lvl8pPr>
            <a:lvl9pPr indent="0" lvl="8" marL="0" marR="0" rtl="0" algn="l">
              <a:spcBef>
                <a:spcPts val="0"/>
              </a:spcBef>
              <a:buNone/>
              <a:defRPr b="0" sz="1800">
                <a:solidFill>
                  <a:srgbClr val="4A5590"/>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26" name="Google Shape;126;p42"/>
          <p:cNvSpPr txBox="1"/>
          <p:nvPr>
            <p:ph type="title"/>
          </p:nvPr>
        </p:nvSpPr>
        <p:spPr>
          <a:xfrm>
            <a:off x="2476500" y="3143250"/>
            <a:ext cx="13335000" cy="295275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27" name="Google Shape;127;p42"/>
          <p:cNvSpPr txBox="1"/>
          <p:nvPr>
            <p:ph idx="1" type="body"/>
          </p:nvPr>
        </p:nvSpPr>
        <p:spPr>
          <a:xfrm>
            <a:off x="3333750" y="6905625"/>
            <a:ext cx="11620500" cy="8572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28" name="Google Shape;128;p42"/>
          <p:cNvSpPr txBox="1"/>
          <p:nvPr>
            <p:ph idx="2" type="body"/>
          </p:nvPr>
        </p:nvSpPr>
        <p:spPr>
          <a:xfrm>
            <a:off x="3333750" y="8239125"/>
            <a:ext cx="11620500" cy="523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جدول داكن">
  <p:cSld name="جدول داكن">
    <p:bg>
      <p:bgPr>
        <a:solidFill>
          <a:srgbClr val="12183F"/>
        </a:solidFill>
      </p:bgPr>
    </p:bg>
    <p:spTree>
      <p:nvGrpSpPr>
        <p:cNvPr id="129" name="Shape 129"/>
        <p:cNvGrpSpPr/>
        <p:nvPr/>
      </p:nvGrpSpPr>
      <p:grpSpPr>
        <a:xfrm>
          <a:off x="0" y="0"/>
          <a:ext cx="0" cy="0"/>
          <a:chOff x="0" y="0"/>
          <a:chExt cx="0" cy="0"/>
        </a:xfrm>
      </p:grpSpPr>
      <p:pic>
        <p:nvPicPr>
          <p:cNvPr id="130" name="Google Shape;130;p43"/>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31" name="Google Shape;131;p43"/>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132" name="Google Shape;132;p43"/>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33" name="Google Shape;133;p43"/>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34" name="Google Shape;134;p43"/>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35" name="Google Shape;135;p43"/>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136" name="Google Shape;136;p43"/>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37" name="Google Shape;137;p43"/>
          <p:cNvSpPr txBox="1"/>
          <p:nvPr>
            <p:ph idx="3" type="body"/>
          </p:nvPr>
        </p:nvSpPr>
        <p:spPr>
          <a:xfrm>
            <a:off x="1714500" y="8810625"/>
            <a:ext cx="15430500" cy="4572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38" name="Google Shape;138;p43"/>
          <p:cNvSpPr/>
          <p:nvPr>
            <p:ph idx="4" type="tbl"/>
          </p:nvPr>
        </p:nvSpPr>
        <p:spPr>
          <a:xfrm>
            <a:off x="1714500" y="3905250"/>
            <a:ext cx="15430500" cy="4476750"/>
          </a:xfrm>
          <a:prstGeom prst="rect">
            <a:avLst/>
          </a:prstGeom>
          <a:noFill/>
          <a:ln>
            <a:noFill/>
          </a:ln>
        </p:spPr>
        <p:txBody>
          <a:bodyPr anchorCtr="0" anchor="ctr" bIns="45700" lIns="254000" spcFirstLastPara="1" rIns="254000" wrap="square" tIns="4570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خط زمني">
  <p:cSld name="خط زمني">
    <p:bg>
      <p:bgPr>
        <a:solidFill>
          <a:srgbClr val="12183F"/>
        </a:solidFill>
      </p:bgPr>
    </p:bg>
    <p:spTree>
      <p:nvGrpSpPr>
        <p:cNvPr id="139" name="Shape 139"/>
        <p:cNvGrpSpPr/>
        <p:nvPr/>
      </p:nvGrpSpPr>
      <p:grpSpPr>
        <a:xfrm>
          <a:off x="0" y="0"/>
          <a:ext cx="0" cy="0"/>
          <a:chOff x="0" y="0"/>
          <a:chExt cx="0" cy="0"/>
        </a:xfrm>
      </p:grpSpPr>
      <p:pic>
        <p:nvPicPr>
          <p:cNvPr id="140" name="Google Shape;140;p44"/>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41" name="Google Shape;141;p44"/>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142" name="Google Shape;142;p44"/>
          <p:cNvSpPr/>
          <p:nvPr/>
        </p:nvSpPr>
        <p:spPr>
          <a:xfrm>
            <a:off x="14287500" y="4667250"/>
            <a:ext cx="2857500" cy="47625"/>
          </a:xfrm>
          <a:prstGeom prst="rect">
            <a:avLst/>
          </a:prstGeom>
          <a:solidFill>
            <a:srgbClr val="6150EA"/>
          </a:solidFill>
          <a:ln cap="flat" cmpd="sng" w="11425">
            <a:solidFill>
              <a:srgbClr val="6150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3" name="Google Shape;143;p44"/>
          <p:cNvSpPr/>
          <p:nvPr/>
        </p:nvSpPr>
        <p:spPr>
          <a:xfrm>
            <a:off x="11144250" y="4667250"/>
            <a:ext cx="2857500" cy="47625"/>
          </a:xfrm>
          <a:prstGeom prst="rect">
            <a:avLst/>
          </a:prstGeom>
          <a:solidFill>
            <a:srgbClr val="6150EA"/>
          </a:solidFill>
          <a:ln cap="flat" cmpd="sng" w="11425">
            <a:solidFill>
              <a:srgbClr val="6150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4" name="Google Shape;144;p44"/>
          <p:cNvSpPr/>
          <p:nvPr/>
        </p:nvSpPr>
        <p:spPr>
          <a:xfrm>
            <a:off x="8001000" y="4667250"/>
            <a:ext cx="2857500" cy="47625"/>
          </a:xfrm>
          <a:prstGeom prst="rect">
            <a:avLst/>
          </a:prstGeom>
          <a:solidFill>
            <a:srgbClr val="6150EA"/>
          </a:solidFill>
          <a:ln cap="flat" cmpd="sng" w="11425">
            <a:solidFill>
              <a:srgbClr val="6150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5" name="Google Shape;145;p44"/>
          <p:cNvSpPr/>
          <p:nvPr/>
        </p:nvSpPr>
        <p:spPr>
          <a:xfrm>
            <a:off x="4857750" y="4667250"/>
            <a:ext cx="2857500" cy="47625"/>
          </a:xfrm>
          <a:prstGeom prst="rect">
            <a:avLst/>
          </a:prstGeom>
          <a:solidFill>
            <a:srgbClr val="6150EA"/>
          </a:solidFill>
          <a:ln cap="flat" cmpd="sng" w="11425">
            <a:solidFill>
              <a:srgbClr val="6150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6" name="Google Shape;146;p44"/>
          <p:cNvSpPr/>
          <p:nvPr/>
        </p:nvSpPr>
        <p:spPr>
          <a:xfrm>
            <a:off x="1714500" y="4667250"/>
            <a:ext cx="2857500" cy="47625"/>
          </a:xfrm>
          <a:prstGeom prst="rect">
            <a:avLst/>
          </a:prstGeom>
          <a:solidFill>
            <a:srgbClr val="6150EA"/>
          </a:solidFill>
          <a:ln cap="flat" cmpd="sng" w="11425">
            <a:solidFill>
              <a:srgbClr val="6150EA"/>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47" name="Google Shape;147;p44"/>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48" name="Google Shape;148;p44"/>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49" name="Google Shape;149;p44"/>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0" name="Google Shape;150;p44"/>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151" name="Google Shape;151;p44"/>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52" name="Google Shape;152;p44"/>
          <p:cNvSpPr txBox="1"/>
          <p:nvPr>
            <p:ph idx="3" type="body"/>
          </p:nvPr>
        </p:nvSpPr>
        <p:spPr>
          <a:xfrm>
            <a:off x="14287500" y="3762375"/>
            <a:ext cx="2857500" cy="762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3" name="Google Shape;153;p44"/>
          <p:cNvSpPr txBox="1"/>
          <p:nvPr>
            <p:ph idx="4" type="body"/>
          </p:nvPr>
        </p:nvSpPr>
        <p:spPr>
          <a:xfrm>
            <a:off x="14287500" y="5238750"/>
            <a:ext cx="2857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4" name="Google Shape;154;p44"/>
          <p:cNvSpPr txBox="1"/>
          <p:nvPr>
            <p:ph idx="5" type="body"/>
          </p:nvPr>
        </p:nvSpPr>
        <p:spPr>
          <a:xfrm>
            <a:off x="14287500" y="6048375"/>
            <a:ext cx="2857500" cy="5715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5" name="Google Shape;155;p44"/>
          <p:cNvSpPr txBox="1"/>
          <p:nvPr>
            <p:ph idx="6" type="body"/>
          </p:nvPr>
        </p:nvSpPr>
        <p:spPr>
          <a:xfrm>
            <a:off x="14287500" y="7000875"/>
            <a:ext cx="2857500" cy="1095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6" name="Google Shape;156;p44"/>
          <p:cNvSpPr txBox="1"/>
          <p:nvPr>
            <p:ph idx="7" type="body"/>
          </p:nvPr>
        </p:nvSpPr>
        <p:spPr>
          <a:xfrm>
            <a:off x="11144250" y="3762375"/>
            <a:ext cx="2857500" cy="762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7" name="Google Shape;157;p44"/>
          <p:cNvSpPr txBox="1"/>
          <p:nvPr>
            <p:ph idx="8" type="body"/>
          </p:nvPr>
        </p:nvSpPr>
        <p:spPr>
          <a:xfrm>
            <a:off x="11144250" y="5238750"/>
            <a:ext cx="2857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8" name="Google Shape;158;p44"/>
          <p:cNvSpPr txBox="1"/>
          <p:nvPr>
            <p:ph idx="9" type="body"/>
          </p:nvPr>
        </p:nvSpPr>
        <p:spPr>
          <a:xfrm>
            <a:off x="11144250" y="6048375"/>
            <a:ext cx="2857500" cy="5715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59" name="Google Shape;159;p44"/>
          <p:cNvSpPr txBox="1"/>
          <p:nvPr>
            <p:ph idx="13" type="body"/>
          </p:nvPr>
        </p:nvSpPr>
        <p:spPr>
          <a:xfrm>
            <a:off x="11144250" y="7000875"/>
            <a:ext cx="2857500" cy="1095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0" name="Google Shape;160;p44"/>
          <p:cNvSpPr txBox="1"/>
          <p:nvPr>
            <p:ph idx="14" type="body"/>
          </p:nvPr>
        </p:nvSpPr>
        <p:spPr>
          <a:xfrm>
            <a:off x="8001000" y="3762375"/>
            <a:ext cx="2857500" cy="762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1" name="Google Shape;161;p44"/>
          <p:cNvSpPr txBox="1"/>
          <p:nvPr>
            <p:ph idx="15" type="body"/>
          </p:nvPr>
        </p:nvSpPr>
        <p:spPr>
          <a:xfrm>
            <a:off x="8001000" y="5238750"/>
            <a:ext cx="2857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2" name="Google Shape;162;p44"/>
          <p:cNvSpPr txBox="1"/>
          <p:nvPr>
            <p:ph idx="16" type="body"/>
          </p:nvPr>
        </p:nvSpPr>
        <p:spPr>
          <a:xfrm>
            <a:off x="8001000" y="6048375"/>
            <a:ext cx="2857500" cy="5715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3" name="Google Shape;163;p44"/>
          <p:cNvSpPr txBox="1"/>
          <p:nvPr>
            <p:ph idx="17" type="body"/>
          </p:nvPr>
        </p:nvSpPr>
        <p:spPr>
          <a:xfrm>
            <a:off x="8001000" y="7000875"/>
            <a:ext cx="2857500" cy="1095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4" name="Google Shape;164;p44"/>
          <p:cNvSpPr txBox="1"/>
          <p:nvPr>
            <p:ph idx="18" type="body"/>
          </p:nvPr>
        </p:nvSpPr>
        <p:spPr>
          <a:xfrm>
            <a:off x="4857750" y="3762375"/>
            <a:ext cx="2857500" cy="762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5" name="Google Shape;165;p44"/>
          <p:cNvSpPr txBox="1"/>
          <p:nvPr>
            <p:ph idx="19" type="body"/>
          </p:nvPr>
        </p:nvSpPr>
        <p:spPr>
          <a:xfrm>
            <a:off x="4857750" y="5238750"/>
            <a:ext cx="2857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6" name="Google Shape;166;p44"/>
          <p:cNvSpPr txBox="1"/>
          <p:nvPr>
            <p:ph idx="20" type="body"/>
          </p:nvPr>
        </p:nvSpPr>
        <p:spPr>
          <a:xfrm>
            <a:off x="4857750" y="6048375"/>
            <a:ext cx="2857500" cy="5715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7" name="Google Shape;167;p44"/>
          <p:cNvSpPr txBox="1"/>
          <p:nvPr>
            <p:ph idx="21" type="body"/>
          </p:nvPr>
        </p:nvSpPr>
        <p:spPr>
          <a:xfrm>
            <a:off x="4857750" y="7000875"/>
            <a:ext cx="2857500" cy="1095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8" name="Google Shape;168;p44"/>
          <p:cNvSpPr txBox="1"/>
          <p:nvPr>
            <p:ph idx="22" type="body"/>
          </p:nvPr>
        </p:nvSpPr>
        <p:spPr>
          <a:xfrm>
            <a:off x="1714500" y="3762375"/>
            <a:ext cx="2857500" cy="7620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69" name="Google Shape;169;p44"/>
          <p:cNvSpPr txBox="1"/>
          <p:nvPr>
            <p:ph idx="23" type="body"/>
          </p:nvPr>
        </p:nvSpPr>
        <p:spPr>
          <a:xfrm>
            <a:off x="1714500" y="5238750"/>
            <a:ext cx="2857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0" name="Google Shape;170;p44"/>
          <p:cNvSpPr txBox="1"/>
          <p:nvPr>
            <p:ph idx="24" type="body"/>
          </p:nvPr>
        </p:nvSpPr>
        <p:spPr>
          <a:xfrm>
            <a:off x="1714500" y="6048375"/>
            <a:ext cx="2857500" cy="5715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1" name="Google Shape;171;p44"/>
          <p:cNvSpPr txBox="1"/>
          <p:nvPr>
            <p:ph idx="25" type="body"/>
          </p:nvPr>
        </p:nvSpPr>
        <p:spPr>
          <a:xfrm>
            <a:off x="1714500" y="7000875"/>
            <a:ext cx="2857500" cy="10953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فريق العمل">
  <p:cSld name="فريق العمل">
    <p:bg>
      <p:bgPr>
        <a:solidFill>
          <a:srgbClr val="12183F"/>
        </a:solidFill>
      </p:bgPr>
    </p:bg>
    <p:spTree>
      <p:nvGrpSpPr>
        <p:cNvPr id="172" name="Shape 172"/>
        <p:cNvGrpSpPr/>
        <p:nvPr/>
      </p:nvGrpSpPr>
      <p:grpSpPr>
        <a:xfrm>
          <a:off x="0" y="0"/>
          <a:ext cx="0" cy="0"/>
          <a:chOff x="0" y="0"/>
          <a:chExt cx="0" cy="0"/>
        </a:xfrm>
      </p:grpSpPr>
      <p:pic>
        <p:nvPicPr>
          <p:cNvPr id="173" name="Google Shape;173;p45"/>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74" name="Google Shape;174;p45"/>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175" name="Google Shape;175;p45"/>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6" name="Google Shape;176;p45"/>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7" name="Google Shape;177;p45"/>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78" name="Google Shape;178;p45"/>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179" name="Google Shape;179;p4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180" name="Google Shape;180;p45"/>
          <p:cNvSpPr/>
          <p:nvPr>
            <p:ph idx="3" type="pic"/>
          </p:nvPr>
        </p:nvSpPr>
        <p:spPr>
          <a:xfrm>
            <a:off x="1419225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181" name="Google Shape;181;p45"/>
          <p:cNvSpPr txBox="1"/>
          <p:nvPr>
            <p:ph idx="4" type="body"/>
          </p:nvPr>
        </p:nvSpPr>
        <p:spPr>
          <a:xfrm>
            <a:off x="13716000" y="6953250"/>
            <a:ext cx="35242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2" name="Google Shape;182;p45"/>
          <p:cNvSpPr txBox="1"/>
          <p:nvPr>
            <p:ph idx="5" type="body"/>
          </p:nvPr>
        </p:nvSpPr>
        <p:spPr>
          <a:xfrm>
            <a:off x="13716000" y="7810500"/>
            <a:ext cx="3524250" cy="904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3" name="Google Shape;183;p45"/>
          <p:cNvSpPr/>
          <p:nvPr>
            <p:ph idx="6" type="pic"/>
          </p:nvPr>
        </p:nvSpPr>
        <p:spPr>
          <a:xfrm>
            <a:off x="1019175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184" name="Google Shape;184;p45"/>
          <p:cNvSpPr txBox="1"/>
          <p:nvPr>
            <p:ph idx="7" type="body"/>
          </p:nvPr>
        </p:nvSpPr>
        <p:spPr>
          <a:xfrm>
            <a:off x="9715500" y="6953250"/>
            <a:ext cx="35242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5" name="Google Shape;185;p45"/>
          <p:cNvSpPr txBox="1"/>
          <p:nvPr>
            <p:ph idx="8" type="body"/>
          </p:nvPr>
        </p:nvSpPr>
        <p:spPr>
          <a:xfrm>
            <a:off x="9715500" y="7810500"/>
            <a:ext cx="3524250" cy="904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6" name="Google Shape;186;p45"/>
          <p:cNvSpPr/>
          <p:nvPr>
            <p:ph idx="9" type="pic"/>
          </p:nvPr>
        </p:nvSpPr>
        <p:spPr>
          <a:xfrm>
            <a:off x="619125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187" name="Google Shape;187;p45"/>
          <p:cNvSpPr txBox="1"/>
          <p:nvPr>
            <p:ph idx="13" type="body"/>
          </p:nvPr>
        </p:nvSpPr>
        <p:spPr>
          <a:xfrm>
            <a:off x="5715000" y="6953250"/>
            <a:ext cx="35242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8" name="Google Shape;188;p45"/>
          <p:cNvSpPr txBox="1"/>
          <p:nvPr>
            <p:ph idx="14" type="body"/>
          </p:nvPr>
        </p:nvSpPr>
        <p:spPr>
          <a:xfrm>
            <a:off x="5715000" y="7810500"/>
            <a:ext cx="3524250" cy="904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89" name="Google Shape;189;p45"/>
          <p:cNvSpPr/>
          <p:nvPr>
            <p:ph idx="15" type="pic"/>
          </p:nvPr>
        </p:nvSpPr>
        <p:spPr>
          <a:xfrm>
            <a:off x="219075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190" name="Google Shape;190;p45"/>
          <p:cNvSpPr txBox="1"/>
          <p:nvPr>
            <p:ph idx="16" type="body"/>
          </p:nvPr>
        </p:nvSpPr>
        <p:spPr>
          <a:xfrm>
            <a:off x="1714500" y="6953250"/>
            <a:ext cx="352425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91" name="Google Shape;191;p45"/>
          <p:cNvSpPr txBox="1"/>
          <p:nvPr>
            <p:ph idx="17" type="body"/>
          </p:nvPr>
        </p:nvSpPr>
        <p:spPr>
          <a:xfrm>
            <a:off x="1714500" y="7810500"/>
            <a:ext cx="3524250" cy="9048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أربع نقاط فاتحة">
  <p:cSld name="أربع نقاط فاتحة">
    <p:bg>
      <p:bgPr>
        <a:solidFill>
          <a:srgbClr val="F2F4FF"/>
        </a:solidFill>
      </p:bgPr>
    </p:bg>
    <p:spTree>
      <p:nvGrpSpPr>
        <p:cNvPr id="192" name="Shape 192"/>
        <p:cNvGrpSpPr/>
        <p:nvPr/>
      </p:nvGrpSpPr>
      <p:grpSpPr>
        <a:xfrm>
          <a:off x="0" y="0"/>
          <a:ext cx="0" cy="0"/>
          <a:chOff x="0" y="0"/>
          <a:chExt cx="0" cy="0"/>
        </a:xfrm>
      </p:grpSpPr>
      <p:pic>
        <p:nvPicPr>
          <p:cNvPr id="193" name="Google Shape;193;p46"/>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194" name="Google Shape;194;p46"/>
          <p:cNvPicPr preferRelativeResize="0"/>
          <p:nvPr/>
        </p:nvPicPr>
        <p:blipFill rotWithShape="1">
          <a:blip r:embed="rId3">
            <a:alphaModFix/>
          </a:blip>
          <a:srcRect b="0" l="0" r="0" t="0"/>
          <a:stretch/>
        </p:blipFill>
        <p:spPr>
          <a:xfrm>
            <a:off x="1337187" y="685800"/>
            <a:ext cx="2888226" cy="895350"/>
          </a:xfrm>
          <a:prstGeom prst="rect">
            <a:avLst/>
          </a:prstGeom>
          <a:noFill/>
          <a:ln>
            <a:noFill/>
          </a:ln>
        </p:spPr>
      </p:pic>
      <p:sp>
        <p:nvSpPr>
          <p:cNvPr id="195" name="Google Shape;195;p46"/>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96" name="Google Shape;196;p46"/>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97" name="Google Shape;197;p46"/>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198" name="Google Shape;198;p46"/>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4A5590"/>
                </a:solidFill>
                <a:latin typeface="Readex Pro"/>
                <a:ea typeface="Readex Pro"/>
                <a:cs typeface="Readex Pro"/>
                <a:sym typeface="Readex Pro"/>
              </a:rPr>
              <a:t>تحدي الذكاء الاصطناعي في خدمة المحتوى الإسلامي</a:t>
            </a:r>
            <a:endParaRPr/>
          </a:p>
        </p:txBody>
      </p:sp>
      <p:sp>
        <p:nvSpPr>
          <p:cNvPr id="199" name="Google Shape;199;p46"/>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4A5590"/>
                </a:solidFill>
                <a:latin typeface="Readex Pro"/>
                <a:ea typeface="Readex Pro"/>
                <a:cs typeface="Readex Pro"/>
                <a:sym typeface="Readex Pro"/>
              </a:defRPr>
            </a:lvl1pPr>
            <a:lvl2pPr indent="0" lvl="1" marL="0" marR="0" rtl="0" algn="l">
              <a:spcBef>
                <a:spcPts val="0"/>
              </a:spcBef>
              <a:buNone/>
              <a:defRPr b="0" sz="1800">
                <a:solidFill>
                  <a:srgbClr val="4A5590"/>
                </a:solidFill>
                <a:latin typeface="Readex Pro"/>
                <a:ea typeface="Readex Pro"/>
                <a:cs typeface="Readex Pro"/>
                <a:sym typeface="Readex Pro"/>
              </a:defRPr>
            </a:lvl2pPr>
            <a:lvl3pPr indent="0" lvl="2" marL="0" marR="0" rtl="0" algn="l">
              <a:spcBef>
                <a:spcPts val="0"/>
              </a:spcBef>
              <a:buNone/>
              <a:defRPr b="0" sz="1800">
                <a:solidFill>
                  <a:srgbClr val="4A5590"/>
                </a:solidFill>
                <a:latin typeface="Readex Pro"/>
                <a:ea typeface="Readex Pro"/>
                <a:cs typeface="Readex Pro"/>
                <a:sym typeface="Readex Pro"/>
              </a:defRPr>
            </a:lvl3pPr>
            <a:lvl4pPr indent="0" lvl="3" marL="0" marR="0" rtl="0" algn="l">
              <a:spcBef>
                <a:spcPts val="0"/>
              </a:spcBef>
              <a:buNone/>
              <a:defRPr b="0" sz="1800">
                <a:solidFill>
                  <a:srgbClr val="4A5590"/>
                </a:solidFill>
                <a:latin typeface="Readex Pro"/>
                <a:ea typeface="Readex Pro"/>
                <a:cs typeface="Readex Pro"/>
                <a:sym typeface="Readex Pro"/>
              </a:defRPr>
            </a:lvl4pPr>
            <a:lvl5pPr indent="0" lvl="4" marL="0" marR="0" rtl="0" algn="l">
              <a:spcBef>
                <a:spcPts val="0"/>
              </a:spcBef>
              <a:buNone/>
              <a:defRPr b="0" sz="1800">
                <a:solidFill>
                  <a:srgbClr val="4A5590"/>
                </a:solidFill>
                <a:latin typeface="Readex Pro"/>
                <a:ea typeface="Readex Pro"/>
                <a:cs typeface="Readex Pro"/>
                <a:sym typeface="Readex Pro"/>
              </a:defRPr>
            </a:lvl5pPr>
            <a:lvl6pPr indent="0" lvl="5" marL="0" marR="0" rtl="0" algn="l">
              <a:spcBef>
                <a:spcPts val="0"/>
              </a:spcBef>
              <a:buNone/>
              <a:defRPr b="0" sz="1800">
                <a:solidFill>
                  <a:srgbClr val="4A5590"/>
                </a:solidFill>
                <a:latin typeface="Readex Pro"/>
                <a:ea typeface="Readex Pro"/>
                <a:cs typeface="Readex Pro"/>
                <a:sym typeface="Readex Pro"/>
              </a:defRPr>
            </a:lvl6pPr>
            <a:lvl7pPr indent="0" lvl="6" marL="0" marR="0" rtl="0" algn="l">
              <a:spcBef>
                <a:spcPts val="0"/>
              </a:spcBef>
              <a:buNone/>
              <a:defRPr b="0" sz="1800">
                <a:solidFill>
                  <a:srgbClr val="4A5590"/>
                </a:solidFill>
                <a:latin typeface="Readex Pro"/>
                <a:ea typeface="Readex Pro"/>
                <a:cs typeface="Readex Pro"/>
                <a:sym typeface="Readex Pro"/>
              </a:defRPr>
            </a:lvl7pPr>
            <a:lvl8pPr indent="0" lvl="7" marL="0" marR="0" rtl="0" algn="l">
              <a:spcBef>
                <a:spcPts val="0"/>
              </a:spcBef>
              <a:buNone/>
              <a:defRPr b="0" sz="1800">
                <a:solidFill>
                  <a:srgbClr val="4A5590"/>
                </a:solidFill>
                <a:latin typeface="Readex Pro"/>
                <a:ea typeface="Readex Pro"/>
                <a:cs typeface="Readex Pro"/>
                <a:sym typeface="Readex Pro"/>
              </a:defRPr>
            </a:lvl8pPr>
            <a:lvl9pPr indent="0" lvl="8" marL="0" marR="0" rtl="0" algn="l">
              <a:spcBef>
                <a:spcPts val="0"/>
              </a:spcBef>
              <a:buNone/>
              <a:defRPr b="0" sz="1800">
                <a:solidFill>
                  <a:srgbClr val="4A5590"/>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00" name="Google Shape;200;p46"/>
          <p:cNvSpPr txBox="1"/>
          <p:nvPr>
            <p:ph idx="3" type="body"/>
          </p:nvPr>
        </p:nvSpPr>
        <p:spPr>
          <a:xfrm>
            <a:off x="9810750" y="3952875"/>
            <a:ext cx="7334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1" name="Google Shape;201;p46"/>
          <p:cNvSpPr txBox="1"/>
          <p:nvPr>
            <p:ph idx="4" type="body"/>
          </p:nvPr>
        </p:nvSpPr>
        <p:spPr>
          <a:xfrm>
            <a:off x="9810750" y="4657725"/>
            <a:ext cx="7334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2" name="Google Shape;202;p46"/>
          <p:cNvSpPr txBox="1"/>
          <p:nvPr>
            <p:ph idx="5" type="body"/>
          </p:nvPr>
        </p:nvSpPr>
        <p:spPr>
          <a:xfrm>
            <a:off x="1714500" y="3952875"/>
            <a:ext cx="6953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3" name="Google Shape;203;p46"/>
          <p:cNvSpPr txBox="1"/>
          <p:nvPr>
            <p:ph idx="6" type="body"/>
          </p:nvPr>
        </p:nvSpPr>
        <p:spPr>
          <a:xfrm>
            <a:off x="1714500" y="4657725"/>
            <a:ext cx="6953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4" name="Google Shape;204;p46"/>
          <p:cNvSpPr txBox="1"/>
          <p:nvPr>
            <p:ph idx="7" type="body"/>
          </p:nvPr>
        </p:nvSpPr>
        <p:spPr>
          <a:xfrm>
            <a:off x="9810750" y="6619875"/>
            <a:ext cx="7334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5" name="Google Shape;205;p46"/>
          <p:cNvSpPr txBox="1"/>
          <p:nvPr>
            <p:ph idx="8" type="body"/>
          </p:nvPr>
        </p:nvSpPr>
        <p:spPr>
          <a:xfrm>
            <a:off x="9810750" y="7324725"/>
            <a:ext cx="7334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6" name="Google Shape;206;p46"/>
          <p:cNvSpPr txBox="1"/>
          <p:nvPr>
            <p:ph idx="9" type="body"/>
          </p:nvPr>
        </p:nvSpPr>
        <p:spPr>
          <a:xfrm>
            <a:off x="1714500" y="6619875"/>
            <a:ext cx="69532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07" name="Google Shape;207;p46"/>
          <p:cNvSpPr txBox="1"/>
          <p:nvPr>
            <p:ph idx="13" type="body"/>
          </p:nvPr>
        </p:nvSpPr>
        <p:spPr>
          <a:xfrm>
            <a:off x="1714500" y="7324725"/>
            <a:ext cx="69532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جدول فاتح">
  <p:cSld name="جدول فاتح">
    <p:bg>
      <p:bgPr>
        <a:solidFill>
          <a:srgbClr val="F2F4FF"/>
        </a:solidFill>
      </p:bgPr>
    </p:bg>
    <p:spTree>
      <p:nvGrpSpPr>
        <p:cNvPr id="208" name="Shape 208"/>
        <p:cNvGrpSpPr/>
        <p:nvPr/>
      </p:nvGrpSpPr>
      <p:grpSpPr>
        <a:xfrm>
          <a:off x="0" y="0"/>
          <a:ext cx="0" cy="0"/>
          <a:chOff x="0" y="0"/>
          <a:chExt cx="0" cy="0"/>
        </a:xfrm>
      </p:grpSpPr>
      <p:pic>
        <p:nvPicPr>
          <p:cNvPr id="209" name="Google Shape;209;p47"/>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10" name="Google Shape;210;p47"/>
          <p:cNvPicPr preferRelativeResize="0"/>
          <p:nvPr/>
        </p:nvPicPr>
        <p:blipFill rotWithShape="1">
          <a:blip r:embed="rId3">
            <a:alphaModFix/>
          </a:blip>
          <a:srcRect b="0" l="0" r="0" t="0"/>
          <a:stretch/>
        </p:blipFill>
        <p:spPr>
          <a:xfrm>
            <a:off x="1337187" y="685800"/>
            <a:ext cx="2888226" cy="895350"/>
          </a:xfrm>
          <a:prstGeom prst="rect">
            <a:avLst/>
          </a:prstGeom>
          <a:noFill/>
          <a:ln>
            <a:noFill/>
          </a:ln>
        </p:spPr>
      </p:pic>
      <p:sp>
        <p:nvSpPr>
          <p:cNvPr id="211" name="Google Shape;211;p47"/>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12" name="Google Shape;212;p47"/>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13" name="Google Shape;213;p47"/>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14" name="Google Shape;214;p47"/>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4A5590"/>
                </a:solidFill>
                <a:latin typeface="Readex Pro"/>
                <a:ea typeface="Readex Pro"/>
                <a:cs typeface="Readex Pro"/>
                <a:sym typeface="Readex Pro"/>
              </a:rPr>
              <a:t>تحدي الذكاء الاصطناعي في خدمة المحتوى الإسلامي</a:t>
            </a:r>
            <a:endParaRPr/>
          </a:p>
        </p:txBody>
      </p:sp>
      <p:sp>
        <p:nvSpPr>
          <p:cNvPr id="215" name="Google Shape;215;p47"/>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4A5590"/>
                </a:solidFill>
                <a:latin typeface="Readex Pro"/>
                <a:ea typeface="Readex Pro"/>
                <a:cs typeface="Readex Pro"/>
                <a:sym typeface="Readex Pro"/>
              </a:defRPr>
            </a:lvl1pPr>
            <a:lvl2pPr indent="0" lvl="1" marL="0" marR="0" rtl="0" algn="l">
              <a:spcBef>
                <a:spcPts val="0"/>
              </a:spcBef>
              <a:buNone/>
              <a:defRPr b="0" sz="1800">
                <a:solidFill>
                  <a:srgbClr val="4A5590"/>
                </a:solidFill>
                <a:latin typeface="Readex Pro"/>
                <a:ea typeface="Readex Pro"/>
                <a:cs typeface="Readex Pro"/>
                <a:sym typeface="Readex Pro"/>
              </a:defRPr>
            </a:lvl2pPr>
            <a:lvl3pPr indent="0" lvl="2" marL="0" marR="0" rtl="0" algn="l">
              <a:spcBef>
                <a:spcPts val="0"/>
              </a:spcBef>
              <a:buNone/>
              <a:defRPr b="0" sz="1800">
                <a:solidFill>
                  <a:srgbClr val="4A5590"/>
                </a:solidFill>
                <a:latin typeface="Readex Pro"/>
                <a:ea typeface="Readex Pro"/>
                <a:cs typeface="Readex Pro"/>
                <a:sym typeface="Readex Pro"/>
              </a:defRPr>
            </a:lvl3pPr>
            <a:lvl4pPr indent="0" lvl="3" marL="0" marR="0" rtl="0" algn="l">
              <a:spcBef>
                <a:spcPts val="0"/>
              </a:spcBef>
              <a:buNone/>
              <a:defRPr b="0" sz="1800">
                <a:solidFill>
                  <a:srgbClr val="4A5590"/>
                </a:solidFill>
                <a:latin typeface="Readex Pro"/>
                <a:ea typeface="Readex Pro"/>
                <a:cs typeface="Readex Pro"/>
                <a:sym typeface="Readex Pro"/>
              </a:defRPr>
            </a:lvl4pPr>
            <a:lvl5pPr indent="0" lvl="4" marL="0" marR="0" rtl="0" algn="l">
              <a:spcBef>
                <a:spcPts val="0"/>
              </a:spcBef>
              <a:buNone/>
              <a:defRPr b="0" sz="1800">
                <a:solidFill>
                  <a:srgbClr val="4A5590"/>
                </a:solidFill>
                <a:latin typeface="Readex Pro"/>
                <a:ea typeface="Readex Pro"/>
                <a:cs typeface="Readex Pro"/>
                <a:sym typeface="Readex Pro"/>
              </a:defRPr>
            </a:lvl5pPr>
            <a:lvl6pPr indent="0" lvl="5" marL="0" marR="0" rtl="0" algn="l">
              <a:spcBef>
                <a:spcPts val="0"/>
              </a:spcBef>
              <a:buNone/>
              <a:defRPr b="0" sz="1800">
                <a:solidFill>
                  <a:srgbClr val="4A5590"/>
                </a:solidFill>
                <a:latin typeface="Readex Pro"/>
                <a:ea typeface="Readex Pro"/>
                <a:cs typeface="Readex Pro"/>
                <a:sym typeface="Readex Pro"/>
              </a:defRPr>
            </a:lvl6pPr>
            <a:lvl7pPr indent="0" lvl="6" marL="0" marR="0" rtl="0" algn="l">
              <a:spcBef>
                <a:spcPts val="0"/>
              </a:spcBef>
              <a:buNone/>
              <a:defRPr b="0" sz="1800">
                <a:solidFill>
                  <a:srgbClr val="4A5590"/>
                </a:solidFill>
                <a:latin typeface="Readex Pro"/>
                <a:ea typeface="Readex Pro"/>
                <a:cs typeface="Readex Pro"/>
                <a:sym typeface="Readex Pro"/>
              </a:defRPr>
            </a:lvl7pPr>
            <a:lvl8pPr indent="0" lvl="7" marL="0" marR="0" rtl="0" algn="l">
              <a:spcBef>
                <a:spcPts val="0"/>
              </a:spcBef>
              <a:buNone/>
              <a:defRPr b="0" sz="1800">
                <a:solidFill>
                  <a:srgbClr val="4A5590"/>
                </a:solidFill>
                <a:latin typeface="Readex Pro"/>
                <a:ea typeface="Readex Pro"/>
                <a:cs typeface="Readex Pro"/>
                <a:sym typeface="Readex Pro"/>
              </a:defRPr>
            </a:lvl8pPr>
            <a:lvl9pPr indent="0" lvl="8" marL="0" marR="0" rtl="0" algn="l">
              <a:spcBef>
                <a:spcPts val="0"/>
              </a:spcBef>
              <a:buNone/>
              <a:defRPr b="0" sz="1800">
                <a:solidFill>
                  <a:srgbClr val="4A5590"/>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16" name="Google Shape;216;p47"/>
          <p:cNvSpPr txBox="1"/>
          <p:nvPr>
            <p:ph idx="3" type="body"/>
          </p:nvPr>
        </p:nvSpPr>
        <p:spPr>
          <a:xfrm>
            <a:off x="1714500" y="8810625"/>
            <a:ext cx="15430500" cy="4572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17" name="Google Shape;217;p47"/>
          <p:cNvSpPr/>
          <p:nvPr>
            <p:ph idx="4" type="tbl"/>
          </p:nvPr>
        </p:nvSpPr>
        <p:spPr>
          <a:xfrm>
            <a:off x="1714500" y="3905250"/>
            <a:ext cx="15430500" cy="4476750"/>
          </a:xfrm>
          <a:prstGeom prst="rect">
            <a:avLst/>
          </a:prstGeom>
          <a:noFill/>
          <a:ln>
            <a:noFill/>
          </a:ln>
        </p:spPr>
        <p:txBody>
          <a:bodyPr anchorCtr="0" anchor="ctr" bIns="45700" lIns="254000" spcFirstLastPara="1" rIns="254000" wrap="square" tIns="4570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مقارنة بالأعمدة">
  <p:cSld name="مقارنة بالأعمدة">
    <p:bg>
      <p:bgPr>
        <a:solidFill>
          <a:srgbClr val="12183F"/>
        </a:solidFill>
      </p:bgPr>
    </p:bg>
    <p:spTree>
      <p:nvGrpSpPr>
        <p:cNvPr id="218" name="Shape 218"/>
        <p:cNvGrpSpPr/>
        <p:nvPr/>
      </p:nvGrpSpPr>
      <p:grpSpPr>
        <a:xfrm>
          <a:off x="0" y="0"/>
          <a:ext cx="0" cy="0"/>
          <a:chOff x="0" y="0"/>
          <a:chExt cx="0" cy="0"/>
        </a:xfrm>
      </p:grpSpPr>
      <p:pic>
        <p:nvPicPr>
          <p:cNvPr id="219" name="Google Shape;219;p48"/>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20" name="Google Shape;220;p48"/>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21" name="Google Shape;221;p48"/>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22" name="Google Shape;222;p48"/>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23" name="Google Shape;223;p48"/>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24" name="Google Shape;224;p48"/>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25" name="Google Shape;225;p48"/>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26" name="Google Shape;226;p48"/>
          <p:cNvSpPr txBox="1"/>
          <p:nvPr>
            <p:ph idx="3" type="body"/>
          </p:nvPr>
        </p:nvSpPr>
        <p:spPr>
          <a:xfrm>
            <a:off x="2095500" y="8905875"/>
            <a:ext cx="14192250" cy="4572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27" name="Google Shape;227;p48"/>
          <p:cNvSpPr/>
          <p:nvPr>
            <p:ph idx="4" type="chart"/>
          </p:nvPr>
        </p:nvSpPr>
        <p:spPr>
          <a:xfrm>
            <a:off x="2095500" y="3905250"/>
            <a:ext cx="14192250" cy="4857750"/>
          </a:xfrm>
          <a:prstGeom prst="rect">
            <a:avLst/>
          </a:prstGeom>
          <a:noFill/>
          <a:ln>
            <a:noFill/>
          </a:ln>
        </p:spPr>
        <p:txBody>
          <a:bodyPr anchorCtr="0" anchor="ctr" bIns="45700" lIns="254000" spcFirstLastPara="1" rIns="254000" wrap="square" tIns="4570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توزيع نسبي">
  <p:cSld name="توزيع نسبي">
    <p:bg>
      <p:bgPr>
        <a:solidFill>
          <a:srgbClr val="12183F"/>
        </a:solidFill>
      </p:bgPr>
    </p:bg>
    <p:spTree>
      <p:nvGrpSpPr>
        <p:cNvPr id="228" name="Shape 228"/>
        <p:cNvGrpSpPr/>
        <p:nvPr/>
      </p:nvGrpSpPr>
      <p:grpSpPr>
        <a:xfrm>
          <a:off x="0" y="0"/>
          <a:ext cx="0" cy="0"/>
          <a:chOff x="0" y="0"/>
          <a:chExt cx="0" cy="0"/>
        </a:xfrm>
      </p:grpSpPr>
      <p:pic>
        <p:nvPicPr>
          <p:cNvPr id="229" name="Google Shape;229;p49"/>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30" name="Google Shape;230;p49"/>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31" name="Google Shape;231;p49"/>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32" name="Google Shape;232;p49"/>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33" name="Google Shape;233;p49"/>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34" name="Google Shape;234;p49"/>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35" name="Google Shape;235;p49"/>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36" name="Google Shape;236;p49"/>
          <p:cNvSpPr txBox="1"/>
          <p:nvPr>
            <p:ph idx="3" type="body"/>
          </p:nvPr>
        </p:nvSpPr>
        <p:spPr>
          <a:xfrm>
            <a:off x="1714500" y="8905875"/>
            <a:ext cx="15430500" cy="4572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37" name="Google Shape;237;p49"/>
          <p:cNvSpPr/>
          <p:nvPr>
            <p:ph idx="4" type="chart"/>
          </p:nvPr>
        </p:nvSpPr>
        <p:spPr>
          <a:xfrm>
            <a:off x="2095500" y="3619500"/>
            <a:ext cx="14097000" cy="5381625"/>
          </a:xfrm>
          <a:prstGeom prst="rect">
            <a:avLst/>
          </a:prstGeom>
          <a:noFill/>
          <a:ln>
            <a:noFill/>
          </a:ln>
        </p:spPr>
        <p:txBody>
          <a:bodyPr anchorCtr="0" anchor="ctr" bIns="45700" lIns="254000" spcFirstLastPara="1" rIns="254000" wrap="square" tIns="4570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آلية العمل">
  <p:cSld name="آلية العمل">
    <p:bg>
      <p:bgPr>
        <a:solidFill>
          <a:srgbClr val="12183F"/>
        </a:solidFill>
      </p:bgPr>
    </p:bg>
    <p:spTree>
      <p:nvGrpSpPr>
        <p:cNvPr id="238" name="Shape 238"/>
        <p:cNvGrpSpPr/>
        <p:nvPr/>
      </p:nvGrpSpPr>
      <p:grpSpPr>
        <a:xfrm>
          <a:off x="0" y="0"/>
          <a:ext cx="0" cy="0"/>
          <a:chOff x="0" y="0"/>
          <a:chExt cx="0" cy="0"/>
        </a:xfrm>
      </p:grpSpPr>
      <p:pic>
        <p:nvPicPr>
          <p:cNvPr id="239" name="Google Shape;239;p50"/>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40" name="Google Shape;240;p50"/>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41" name="Google Shape;241;p50"/>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2" name="Google Shape;242;p50"/>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3" name="Google Shape;243;p50"/>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4" name="Google Shape;244;p50"/>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45" name="Google Shape;245;p50"/>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46" name="Google Shape;246;p50"/>
          <p:cNvSpPr txBox="1"/>
          <p:nvPr>
            <p:ph idx="3" type="body"/>
          </p:nvPr>
        </p:nvSpPr>
        <p:spPr>
          <a:xfrm>
            <a:off x="13716000" y="4333875"/>
            <a:ext cx="3429000" cy="3714750"/>
          </a:xfrm>
          <a:prstGeom prst="rect">
            <a:avLst/>
          </a:prstGeom>
          <a:solidFill>
            <a:srgbClr val="161D48"/>
          </a:solidFill>
          <a:ln cap="flat" cmpd="sng" w="11425">
            <a:solidFill>
              <a:srgbClr val="323D68"/>
            </a:solidFill>
            <a:prstDash val="solid"/>
            <a:round/>
            <a:headEnd len="sm" w="sm" type="none"/>
            <a:tailEnd len="sm" w="sm" type="none"/>
          </a:ln>
        </p:spPr>
        <p:txBody>
          <a:bodyPr anchorCtr="0" anchor="t" bIns="238125" lIns="266700" spcFirstLastPara="1" rIns="266700" wrap="square" tIns="238125">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7" name="Google Shape;247;p50"/>
          <p:cNvSpPr txBox="1"/>
          <p:nvPr>
            <p:ph idx="4" type="body"/>
          </p:nvPr>
        </p:nvSpPr>
        <p:spPr>
          <a:xfrm>
            <a:off x="9715500" y="4333875"/>
            <a:ext cx="3429000" cy="3714750"/>
          </a:xfrm>
          <a:prstGeom prst="rect">
            <a:avLst/>
          </a:prstGeom>
          <a:solidFill>
            <a:srgbClr val="161D48"/>
          </a:solidFill>
          <a:ln cap="flat" cmpd="sng" w="11425">
            <a:solidFill>
              <a:srgbClr val="323D68"/>
            </a:solidFill>
            <a:prstDash val="solid"/>
            <a:round/>
            <a:headEnd len="sm" w="sm" type="none"/>
            <a:tailEnd len="sm" w="sm" type="none"/>
          </a:ln>
        </p:spPr>
        <p:txBody>
          <a:bodyPr anchorCtr="0" anchor="t" bIns="238125" lIns="266700" spcFirstLastPara="1" rIns="266700" wrap="square" tIns="238125">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8" name="Google Shape;248;p50"/>
          <p:cNvSpPr txBox="1"/>
          <p:nvPr>
            <p:ph idx="5" type="body"/>
          </p:nvPr>
        </p:nvSpPr>
        <p:spPr>
          <a:xfrm>
            <a:off x="5715000" y="4333875"/>
            <a:ext cx="3429000" cy="3714750"/>
          </a:xfrm>
          <a:prstGeom prst="rect">
            <a:avLst/>
          </a:prstGeom>
          <a:solidFill>
            <a:srgbClr val="161D48"/>
          </a:solidFill>
          <a:ln cap="flat" cmpd="sng" w="11425">
            <a:solidFill>
              <a:srgbClr val="323D68"/>
            </a:solidFill>
            <a:prstDash val="solid"/>
            <a:round/>
            <a:headEnd len="sm" w="sm" type="none"/>
            <a:tailEnd len="sm" w="sm" type="none"/>
          </a:ln>
        </p:spPr>
        <p:txBody>
          <a:bodyPr anchorCtr="0" anchor="t" bIns="238125" lIns="266700" spcFirstLastPara="1" rIns="266700" wrap="square" tIns="238125">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49" name="Google Shape;249;p50"/>
          <p:cNvSpPr txBox="1"/>
          <p:nvPr>
            <p:ph idx="6" type="body"/>
          </p:nvPr>
        </p:nvSpPr>
        <p:spPr>
          <a:xfrm>
            <a:off x="1714500" y="4333875"/>
            <a:ext cx="3429000" cy="3714750"/>
          </a:xfrm>
          <a:prstGeom prst="rect">
            <a:avLst/>
          </a:prstGeom>
          <a:solidFill>
            <a:srgbClr val="161D48"/>
          </a:solidFill>
          <a:ln cap="flat" cmpd="sng" w="11425">
            <a:solidFill>
              <a:srgbClr val="323D68"/>
            </a:solidFill>
            <a:prstDash val="solid"/>
            <a:round/>
            <a:headEnd len="sm" w="sm" type="none"/>
            <a:tailEnd len="sm" w="sm" type="none"/>
          </a:ln>
        </p:spPr>
        <p:txBody>
          <a:bodyPr anchorCtr="0" anchor="t" bIns="238125" lIns="266700" spcFirstLastPara="1" rIns="266700" wrap="square" tIns="238125">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صورة كبيرة">
  <p:cSld name="صورة كبيرة">
    <p:bg>
      <p:bgPr>
        <a:solidFill>
          <a:srgbClr val="12183F"/>
        </a:solidFill>
      </p:bgPr>
    </p:bg>
    <p:spTree>
      <p:nvGrpSpPr>
        <p:cNvPr id="250" name="Shape 250"/>
        <p:cNvGrpSpPr/>
        <p:nvPr/>
      </p:nvGrpSpPr>
      <p:grpSpPr>
        <a:xfrm>
          <a:off x="0" y="0"/>
          <a:ext cx="0" cy="0"/>
          <a:chOff x="0" y="0"/>
          <a:chExt cx="0" cy="0"/>
        </a:xfrm>
      </p:grpSpPr>
      <p:pic>
        <p:nvPicPr>
          <p:cNvPr id="251" name="Google Shape;251;p51"/>
          <p:cNvPicPr preferRelativeResize="0"/>
          <p:nvPr/>
        </p:nvPicPr>
        <p:blipFill rotWithShape="1">
          <a:blip r:embed="rId2">
            <a:alphaModFix/>
          </a:blip>
          <a:srcRect b="0" l="0" r="0" t="0"/>
          <a:stretch/>
        </p:blipFill>
        <p:spPr>
          <a:xfrm>
            <a:off x="0" y="0"/>
            <a:ext cx="18288000" cy="10287000"/>
          </a:xfrm>
          <a:prstGeom prst="rect">
            <a:avLst/>
          </a:prstGeom>
          <a:noFill/>
          <a:ln>
            <a:noFill/>
          </a:ln>
        </p:spPr>
      </p:pic>
      <p:sp>
        <p:nvSpPr>
          <p:cNvPr id="252" name="Google Shape;252;p51"/>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53" name="Google Shape;253;p5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54" name="Google Shape;254;p51"/>
          <p:cNvSpPr/>
          <p:nvPr>
            <p:ph idx="2" type="pic"/>
          </p:nvPr>
        </p:nvSpPr>
        <p:spPr>
          <a:xfrm>
            <a:off x="1047750" y="666750"/>
            <a:ext cx="16192500" cy="6953250"/>
          </a:xfrm>
          <a:prstGeom prst="rect">
            <a:avLst/>
          </a:prstGeom>
          <a:solidFill>
            <a:srgbClr val="161D48"/>
          </a:solidFill>
          <a:ln cap="flat" cmpd="sng" w="11425">
            <a:solidFill>
              <a:srgbClr val="4A5590"/>
            </a:solidFill>
            <a:prstDash val="solid"/>
            <a:round/>
            <a:headEnd len="sm" w="sm" type="none"/>
            <a:tailEnd len="sm" w="sm" type="none"/>
          </a:ln>
        </p:spPr>
      </p:sp>
      <p:sp>
        <p:nvSpPr>
          <p:cNvPr id="255" name="Google Shape;255;p51"/>
          <p:cNvSpPr txBox="1"/>
          <p:nvPr>
            <p:ph type="title"/>
          </p:nvPr>
        </p:nvSpPr>
        <p:spPr>
          <a:xfrm>
            <a:off x="2190750" y="7962900"/>
            <a:ext cx="14763750" cy="8382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56" name="Google Shape;256;p51"/>
          <p:cNvSpPr txBox="1"/>
          <p:nvPr>
            <p:ph idx="1" type="body"/>
          </p:nvPr>
        </p:nvSpPr>
        <p:spPr>
          <a:xfrm>
            <a:off x="2190750" y="8896350"/>
            <a:ext cx="14763750" cy="4286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معرض الصور">
  <p:cSld name="معرض الصور">
    <p:bg>
      <p:bgPr>
        <a:solidFill>
          <a:srgbClr val="12183F"/>
        </a:solidFill>
      </p:bgPr>
    </p:bg>
    <p:spTree>
      <p:nvGrpSpPr>
        <p:cNvPr id="257" name="Shape 257"/>
        <p:cNvGrpSpPr/>
        <p:nvPr/>
      </p:nvGrpSpPr>
      <p:grpSpPr>
        <a:xfrm>
          <a:off x="0" y="0"/>
          <a:ext cx="0" cy="0"/>
          <a:chOff x="0" y="0"/>
          <a:chExt cx="0" cy="0"/>
        </a:xfrm>
      </p:grpSpPr>
      <p:pic>
        <p:nvPicPr>
          <p:cNvPr id="258" name="Google Shape;258;p52"/>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59" name="Google Shape;259;p52"/>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60" name="Google Shape;260;p52"/>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61" name="Google Shape;261;p52"/>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62" name="Google Shape;262;p52"/>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63" name="Google Shape;263;p52"/>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64" name="Google Shape;264;p52"/>
          <p:cNvSpPr/>
          <p:nvPr>
            <p:ph idx="2" type="pic"/>
          </p:nvPr>
        </p:nvSpPr>
        <p:spPr>
          <a:xfrm>
            <a:off x="12382500" y="3714750"/>
            <a:ext cx="4762500" cy="4286250"/>
          </a:xfrm>
          <a:prstGeom prst="rect">
            <a:avLst/>
          </a:prstGeom>
          <a:solidFill>
            <a:srgbClr val="161D48"/>
          </a:solidFill>
          <a:ln cap="flat" cmpd="sng" w="11425">
            <a:solidFill>
              <a:srgbClr val="4A5590"/>
            </a:solidFill>
            <a:prstDash val="solid"/>
            <a:round/>
            <a:headEnd len="sm" w="sm" type="none"/>
            <a:tailEnd len="sm" w="sm" type="none"/>
          </a:ln>
        </p:spPr>
      </p:sp>
      <p:sp>
        <p:nvSpPr>
          <p:cNvPr id="265" name="Google Shape;265;p52"/>
          <p:cNvSpPr txBox="1"/>
          <p:nvPr>
            <p:ph idx="3" type="body"/>
          </p:nvPr>
        </p:nvSpPr>
        <p:spPr>
          <a:xfrm>
            <a:off x="12382500" y="8334375"/>
            <a:ext cx="4762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66" name="Google Shape;266;p52"/>
          <p:cNvSpPr/>
          <p:nvPr>
            <p:ph idx="4" type="pic"/>
          </p:nvPr>
        </p:nvSpPr>
        <p:spPr>
          <a:xfrm>
            <a:off x="7048500" y="3714750"/>
            <a:ext cx="4762500" cy="4286250"/>
          </a:xfrm>
          <a:prstGeom prst="rect">
            <a:avLst/>
          </a:prstGeom>
          <a:solidFill>
            <a:srgbClr val="161D48"/>
          </a:solidFill>
          <a:ln cap="flat" cmpd="sng" w="11425">
            <a:solidFill>
              <a:srgbClr val="4A5590"/>
            </a:solidFill>
            <a:prstDash val="solid"/>
            <a:round/>
            <a:headEnd len="sm" w="sm" type="none"/>
            <a:tailEnd len="sm" w="sm" type="none"/>
          </a:ln>
        </p:spPr>
      </p:sp>
      <p:sp>
        <p:nvSpPr>
          <p:cNvPr id="267" name="Google Shape;267;p52"/>
          <p:cNvSpPr txBox="1"/>
          <p:nvPr>
            <p:ph idx="5" type="body"/>
          </p:nvPr>
        </p:nvSpPr>
        <p:spPr>
          <a:xfrm>
            <a:off x="7048500" y="8334375"/>
            <a:ext cx="4762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68" name="Google Shape;268;p52"/>
          <p:cNvSpPr/>
          <p:nvPr>
            <p:ph idx="6" type="pic"/>
          </p:nvPr>
        </p:nvSpPr>
        <p:spPr>
          <a:xfrm>
            <a:off x="1714500" y="3714750"/>
            <a:ext cx="4762500" cy="4286250"/>
          </a:xfrm>
          <a:prstGeom prst="rect">
            <a:avLst/>
          </a:prstGeom>
          <a:solidFill>
            <a:srgbClr val="161D48"/>
          </a:solidFill>
          <a:ln cap="flat" cmpd="sng" w="11425">
            <a:solidFill>
              <a:srgbClr val="4A5590"/>
            </a:solidFill>
            <a:prstDash val="solid"/>
            <a:round/>
            <a:headEnd len="sm" w="sm" type="none"/>
            <a:tailEnd len="sm" w="sm" type="none"/>
          </a:ln>
        </p:spPr>
      </p:sp>
      <p:sp>
        <p:nvSpPr>
          <p:cNvPr id="269" name="Google Shape;269;p52"/>
          <p:cNvSpPr txBox="1"/>
          <p:nvPr>
            <p:ph idx="7" type="body"/>
          </p:nvPr>
        </p:nvSpPr>
        <p:spPr>
          <a:xfrm>
            <a:off x="1714500" y="8334375"/>
            <a:ext cx="4762500" cy="61912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أيقونات الهوية">
  <p:cSld name="أيقونات الهوية">
    <p:bg>
      <p:bgPr>
        <a:solidFill>
          <a:srgbClr val="12183F"/>
        </a:solidFill>
      </p:bgPr>
    </p:bg>
    <p:spTree>
      <p:nvGrpSpPr>
        <p:cNvPr id="270" name="Shape 270"/>
        <p:cNvGrpSpPr/>
        <p:nvPr/>
      </p:nvGrpSpPr>
      <p:grpSpPr>
        <a:xfrm>
          <a:off x="0" y="0"/>
          <a:ext cx="0" cy="0"/>
          <a:chOff x="0" y="0"/>
          <a:chExt cx="0" cy="0"/>
        </a:xfrm>
      </p:grpSpPr>
      <p:pic>
        <p:nvPicPr>
          <p:cNvPr id="271" name="Google Shape;271;p53"/>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72" name="Google Shape;272;p53"/>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73" name="Google Shape;273;p53"/>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74" name="Google Shape;274;p53"/>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75" name="Google Shape;275;p53"/>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76" name="Google Shape;276;p53"/>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77" name="Google Shape;277;p53"/>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78" name="Google Shape;278;p53"/>
          <p:cNvSpPr txBox="1"/>
          <p:nvPr>
            <p:ph idx="3" type="body"/>
          </p:nvPr>
        </p:nvSpPr>
        <p:spPr>
          <a:xfrm>
            <a:off x="13716000" y="6048375"/>
            <a:ext cx="352425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79" name="Google Shape;279;p53"/>
          <p:cNvSpPr txBox="1"/>
          <p:nvPr>
            <p:ph idx="4" type="body"/>
          </p:nvPr>
        </p:nvSpPr>
        <p:spPr>
          <a:xfrm>
            <a:off x="13716000" y="7162800"/>
            <a:ext cx="3524250" cy="11715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0" name="Google Shape;280;p53"/>
          <p:cNvSpPr txBox="1"/>
          <p:nvPr>
            <p:ph idx="5" type="body"/>
          </p:nvPr>
        </p:nvSpPr>
        <p:spPr>
          <a:xfrm>
            <a:off x="9715500" y="6048375"/>
            <a:ext cx="352425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1" name="Google Shape;281;p53"/>
          <p:cNvSpPr txBox="1"/>
          <p:nvPr>
            <p:ph idx="6" type="body"/>
          </p:nvPr>
        </p:nvSpPr>
        <p:spPr>
          <a:xfrm>
            <a:off x="9715500" y="7162800"/>
            <a:ext cx="3524250" cy="11715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2" name="Google Shape;282;p53"/>
          <p:cNvSpPr txBox="1"/>
          <p:nvPr>
            <p:ph idx="7" type="body"/>
          </p:nvPr>
        </p:nvSpPr>
        <p:spPr>
          <a:xfrm>
            <a:off x="5715000" y="6048375"/>
            <a:ext cx="352425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3" name="Google Shape;283;p53"/>
          <p:cNvSpPr txBox="1"/>
          <p:nvPr>
            <p:ph idx="8" type="body"/>
          </p:nvPr>
        </p:nvSpPr>
        <p:spPr>
          <a:xfrm>
            <a:off x="5715000" y="7162800"/>
            <a:ext cx="3524250" cy="11715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4" name="Google Shape;284;p53"/>
          <p:cNvSpPr txBox="1"/>
          <p:nvPr>
            <p:ph idx="9" type="body"/>
          </p:nvPr>
        </p:nvSpPr>
        <p:spPr>
          <a:xfrm>
            <a:off x="1714500" y="6048375"/>
            <a:ext cx="352425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85" name="Google Shape;285;p53"/>
          <p:cNvSpPr txBox="1"/>
          <p:nvPr>
            <p:ph idx="13" type="body"/>
          </p:nvPr>
        </p:nvSpPr>
        <p:spPr>
          <a:xfrm>
            <a:off x="1714500" y="7162800"/>
            <a:ext cx="3524250" cy="1171575"/>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مقارنة خيارين">
  <p:cSld name="مقارنة خيارين">
    <p:bg>
      <p:bgPr>
        <a:solidFill>
          <a:srgbClr val="12183F"/>
        </a:solidFill>
      </p:bgPr>
    </p:bg>
    <p:spTree>
      <p:nvGrpSpPr>
        <p:cNvPr id="286" name="Shape 286"/>
        <p:cNvGrpSpPr/>
        <p:nvPr/>
      </p:nvGrpSpPr>
      <p:grpSpPr>
        <a:xfrm>
          <a:off x="0" y="0"/>
          <a:ext cx="0" cy="0"/>
          <a:chOff x="0" y="0"/>
          <a:chExt cx="0" cy="0"/>
        </a:xfrm>
      </p:grpSpPr>
      <p:pic>
        <p:nvPicPr>
          <p:cNvPr id="287" name="Google Shape;287;p54"/>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288" name="Google Shape;288;p54"/>
          <p:cNvPicPr preferRelativeResize="0"/>
          <p:nvPr/>
        </p:nvPicPr>
        <p:blipFill rotWithShape="1">
          <a:blip r:embed="rId3">
            <a:alphaModFix/>
          </a:blip>
          <a:srcRect b="0" l="0" r="0" t="0"/>
          <a:stretch/>
        </p:blipFill>
        <p:spPr>
          <a:xfrm>
            <a:off x="1066800" y="693967"/>
            <a:ext cx="3429000" cy="879016"/>
          </a:xfrm>
          <a:prstGeom prst="rect">
            <a:avLst/>
          </a:prstGeom>
          <a:noFill/>
          <a:ln>
            <a:noFill/>
          </a:ln>
        </p:spPr>
      </p:pic>
      <p:sp>
        <p:nvSpPr>
          <p:cNvPr id="289" name="Google Shape;289;p54"/>
          <p:cNvSpPr txBox="1"/>
          <p:nvPr>
            <p:ph idx="1" type="body"/>
          </p:nvPr>
        </p:nvSpPr>
        <p:spPr>
          <a:xfrm>
            <a:off x="10668000" y="1028700"/>
            <a:ext cx="6477000" cy="4191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0" name="Google Shape;290;p54"/>
          <p:cNvSpPr txBox="1"/>
          <p:nvPr>
            <p:ph type="title"/>
          </p:nvPr>
        </p:nvSpPr>
        <p:spPr>
          <a:xfrm>
            <a:off x="1714500" y="1809750"/>
            <a:ext cx="15430500" cy="95250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1" name="Google Shape;291;p54"/>
          <p:cNvSpPr txBox="1"/>
          <p:nvPr>
            <p:ph idx="2" type="body"/>
          </p:nvPr>
        </p:nvSpPr>
        <p:spPr>
          <a:xfrm>
            <a:off x="1714500" y="2857500"/>
            <a:ext cx="15430500" cy="685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2" name="Google Shape;292;p54"/>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293" name="Google Shape;293;p54"/>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
        <p:nvSpPr>
          <p:cNvPr id="294" name="Google Shape;294;p54"/>
          <p:cNvSpPr txBox="1"/>
          <p:nvPr>
            <p:ph idx="3" type="body"/>
          </p:nvPr>
        </p:nvSpPr>
        <p:spPr>
          <a:xfrm>
            <a:off x="10001250" y="3857625"/>
            <a:ext cx="71437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5" name="Google Shape;295;p54"/>
          <p:cNvSpPr txBox="1"/>
          <p:nvPr>
            <p:ph idx="4" type="body"/>
          </p:nvPr>
        </p:nvSpPr>
        <p:spPr>
          <a:xfrm>
            <a:off x="10001250" y="4562475"/>
            <a:ext cx="71437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6" name="Google Shape;296;p54"/>
          <p:cNvSpPr txBox="1"/>
          <p:nvPr>
            <p:ph idx="5" type="body"/>
          </p:nvPr>
        </p:nvSpPr>
        <p:spPr>
          <a:xfrm>
            <a:off x="1714500" y="3857625"/>
            <a:ext cx="7143750" cy="5905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7" name="Google Shape;297;p54"/>
          <p:cNvSpPr txBox="1"/>
          <p:nvPr>
            <p:ph idx="6" type="body"/>
          </p:nvPr>
        </p:nvSpPr>
        <p:spPr>
          <a:xfrm>
            <a:off x="1714500" y="4562475"/>
            <a:ext cx="7143750" cy="106680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8" name="Google Shape;298;p54"/>
          <p:cNvSpPr txBox="1"/>
          <p:nvPr>
            <p:ph idx="7" type="body"/>
          </p:nvPr>
        </p:nvSpPr>
        <p:spPr>
          <a:xfrm>
            <a:off x="10001250" y="5905500"/>
            <a:ext cx="7143750" cy="29527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299" name="Google Shape;299;p54"/>
          <p:cNvSpPr txBox="1"/>
          <p:nvPr>
            <p:ph idx="8" type="body"/>
          </p:nvPr>
        </p:nvSpPr>
        <p:spPr>
          <a:xfrm>
            <a:off x="1714500" y="5905500"/>
            <a:ext cx="7143750" cy="29527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فارغة داكنة">
  <p:cSld name="فارغة داكنة">
    <p:bg>
      <p:bgPr>
        <a:solidFill>
          <a:srgbClr val="12183F"/>
        </a:solidFill>
      </p:bgPr>
    </p:bg>
    <p:spTree>
      <p:nvGrpSpPr>
        <p:cNvPr id="300" name="Shape 300"/>
        <p:cNvGrpSpPr/>
        <p:nvPr/>
      </p:nvGrpSpPr>
      <p:grpSpPr>
        <a:xfrm>
          <a:off x="0" y="0"/>
          <a:ext cx="0" cy="0"/>
          <a:chOff x="0" y="0"/>
          <a:chExt cx="0" cy="0"/>
        </a:xfrm>
      </p:grpSpPr>
      <p:pic>
        <p:nvPicPr>
          <p:cNvPr id="301" name="Google Shape;301;p55"/>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302" name="Google Shape;302;p55"/>
          <p:cNvPicPr preferRelativeResize="0"/>
          <p:nvPr/>
        </p:nvPicPr>
        <p:blipFill rotWithShape="1">
          <a:blip r:embed="rId3">
            <a:alphaModFix/>
          </a:blip>
          <a:srcRect b="0" l="0" r="0" t="0"/>
          <a:stretch/>
        </p:blipFill>
        <p:spPr>
          <a:xfrm>
            <a:off x="1066800" y="722542"/>
            <a:ext cx="3429000" cy="879016"/>
          </a:xfrm>
          <a:prstGeom prst="rect">
            <a:avLst/>
          </a:prstGeom>
          <a:noFill/>
          <a:ln>
            <a:noFill/>
          </a:ln>
        </p:spPr>
      </p:pic>
      <p:sp>
        <p:nvSpPr>
          <p:cNvPr id="303" name="Google Shape;303;p55"/>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sp>
        <p:nvSpPr>
          <p:cNvPr id="304" name="Google Shape;304;p5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8E99CC"/>
                </a:solidFill>
                <a:latin typeface="Readex Pro"/>
                <a:ea typeface="Readex Pro"/>
                <a:cs typeface="Readex Pro"/>
                <a:sym typeface="Readex Pro"/>
              </a:defRPr>
            </a:lvl1pPr>
            <a:lvl2pPr indent="0" lvl="1" marL="0" marR="0" rtl="0" algn="l">
              <a:spcBef>
                <a:spcPts val="0"/>
              </a:spcBef>
              <a:buNone/>
              <a:defRPr b="0" sz="1800">
                <a:solidFill>
                  <a:srgbClr val="8E99CC"/>
                </a:solidFill>
                <a:latin typeface="Readex Pro"/>
                <a:ea typeface="Readex Pro"/>
                <a:cs typeface="Readex Pro"/>
                <a:sym typeface="Readex Pro"/>
              </a:defRPr>
            </a:lvl2pPr>
            <a:lvl3pPr indent="0" lvl="2" marL="0" marR="0" rtl="0" algn="l">
              <a:spcBef>
                <a:spcPts val="0"/>
              </a:spcBef>
              <a:buNone/>
              <a:defRPr b="0" sz="1800">
                <a:solidFill>
                  <a:srgbClr val="8E99CC"/>
                </a:solidFill>
                <a:latin typeface="Readex Pro"/>
                <a:ea typeface="Readex Pro"/>
                <a:cs typeface="Readex Pro"/>
                <a:sym typeface="Readex Pro"/>
              </a:defRPr>
            </a:lvl3pPr>
            <a:lvl4pPr indent="0" lvl="3" marL="0" marR="0" rtl="0" algn="l">
              <a:spcBef>
                <a:spcPts val="0"/>
              </a:spcBef>
              <a:buNone/>
              <a:defRPr b="0" sz="1800">
                <a:solidFill>
                  <a:srgbClr val="8E99CC"/>
                </a:solidFill>
                <a:latin typeface="Readex Pro"/>
                <a:ea typeface="Readex Pro"/>
                <a:cs typeface="Readex Pro"/>
                <a:sym typeface="Readex Pro"/>
              </a:defRPr>
            </a:lvl4pPr>
            <a:lvl5pPr indent="0" lvl="4" marL="0" marR="0" rtl="0" algn="l">
              <a:spcBef>
                <a:spcPts val="0"/>
              </a:spcBef>
              <a:buNone/>
              <a:defRPr b="0" sz="1800">
                <a:solidFill>
                  <a:srgbClr val="8E99CC"/>
                </a:solidFill>
                <a:latin typeface="Readex Pro"/>
                <a:ea typeface="Readex Pro"/>
                <a:cs typeface="Readex Pro"/>
                <a:sym typeface="Readex Pro"/>
              </a:defRPr>
            </a:lvl5pPr>
            <a:lvl6pPr indent="0" lvl="5" marL="0" marR="0" rtl="0" algn="l">
              <a:spcBef>
                <a:spcPts val="0"/>
              </a:spcBef>
              <a:buNone/>
              <a:defRPr b="0" sz="1800">
                <a:solidFill>
                  <a:srgbClr val="8E99CC"/>
                </a:solidFill>
                <a:latin typeface="Readex Pro"/>
                <a:ea typeface="Readex Pro"/>
                <a:cs typeface="Readex Pro"/>
                <a:sym typeface="Readex Pro"/>
              </a:defRPr>
            </a:lvl6pPr>
            <a:lvl7pPr indent="0" lvl="6" marL="0" marR="0" rtl="0" algn="l">
              <a:spcBef>
                <a:spcPts val="0"/>
              </a:spcBef>
              <a:buNone/>
              <a:defRPr b="0" sz="1800">
                <a:solidFill>
                  <a:srgbClr val="8E99CC"/>
                </a:solidFill>
                <a:latin typeface="Readex Pro"/>
                <a:ea typeface="Readex Pro"/>
                <a:cs typeface="Readex Pro"/>
                <a:sym typeface="Readex Pro"/>
              </a:defRPr>
            </a:lvl7pPr>
            <a:lvl8pPr indent="0" lvl="7" marL="0" marR="0" rtl="0" algn="l">
              <a:spcBef>
                <a:spcPts val="0"/>
              </a:spcBef>
              <a:buNone/>
              <a:defRPr b="0" sz="1800">
                <a:solidFill>
                  <a:srgbClr val="8E99CC"/>
                </a:solidFill>
                <a:latin typeface="Readex Pro"/>
                <a:ea typeface="Readex Pro"/>
                <a:cs typeface="Readex Pro"/>
                <a:sym typeface="Readex Pro"/>
              </a:defRPr>
            </a:lvl8pPr>
            <a:lvl9pPr indent="0" lvl="8" marL="0" marR="0" rtl="0" algn="l">
              <a:spcBef>
                <a:spcPts val="0"/>
              </a:spcBef>
              <a:buNone/>
              <a:defRPr b="0" sz="1800">
                <a:solidFill>
                  <a:srgbClr val="8E99CC"/>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فارغة فاتحة">
  <p:cSld name="فارغة فاتحة">
    <p:bg>
      <p:bgPr>
        <a:solidFill>
          <a:srgbClr val="F2F4FF"/>
        </a:solidFill>
      </p:bgPr>
    </p:bg>
    <p:spTree>
      <p:nvGrpSpPr>
        <p:cNvPr id="305" name="Shape 305"/>
        <p:cNvGrpSpPr/>
        <p:nvPr/>
      </p:nvGrpSpPr>
      <p:grpSpPr>
        <a:xfrm>
          <a:off x="0" y="0"/>
          <a:ext cx="0" cy="0"/>
          <a:chOff x="0" y="0"/>
          <a:chExt cx="0" cy="0"/>
        </a:xfrm>
      </p:grpSpPr>
      <p:pic>
        <p:nvPicPr>
          <p:cNvPr id="306" name="Google Shape;306;p56"/>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307" name="Google Shape;307;p56"/>
          <p:cNvPicPr preferRelativeResize="0"/>
          <p:nvPr/>
        </p:nvPicPr>
        <p:blipFill rotWithShape="1">
          <a:blip r:embed="rId3">
            <a:alphaModFix/>
          </a:blip>
          <a:srcRect b="0" l="0" r="0" t="0"/>
          <a:stretch/>
        </p:blipFill>
        <p:spPr>
          <a:xfrm>
            <a:off x="1245010" y="685800"/>
            <a:ext cx="3072581" cy="952500"/>
          </a:xfrm>
          <a:prstGeom prst="rect">
            <a:avLst/>
          </a:prstGeom>
          <a:noFill/>
          <a:ln>
            <a:noFill/>
          </a:ln>
        </p:spPr>
      </p:pic>
      <p:sp>
        <p:nvSpPr>
          <p:cNvPr id="308" name="Google Shape;308;p56"/>
          <p:cNvSpPr/>
          <p:nvPr/>
        </p:nvSpPr>
        <p:spPr>
          <a:xfrm>
            <a:off x="8001000" y="9467850"/>
            <a:ext cx="9144000" cy="40005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4A5590"/>
                </a:solidFill>
                <a:latin typeface="Readex Pro"/>
                <a:ea typeface="Readex Pro"/>
                <a:cs typeface="Readex Pro"/>
                <a:sym typeface="Readex Pro"/>
              </a:rPr>
              <a:t>تحدي الذكاء الاصطناعي في خدمة المحتوى الإسلامي</a:t>
            </a:r>
            <a:endParaRPr/>
          </a:p>
        </p:txBody>
      </p:sp>
      <p:sp>
        <p:nvSpPr>
          <p:cNvPr id="309" name="Google Shape;309;p56"/>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lvl1pPr indent="0" lvl="0" marL="0" marR="0" rtl="0" algn="l">
              <a:spcBef>
                <a:spcPts val="0"/>
              </a:spcBef>
              <a:buNone/>
              <a:defRPr b="0" sz="1800">
                <a:solidFill>
                  <a:srgbClr val="4A5590"/>
                </a:solidFill>
                <a:latin typeface="Readex Pro"/>
                <a:ea typeface="Readex Pro"/>
                <a:cs typeface="Readex Pro"/>
                <a:sym typeface="Readex Pro"/>
              </a:defRPr>
            </a:lvl1pPr>
            <a:lvl2pPr indent="0" lvl="1" marL="0" marR="0" rtl="0" algn="l">
              <a:spcBef>
                <a:spcPts val="0"/>
              </a:spcBef>
              <a:buNone/>
              <a:defRPr b="0" sz="1800">
                <a:solidFill>
                  <a:srgbClr val="4A5590"/>
                </a:solidFill>
                <a:latin typeface="Readex Pro"/>
                <a:ea typeface="Readex Pro"/>
                <a:cs typeface="Readex Pro"/>
                <a:sym typeface="Readex Pro"/>
              </a:defRPr>
            </a:lvl2pPr>
            <a:lvl3pPr indent="0" lvl="2" marL="0" marR="0" rtl="0" algn="l">
              <a:spcBef>
                <a:spcPts val="0"/>
              </a:spcBef>
              <a:buNone/>
              <a:defRPr b="0" sz="1800">
                <a:solidFill>
                  <a:srgbClr val="4A5590"/>
                </a:solidFill>
                <a:latin typeface="Readex Pro"/>
                <a:ea typeface="Readex Pro"/>
                <a:cs typeface="Readex Pro"/>
                <a:sym typeface="Readex Pro"/>
              </a:defRPr>
            </a:lvl3pPr>
            <a:lvl4pPr indent="0" lvl="3" marL="0" marR="0" rtl="0" algn="l">
              <a:spcBef>
                <a:spcPts val="0"/>
              </a:spcBef>
              <a:buNone/>
              <a:defRPr b="0" sz="1800">
                <a:solidFill>
                  <a:srgbClr val="4A5590"/>
                </a:solidFill>
                <a:latin typeface="Readex Pro"/>
                <a:ea typeface="Readex Pro"/>
                <a:cs typeface="Readex Pro"/>
                <a:sym typeface="Readex Pro"/>
              </a:defRPr>
            </a:lvl4pPr>
            <a:lvl5pPr indent="0" lvl="4" marL="0" marR="0" rtl="0" algn="l">
              <a:spcBef>
                <a:spcPts val="0"/>
              </a:spcBef>
              <a:buNone/>
              <a:defRPr b="0" sz="1800">
                <a:solidFill>
                  <a:srgbClr val="4A5590"/>
                </a:solidFill>
                <a:latin typeface="Readex Pro"/>
                <a:ea typeface="Readex Pro"/>
                <a:cs typeface="Readex Pro"/>
                <a:sym typeface="Readex Pro"/>
              </a:defRPr>
            </a:lvl5pPr>
            <a:lvl6pPr indent="0" lvl="5" marL="0" marR="0" rtl="0" algn="l">
              <a:spcBef>
                <a:spcPts val="0"/>
              </a:spcBef>
              <a:buNone/>
              <a:defRPr b="0" sz="1800">
                <a:solidFill>
                  <a:srgbClr val="4A5590"/>
                </a:solidFill>
                <a:latin typeface="Readex Pro"/>
                <a:ea typeface="Readex Pro"/>
                <a:cs typeface="Readex Pro"/>
                <a:sym typeface="Readex Pro"/>
              </a:defRPr>
            </a:lvl6pPr>
            <a:lvl7pPr indent="0" lvl="6" marL="0" marR="0" rtl="0" algn="l">
              <a:spcBef>
                <a:spcPts val="0"/>
              </a:spcBef>
              <a:buNone/>
              <a:defRPr b="0" sz="1800">
                <a:solidFill>
                  <a:srgbClr val="4A5590"/>
                </a:solidFill>
                <a:latin typeface="Readex Pro"/>
                <a:ea typeface="Readex Pro"/>
                <a:cs typeface="Readex Pro"/>
                <a:sym typeface="Readex Pro"/>
              </a:defRPr>
            </a:lvl7pPr>
            <a:lvl8pPr indent="0" lvl="7" marL="0" marR="0" rtl="0" algn="l">
              <a:spcBef>
                <a:spcPts val="0"/>
              </a:spcBef>
              <a:buNone/>
              <a:defRPr b="0" sz="1800">
                <a:solidFill>
                  <a:srgbClr val="4A5590"/>
                </a:solidFill>
                <a:latin typeface="Readex Pro"/>
                <a:ea typeface="Readex Pro"/>
                <a:cs typeface="Readex Pro"/>
                <a:sym typeface="Readex Pro"/>
              </a:defRPr>
            </a:lvl8pPr>
            <a:lvl9pPr indent="0" lvl="8" marL="0" marR="0" rtl="0" algn="l">
              <a:spcBef>
                <a:spcPts val="0"/>
              </a:spcBef>
              <a:buNone/>
              <a:defRPr b="0" sz="1800">
                <a:solidFill>
                  <a:srgbClr val="4A5590"/>
                </a:solidFill>
                <a:latin typeface="Readex Pro"/>
                <a:ea typeface="Readex Pro"/>
                <a:cs typeface="Readex Pro"/>
                <a:sym typeface="Readex Pro"/>
              </a:defRPr>
            </a:lvl9pPr>
          </a:lstStyle>
          <a:p>
            <a:pPr indent="0" lvl="0" marL="0" rtl="0" algn="l">
              <a:spcBef>
                <a:spcPts val="0"/>
              </a:spcBef>
              <a:spcAft>
                <a:spcPts val="0"/>
              </a:spcAft>
              <a:buNone/>
            </a:pPr>
            <a:fld id="{00000000-1234-1234-1234-123412341234}" type="slidenum">
              <a:rPr lang="ar-SA"/>
              <a:t>‹#›</a:t>
            </a:fld>
            <a:endParaRPr sz="1400">
              <a:solidFill>
                <a:srgbClr val="000000"/>
              </a:solidFill>
              <a:latin typeface="Arial"/>
              <a:ea typeface="Arial"/>
              <a:cs typeface="Arial"/>
              <a:sym typeface="Arial"/>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ختام العرض">
  <p:cSld name="ختام العرض">
    <p:bg>
      <p:bgPr>
        <a:solidFill>
          <a:srgbClr val="12183F"/>
        </a:solidFill>
      </p:bgPr>
    </p:bg>
    <p:spTree>
      <p:nvGrpSpPr>
        <p:cNvPr id="310" name="Shape 310"/>
        <p:cNvGrpSpPr/>
        <p:nvPr/>
      </p:nvGrpSpPr>
      <p:grpSpPr>
        <a:xfrm>
          <a:off x="0" y="0"/>
          <a:ext cx="0" cy="0"/>
          <a:chOff x="0" y="0"/>
          <a:chExt cx="0" cy="0"/>
        </a:xfrm>
      </p:grpSpPr>
      <p:pic>
        <p:nvPicPr>
          <p:cNvPr id="311" name="Google Shape;311;p57"/>
          <p:cNvPicPr preferRelativeResize="0"/>
          <p:nvPr/>
        </p:nvPicPr>
        <p:blipFill rotWithShape="1">
          <a:blip r:embed="rId2">
            <a:alphaModFix/>
          </a:blip>
          <a:srcRect b="0" l="0" r="0" t="0"/>
          <a:stretch/>
        </p:blipFill>
        <p:spPr>
          <a:xfrm>
            <a:off x="0" y="0"/>
            <a:ext cx="18288000" cy="10287000"/>
          </a:xfrm>
          <a:prstGeom prst="rect">
            <a:avLst/>
          </a:prstGeom>
          <a:noFill/>
          <a:ln>
            <a:noFill/>
          </a:ln>
        </p:spPr>
      </p:pic>
      <p:pic>
        <p:nvPicPr>
          <p:cNvPr id="312" name="Google Shape;312;p57"/>
          <p:cNvPicPr preferRelativeResize="0"/>
          <p:nvPr/>
        </p:nvPicPr>
        <p:blipFill rotWithShape="1">
          <a:blip r:embed="rId3">
            <a:alphaModFix/>
          </a:blip>
          <a:srcRect b="0" l="0" r="0" t="0"/>
          <a:stretch/>
        </p:blipFill>
        <p:spPr>
          <a:xfrm>
            <a:off x="5810250" y="1336151"/>
            <a:ext cx="6667500" cy="1709198"/>
          </a:xfrm>
          <a:prstGeom prst="rect">
            <a:avLst/>
          </a:prstGeom>
          <a:noFill/>
          <a:ln>
            <a:noFill/>
          </a:ln>
        </p:spPr>
      </p:pic>
      <p:pic>
        <p:nvPicPr>
          <p:cNvPr id="313" name="Google Shape;313;p57"/>
          <p:cNvPicPr preferRelativeResize="0"/>
          <p:nvPr/>
        </p:nvPicPr>
        <p:blipFill rotWithShape="1">
          <a:blip r:embed="rId4">
            <a:alphaModFix/>
          </a:blip>
          <a:srcRect b="0" l="0" r="0" t="0"/>
          <a:stretch/>
        </p:blipFill>
        <p:spPr>
          <a:xfrm>
            <a:off x="10669485" y="8524875"/>
            <a:ext cx="3045029" cy="1562100"/>
          </a:xfrm>
          <a:prstGeom prst="rect">
            <a:avLst/>
          </a:prstGeom>
          <a:noFill/>
          <a:ln>
            <a:noFill/>
          </a:ln>
        </p:spPr>
      </p:pic>
      <p:pic>
        <p:nvPicPr>
          <p:cNvPr id="314" name="Google Shape;314;p57"/>
          <p:cNvPicPr preferRelativeResize="0"/>
          <p:nvPr/>
        </p:nvPicPr>
        <p:blipFill rotWithShape="1">
          <a:blip r:embed="rId5">
            <a:alphaModFix/>
          </a:blip>
          <a:srcRect b="16000" l="4300" r="69700" t="16000"/>
          <a:stretch/>
        </p:blipFill>
        <p:spPr>
          <a:xfrm>
            <a:off x="4857750" y="8629650"/>
            <a:ext cx="3810000" cy="1476375"/>
          </a:xfrm>
          <a:prstGeom prst="rect">
            <a:avLst/>
          </a:prstGeom>
          <a:noFill/>
          <a:ln>
            <a:noFill/>
          </a:ln>
        </p:spPr>
      </p:pic>
      <p:sp>
        <p:nvSpPr>
          <p:cNvPr id="315" name="Google Shape;315;p57"/>
          <p:cNvSpPr txBox="1"/>
          <p:nvPr>
            <p:ph type="title"/>
          </p:nvPr>
        </p:nvSpPr>
        <p:spPr>
          <a:xfrm>
            <a:off x="3810000" y="4048125"/>
            <a:ext cx="10668000" cy="1428750"/>
          </a:xfrm>
          <a:prstGeom prst="rect">
            <a:avLst/>
          </a:prstGeom>
          <a:noFill/>
          <a:ln>
            <a:noFill/>
          </a:ln>
        </p:spPr>
        <p:txBody>
          <a:bodyPr anchorCtr="0" anchor="t" bIns="0" lIns="0" spcFirstLastPara="1" rIns="0" wrap="square" tIns="0">
            <a:noAutofit/>
          </a:bodyPr>
          <a:lstStyle>
            <a:lvl1pPr lvl="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lvl="1"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lvl="2"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lvl="3"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lvl="4"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lvl="5"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lvl="6"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lvl="7"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lvl="8"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16" name="Google Shape;316;p57"/>
          <p:cNvSpPr txBox="1"/>
          <p:nvPr>
            <p:ph idx="1" type="body"/>
          </p:nvPr>
        </p:nvSpPr>
        <p:spPr>
          <a:xfrm>
            <a:off x="3810000" y="5905500"/>
            <a:ext cx="10668000" cy="7429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
        <p:nvSpPr>
          <p:cNvPr id="317" name="Google Shape;317;p57"/>
          <p:cNvSpPr txBox="1"/>
          <p:nvPr>
            <p:ph idx="2" type="body"/>
          </p:nvPr>
        </p:nvSpPr>
        <p:spPr>
          <a:xfrm>
            <a:off x="3810000" y="7000875"/>
            <a:ext cx="10668000" cy="666750"/>
          </a:xfrm>
          <a:prstGeom prst="rect">
            <a:avLst/>
          </a:prstGeom>
          <a:noFill/>
          <a:ln>
            <a:noFill/>
          </a:ln>
        </p:spPr>
        <p:txBody>
          <a:bodyPr anchorCtr="0" anchor="t" bIns="0" lIns="0" spcFirstLastPara="1" rIns="0" wrap="square" tIns="0">
            <a:noAutofit/>
          </a:bodyPr>
          <a:lstStyle>
            <a:lvl1pPr indent="-228600" lvl="0" marL="4572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1pPr>
            <a:lvl2pPr indent="-228600" lvl="1" marL="914400" marR="0" rtl="1" algn="r">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2pPr>
            <a:lvl3pPr indent="-228600" lvl="2"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3pPr>
            <a:lvl4pPr indent="-228600" lvl="3"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4pPr>
            <a:lvl5pPr indent="-228600" lvl="4"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5pPr>
            <a:lvl6pPr indent="-228600" lvl="5"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6pPr>
            <a:lvl7pPr indent="-228600" lvl="6"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7pPr>
            <a:lvl8pPr indent="-228600" lvl="7"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8pPr>
            <a:lvl9pPr indent="-228600" lvl="8" marL="4114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Readex Pro"/>
                <a:ea typeface="Readex Pro"/>
                <a:cs typeface="Readex Pro"/>
                <a:sym typeface="Readex Pro"/>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theme" Target="../theme/theme1.xml"/><Relationship Id="rId25" Type="http://schemas.openxmlformats.org/officeDocument/2006/relationships/slideLayout" Target="../slideLayouts/slideLayout25.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 name="Shape 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3.png"/><Relationship Id="rId4" Type="http://schemas.openxmlformats.org/officeDocument/2006/relationships/image" Target="../media/image10.png"/><Relationship Id="rId5" Type="http://schemas.openxmlformats.org/officeDocument/2006/relationships/image" Target="../media/image2.png"/><Relationship Id="rId6"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 Id="rId3" Type="http://schemas.openxmlformats.org/officeDocument/2006/relationships/image" Target="../media/image1.png"/><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9.xml"/><Relationship Id="rId2" Type="http://schemas.openxmlformats.org/officeDocument/2006/relationships/notesSlide" Target="../notesSlides/notesSlide15.xml"/><Relationship Id="rId3" Type="http://schemas.openxmlformats.org/officeDocument/2006/relationships/image" Target="../media/image1.png"/><Relationship Id="rId4"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7.xml"/><Relationship Id="rId3" Type="http://schemas.openxmlformats.org/officeDocument/2006/relationships/image" Target="../media/image1.png"/><Relationship Id="rId4"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8.xml"/><Relationship Id="rId3" Type="http://schemas.openxmlformats.org/officeDocument/2006/relationships/image" Target="../media/image1.png"/><Relationship Id="rId4"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9.xml"/><Relationship Id="rId3" Type="http://schemas.openxmlformats.org/officeDocument/2006/relationships/image" Target="../media/image1.png"/><Relationship Id="rId4"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notesSlide" Target="../notesSlides/notesSlide21.xml"/><Relationship Id="rId3" Type="http://schemas.openxmlformats.org/officeDocument/2006/relationships/image" Target="../media/image7.png"/><Relationship Id="rId4" Type="http://schemas.openxmlformats.org/officeDocument/2006/relationships/image" Target="../media/image1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4.xml"/><Relationship Id="rId3" Type="http://schemas.openxmlformats.org/officeDocument/2006/relationships/image" Target="../media/image1.png"/><Relationship Id="rId4" Type="http://schemas.openxmlformats.org/officeDocument/2006/relationships/image" Target="../media/image2.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5.xml"/><Relationship Id="rId3" Type="http://schemas.openxmlformats.org/officeDocument/2006/relationships/image" Target="../media/image1.png"/><Relationship Id="rId4" Type="http://schemas.openxmlformats.org/officeDocument/2006/relationships/image" Target="../media/bidaya_ask.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0.xml"/><Relationship Id="rId2" Type="http://schemas.openxmlformats.org/officeDocument/2006/relationships/notesSlide" Target="../notesSlides/notesSlide26.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bidaya_summary.jpg"/><Relationship Id="rId6" Type="http://schemas.openxmlformats.org/officeDocument/2006/relationships/image" Target="../media/bidaya_person.jpg"/><Relationship Id="rId7" Type="http://schemas.openxmlformats.org/officeDocument/2006/relationships/image" Target="../media/bidaya_phone-a11y.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27.xml"/><Relationship Id="rId3" Type="http://schemas.openxmlformats.org/officeDocument/2006/relationships/image" Target="../media/image1.png"/><Relationship Id="rId4" Type="http://schemas.openxmlformats.org/officeDocument/2006/relationships/image" Target="../media/image2.png"/><Relationship Id="rId5" Type="http://schemas.openxmlformats.org/officeDocument/2006/relationships/image" Target="../media/image23.png"/><Relationship Id="rId6" Type="http://schemas.openxmlformats.org/officeDocument/2006/relationships/image" Target="../media/image15.png"/><Relationship Id="rId7" Type="http://schemas.openxmlformats.org/officeDocument/2006/relationships/image" Target="../media/image16.png"/><Relationship Id="rId8" Type="http://schemas.openxmlformats.org/officeDocument/2006/relationships/image" Target="../media/image24.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28.xml"/><Relationship Id="rId3" Type="http://schemas.openxmlformats.org/officeDocument/2006/relationships/image" Target="../media/image1.png"/><Relationship Id="rId4" Type="http://schemas.openxmlformats.org/officeDocument/2006/relationships/image" Target="../media/image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31.xml"/><Relationship Id="rId3" Type="http://schemas.openxmlformats.org/officeDocument/2006/relationships/image" Target="../media/image4.png"/><Relationship Id="rId4" Type="http://schemas.openxmlformats.org/officeDocument/2006/relationships/image" Target="../media/image2.png"/><Relationship Id="rId9" Type="http://schemas.openxmlformats.org/officeDocument/2006/relationships/image" Target="../media/image19.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25.png"/><Relationship Id="rId8" Type="http://schemas.openxmlformats.org/officeDocument/2006/relationships/image" Target="../media/image22.png"/><Relationship Id="rId10" Type="http://schemas.openxmlformats.org/officeDocument/2006/relationships/image" Target="../media/image20.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5.xml"/><Relationship Id="rId3" Type="http://schemas.openxmlformats.org/officeDocument/2006/relationships/image" Target="../media/image7.png"/><Relationship Id="rId4" Type="http://schemas.openxmlformats.org/officeDocument/2006/relationships/image" Target="../media/image1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9.xml"/><Relationship Id="rId3" Type="http://schemas.openxmlformats.org/officeDocument/2006/relationships/image" Target="../media/image1.png"/><Relationship Id="rId4" Type="http://schemas.openxmlformats.org/officeDocument/2006/relationships/image" Target="../media/bidaya_story.jp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9.xml"/><Relationship Id="rId3" Type="http://schemas.openxmlformats.org/officeDocument/2006/relationships/image" Target="../media/image1.png"/><Relationship Id="rId4" Type="http://schemas.openxmlformats.org/officeDocument/2006/relationships/image" Target="../media/bidaya_verses.jp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5.xml"/><Relationship Id="rId3" Type="http://schemas.openxmlformats.org/officeDocument/2006/relationships/image" Target="../media/image7.png"/><Relationship Id="rId4" Type="http://schemas.openxmlformats.org/officeDocument/2006/relationships/image" Target="../media/image1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9.xml"/><Relationship Id="rId3" Type="http://schemas.openxmlformats.org/officeDocument/2006/relationships/image" Target="../media/image1.png"/><Relationship Id="rId4" Type="http://schemas.openxmlformats.org/officeDocument/2006/relationships/image" Target="../media/bidaya_quiz.jpg"/></Relationships>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483" name="Shape 483"/>
        <p:cNvGrpSpPr/>
        <p:nvPr/>
      </p:nvGrpSpPr>
      <p:grpSpPr>
        <a:xfrm>
          <a:off x="0" y="0"/>
          <a:ext cx="0" cy="0"/>
          <a:chOff x="0" y="0"/>
          <a:chExt cx="0" cy="0"/>
        </a:xfrm>
      </p:grpSpPr>
      <p:pic>
        <p:nvPicPr>
          <p:cNvPr id="484" name="Google Shape;484;p8"/>
          <p:cNvPicPr preferRelativeResize="0"/>
          <p:nvPr/>
        </p:nvPicPr>
        <p:blipFill rotWithShape="1">
          <a:blip r:embed="rId3">
            <a:alphaModFix/>
          </a:blip>
          <a:srcRect b="0" l="0" r="0" t="0"/>
          <a:stretch/>
        </p:blipFill>
        <p:spPr>
          <a:xfrm>
            <a:off x="0" y="0"/>
            <a:ext cx="18288000" cy="10287000"/>
          </a:xfrm>
          <a:prstGeom prst="rect">
            <a:avLst/>
          </a:prstGeom>
          <a:noFill/>
          <a:ln>
            <a:noFill/>
          </a:ln>
        </p:spPr>
      </p:pic>
      <p:pic>
        <p:nvPicPr>
          <p:cNvPr id="485" name="Google Shape;485;p8" title="الصورة الرئيسية.png"/>
          <p:cNvPicPr preferRelativeResize="0"/>
          <p:nvPr/>
        </p:nvPicPr>
        <p:blipFill>
          <a:blip r:embed="rId4">
            <a:alphaModFix/>
          </a:blip>
          <a:stretch>
            <a:fillRect/>
          </a:stretch>
        </p:blipFill>
        <p:spPr>
          <a:xfrm>
            <a:off x="195975" y="1103475"/>
            <a:ext cx="9312476" cy="8603123"/>
          </a:xfrm>
          <a:prstGeom prst="rect">
            <a:avLst/>
          </a:prstGeom>
          <a:noFill/>
          <a:ln>
            <a:noFill/>
          </a:ln>
        </p:spPr>
      </p:pic>
      <p:sp>
        <p:nvSpPr>
          <p:cNvPr id="486" name="Google Shape;486;p8"/>
          <p:cNvSpPr txBox="1"/>
          <p:nvPr>
            <p:ph type="title"/>
          </p:nvPr>
        </p:nvSpPr>
        <p:spPr>
          <a:xfrm>
            <a:off x="7791450" y="3524250"/>
            <a:ext cx="9048900" cy="1333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6450"/>
              <a:buNone/>
            </a:pPr>
            <a:r>
              <a:rPr b="1" lang="ar-SA" sz="6450">
                <a:solidFill>
                  <a:srgbClr val="F2F4FF"/>
                </a:solidFill>
                <a:latin typeface="Readex Pro"/>
                <a:ea typeface="Readex Pro"/>
                <a:cs typeface="Readex Pro"/>
                <a:sym typeface="Readex Pro"/>
              </a:rPr>
              <a:t>بداية</a:t>
            </a:r>
            <a:endParaRPr/>
          </a:p>
        </p:txBody>
      </p:sp>
      <p:sp>
        <p:nvSpPr>
          <p:cNvPr id="487" name="Google Shape;487;p8"/>
          <p:cNvSpPr txBox="1"/>
          <p:nvPr>
            <p:ph idx="1" type="body"/>
          </p:nvPr>
        </p:nvSpPr>
        <p:spPr>
          <a:xfrm>
            <a:off x="7791450" y="5334000"/>
            <a:ext cx="9048900" cy="16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3300"/>
              <a:buNone/>
            </a:pPr>
            <a:r>
              <a:rPr b="0" lang="ar-SA" sz="3300">
                <a:solidFill>
                  <a:srgbClr val="2EF2C2"/>
                </a:solidFill>
                <a:latin typeface="Readex Pro"/>
                <a:ea typeface="Readex Pro"/>
                <a:cs typeface="Readex Pro"/>
                <a:sym typeface="Readex Pro"/>
              </a:rPr>
              <a:t>خريطة تفاعلية مدعومة بالذكاء الاصطناعي تروي سيرة النبي ﷺ في الزمان والمكان، مع مساعد يجيب من المصادر المعتمدة بالعربية والإنجليزية</a:t>
            </a:r>
            <a:endParaRPr/>
          </a:p>
        </p:txBody>
      </p:sp>
      <p:sp>
        <p:nvSpPr>
          <p:cNvPr id="488" name="Google Shape;488;p8"/>
          <p:cNvSpPr/>
          <p:nvPr/>
        </p:nvSpPr>
        <p:spPr>
          <a:xfrm>
            <a:off x="1143000" y="8843963"/>
            <a:ext cx="16002000" cy="9600"/>
          </a:xfrm>
          <a:prstGeom prst="rect">
            <a:avLst/>
          </a:prstGeom>
          <a:solidFill>
            <a:srgbClr val="FFFFFF">
              <a:alpha val="12160"/>
            </a:srgbClr>
          </a:solidFill>
          <a:ln>
            <a:noFill/>
          </a:ln>
        </p:spPr>
        <p:txBody>
          <a:bodyPr anchorCtr="0" anchor="ctr" bIns="91425" lIns="91425" spcFirstLastPara="1" rIns="91425" wrap="square" tIns="91425">
            <a:noAutofit/>
          </a:bodyPr>
          <a:lstStyle/>
          <a:p>
            <a:pPr indent="0" lvl="0" marL="0" rtl="1" algn="r">
              <a:lnSpc>
                <a:spcPct val="115000"/>
              </a:lnSpc>
              <a:spcBef>
                <a:spcPts val="0"/>
              </a:spcBef>
              <a:spcAft>
                <a:spcPts val="0"/>
              </a:spcAft>
              <a:buNone/>
            </a:pPr>
            <a:r>
              <a:t/>
            </a:r>
            <a:endParaRPr/>
          </a:p>
        </p:txBody>
      </p:sp>
      <p:sp>
        <p:nvSpPr>
          <p:cNvPr id="489" name="Google Shape;489;p8"/>
          <p:cNvSpPr/>
          <p:nvPr/>
        </p:nvSpPr>
        <p:spPr>
          <a:xfrm>
            <a:off x="14472130" y="9120188"/>
            <a:ext cx="2358000" cy="347700"/>
          </a:xfrm>
          <a:prstGeom prst="rect">
            <a:avLst/>
          </a:prstGeom>
          <a:noFill/>
          <a:ln>
            <a:noFill/>
          </a:ln>
        </p:spPr>
        <p:txBody>
          <a:bodyPr anchorCtr="0" anchor="ctr" bIns="25400" lIns="25400" spcFirstLastPara="1" rIns="25400" wrap="square" tIns="25400">
            <a:noAutofit/>
          </a:bodyPr>
          <a:lstStyle/>
          <a:p>
            <a:pPr indent="0" lvl="0" marL="0" marR="0" rtl="1" algn="r">
              <a:lnSpc>
                <a:spcPct val="115000"/>
              </a:lnSpc>
              <a:spcBef>
                <a:spcPts val="0"/>
              </a:spcBef>
              <a:spcAft>
                <a:spcPts val="0"/>
              </a:spcAft>
              <a:buClr>
                <a:srgbClr val="8E99CC"/>
              </a:buClr>
              <a:buSzPts val="1950"/>
              <a:buFont typeface="Readex Pro"/>
              <a:buNone/>
            </a:pPr>
            <a:r>
              <a:rPr lang="ar-SA" sz="1950">
                <a:solidFill>
                  <a:srgbClr val="8E99CC"/>
                </a:solidFill>
                <a:latin typeface="Readex Pro Light"/>
                <a:ea typeface="Readex Pro Light"/>
                <a:cs typeface="Readex Pro Light"/>
                <a:sym typeface="Readex Pro Light"/>
              </a:rPr>
              <a:t>فريق بداية</a:t>
            </a:r>
            <a:endParaRPr i="0" sz="1950" u="none" cap="none" strike="noStrike">
              <a:solidFill>
                <a:srgbClr val="000000"/>
              </a:solidFill>
              <a:latin typeface="Readex Pro Light"/>
              <a:ea typeface="Readex Pro Light"/>
              <a:cs typeface="Readex Pro Light"/>
              <a:sym typeface="Readex Pro Light"/>
            </a:endParaRPr>
          </a:p>
        </p:txBody>
      </p:sp>
      <p:sp>
        <p:nvSpPr>
          <p:cNvPr id="490" name="Google Shape;490;p8"/>
          <p:cNvSpPr/>
          <p:nvPr/>
        </p:nvSpPr>
        <p:spPr>
          <a:xfrm>
            <a:off x="1397000" y="9120188"/>
            <a:ext cx="2765700" cy="347700"/>
          </a:xfrm>
          <a:prstGeom prst="rect">
            <a:avLst/>
          </a:prstGeom>
          <a:noFill/>
          <a:ln>
            <a:noFill/>
          </a:ln>
        </p:spPr>
        <p:txBody>
          <a:bodyPr anchorCtr="0" anchor="ctr" bIns="25400" lIns="25400" spcFirstLastPara="1" rIns="25400" wrap="square" tIns="25400">
            <a:noAutofit/>
          </a:bodyPr>
          <a:lstStyle/>
          <a:p>
            <a:pPr indent="0" lvl="0" marL="0" marR="0" rtl="1" algn="l">
              <a:lnSpc>
                <a:spcPct val="115000"/>
              </a:lnSpc>
              <a:spcBef>
                <a:spcPts val="0"/>
              </a:spcBef>
              <a:spcAft>
                <a:spcPts val="0"/>
              </a:spcAft>
              <a:buClr>
                <a:srgbClr val="8E99CC"/>
              </a:buClr>
              <a:buSzPts val="1950"/>
              <a:buFont typeface="Readex Pro"/>
              <a:buNone/>
            </a:pPr>
            <a:r>
              <a:rPr lang="ar-SA" sz="1950">
                <a:solidFill>
                  <a:srgbClr val="8E99CC"/>
                </a:solidFill>
                <a:latin typeface="Readex Pro Light"/>
                <a:ea typeface="Readex Pro Light"/>
                <a:cs typeface="Readex Pro Light"/>
                <a:sym typeface="Readex Pro Light"/>
              </a:rPr>
              <a:t>6 أكتوبر 2026</a:t>
            </a:r>
            <a:endParaRPr i="0" sz="1950" u="none" cap="none" strike="noStrike">
              <a:solidFill>
                <a:srgbClr val="000000"/>
              </a:solidFill>
              <a:latin typeface="Readex Pro Light"/>
              <a:ea typeface="Readex Pro Light"/>
              <a:cs typeface="Readex Pro Light"/>
              <a:sym typeface="Readex Pro Light"/>
            </a:endParaRPr>
          </a:p>
        </p:txBody>
      </p:sp>
      <p:pic>
        <p:nvPicPr>
          <p:cNvPr id="491" name="Google Shape;491;p8"/>
          <p:cNvPicPr preferRelativeResize="0"/>
          <p:nvPr/>
        </p:nvPicPr>
        <p:blipFill rotWithShape="1">
          <a:blip r:embed="rId5">
            <a:alphaModFix/>
          </a:blip>
          <a:srcRect b="0" l="0" r="0" t="0"/>
          <a:stretch/>
        </p:blipFill>
        <p:spPr>
          <a:xfrm>
            <a:off x="1078250" y="691134"/>
            <a:ext cx="6572252" cy="1684781"/>
          </a:xfrm>
          <a:prstGeom prst="rect">
            <a:avLst/>
          </a:prstGeom>
          <a:noFill/>
          <a:ln>
            <a:noFill/>
          </a:ln>
        </p:spPr>
      </p:pic>
      <p:pic>
        <p:nvPicPr>
          <p:cNvPr id="492" name="Google Shape;492;p8"/>
          <p:cNvPicPr preferRelativeResize="0"/>
          <p:nvPr/>
        </p:nvPicPr>
        <p:blipFill rotWithShape="1">
          <a:blip r:embed="rId6">
            <a:alphaModFix/>
          </a:blip>
          <a:srcRect b="0" l="0" r="0" t="0"/>
          <a:stretch/>
        </p:blipFill>
        <p:spPr>
          <a:xfrm>
            <a:off x="14954250" y="840995"/>
            <a:ext cx="2190750" cy="1385061"/>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535" name="Shape 535"/>
        <p:cNvGrpSpPr/>
        <p:nvPr/>
      </p:nvGrpSpPr>
      <p:grpSpPr>
        <a:xfrm>
          <a:off x="0" y="0"/>
          <a:ext cx="0" cy="0"/>
          <a:chOff x="0" y="0"/>
          <a:chExt cx="0" cy="0"/>
        </a:xfrm>
      </p:grpSpPr>
      <p:pic>
        <p:nvPicPr>
          <p:cNvPr id="536" name="Google Shape;536;p11"/>
          <p:cNvPicPr preferRelativeResize="0"/>
          <p:nvPr/>
        </p:nvPicPr>
        <p:blipFill rotWithShape="1">
          <a:blip r:embed="rId3">
            <a:alphaModFix/>
          </a:blip>
          <a:srcRect b="0" l="0" r="0" t="0"/>
          <a:stretch/>
        </p:blipFill>
        <p:spPr>
          <a:xfrm>
            <a:off x="0" y="0"/>
            <a:ext cx="18288000" cy="10287000"/>
          </a:xfrm>
          <a:prstGeom prst="rect">
            <a:avLst/>
          </a:prstGeom>
          <a:noFill/>
          <a:ln>
            <a:noFill/>
          </a:ln>
        </p:spPr>
      </p:pic>
      <p:sp>
        <p:nvSpPr>
          <p:cNvPr id="537" name="Google Shape;537;p11"/>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المشكلة</a:t>
            </a:r>
            <a:endParaRPr/>
          </a:p>
        </p:txBody>
      </p:sp>
      <p:sp>
        <p:nvSpPr>
          <p:cNvPr id="538" name="Google Shape;538;p11"/>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لماذا يصعب فهم السيرة على المبتدئ؟</a:t>
            </a:r>
            <a:endParaRPr/>
          </a:p>
        </p:txBody>
      </p:sp>
      <p:sp>
        <p:nvSpPr>
          <p:cNvPr id="539" name="Google Shape;539;p11"/>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السيرة من أوضح الطرق لفهم الإسلام، لكن كتبها طويلة على من يبدأ</a:t>
            </a:r>
            <a:endParaRPr/>
          </a:p>
        </p:txBody>
      </p:sp>
      <p:sp>
        <p:nvSpPr>
          <p:cNvPr id="540" name="Google Shape;540;p1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541" name="Google Shape;541;p11"/>
          <p:cNvSpPr txBox="1"/>
          <p:nvPr>
            <p:ph idx="3" type="body"/>
          </p:nvPr>
        </p:nvSpPr>
        <p:spPr>
          <a:xfrm>
            <a:off x="9505950" y="3952875"/>
            <a:ext cx="7334400" cy="590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نصوص طويلة</a:t>
            </a:r>
            <a:endParaRPr/>
          </a:p>
        </p:txBody>
      </p:sp>
      <p:sp>
        <p:nvSpPr>
          <p:cNvPr id="542" name="Google Shape;542;p11"/>
          <p:cNvSpPr txBox="1"/>
          <p:nvPr>
            <p:ph idx="4" type="body"/>
          </p:nvPr>
        </p:nvSpPr>
        <p:spPr>
          <a:xfrm>
            <a:off x="9505950" y="4657725"/>
            <a:ext cx="733440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كتب السيرة مفصّلة وطويلة، ويصعب على المبتدئ أن يعرف من أين يبدأ</a:t>
            </a:r>
            <a:endParaRPr/>
          </a:p>
        </p:txBody>
      </p:sp>
      <p:sp>
        <p:nvSpPr>
          <p:cNvPr id="543" name="Google Shape;543;p11"/>
          <p:cNvSpPr txBox="1"/>
          <p:nvPr>
            <p:ph idx="5" type="body"/>
          </p:nvPr>
        </p:nvSpPr>
        <p:spPr>
          <a:xfrm>
            <a:off x="1714500" y="3952875"/>
            <a:ext cx="6953250" cy="59055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أماكن بلا خريطة</a:t>
            </a:r>
            <a:endParaRPr/>
          </a:p>
        </p:txBody>
      </p:sp>
      <p:sp>
        <p:nvSpPr>
          <p:cNvPr id="544" name="Google Shape;544;p11"/>
          <p:cNvSpPr txBox="1"/>
          <p:nvPr>
            <p:ph idx="6" type="body"/>
          </p:nvPr>
        </p:nvSpPr>
        <p:spPr>
          <a:xfrm>
            <a:off x="1714500" y="4657725"/>
            <a:ext cx="695325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بدر وأحد والحديبية أسماء بلا موقع عند من يسمعها أول مرة</a:t>
            </a:r>
            <a:endParaRPr/>
          </a:p>
        </p:txBody>
      </p:sp>
      <p:sp>
        <p:nvSpPr>
          <p:cNvPr id="545" name="Google Shape;545;p11"/>
          <p:cNvSpPr txBox="1"/>
          <p:nvPr>
            <p:ph idx="7" type="body"/>
          </p:nvPr>
        </p:nvSpPr>
        <p:spPr>
          <a:xfrm>
            <a:off x="9505950" y="6619875"/>
            <a:ext cx="7334400" cy="590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آيات بلا سياق</a:t>
            </a:r>
            <a:endParaRPr/>
          </a:p>
        </p:txBody>
      </p:sp>
      <p:sp>
        <p:nvSpPr>
          <p:cNvPr id="546" name="Google Shape;546;p11"/>
          <p:cNvSpPr txBox="1"/>
          <p:nvPr>
            <p:ph idx="8" type="body"/>
          </p:nvPr>
        </p:nvSpPr>
        <p:spPr>
          <a:xfrm>
            <a:off x="9505950" y="7324725"/>
            <a:ext cx="733440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كثير من آيات القرآن نزلت في مواقف من السيرة، والمبتدئ لا يعرف أيها</a:t>
            </a:r>
            <a:endParaRPr/>
          </a:p>
        </p:txBody>
      </p:sp>
      <p:sp>
        <p:nvSpPr>
          <p:cNvPr id="547" name="Google Shape;547;p11"/>
          <p:cNvSpPr txBox="1"/>
          <p:nvPr>
            <p:ph idx="9" type="body"/>
          </p:nvPr>
        </p:nvSpPr>
        <p:spPr>
          <a:xfrm>
            <a:off x="1714500" y="6619875"/>
            <a:ext cx="6953250" cy="59055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صعوبة التحقق</a:t>
            </a:r>
            <a:endParaRPr/>
          </a:p>
        </p:txBody>
      </p:sp>
      <p:sp>
        <p:nvSpPr>
          <p:cNvPr id="548" name="Google Shape;548;p11"/>
          <p:cNvSpPr txBox="1"/>
          <p:nvPr>
            <p:ph idx="13" type="body"/>
          </p:nvPr>
        </p:nvSpPr>
        <p:spPr>
          <a:xfrm>
            <a:off x="1714500" y="7324725"/>
            <a:ext cx="695325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يصعب على غير المختص معرفة الموثوق مما يقرؤه على الإنترنت</a:t>
            </a:r>
            <a:endParaRPr/>
          </a:p>
        </p:txBody>
      </p:sp>
      <p:sp>
        <p:nvSpPr>
          <p:cNvPr id="549" name="Google Shape;549;p11"/>
          <p:cNvSpPr/>
          <p:nvPr/>
        </p:nvSpPr>
        <p:spPr>
          <a:xfrm>
            <a:off x="7696200" y="9467850"/>
            <a:ext cx="9144000" cy="400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pic>
        <p:nvPicPr>
          <p:cNvPr id="550" name="Google Shape;550;p11"/>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600" name="Shape 600"/>
        <p:cNvGrpSpPr/>
        <p:nvPr/>
      </p:nvGrpSpPr>
      <p:grpSpPr>
        <a:xfrm>
          <a:off x="0" y="0"/>
          <a:ext cx="0" cy="0"/>
          <a:chOff x="0" y="0"/>
          <a:chExt cx="0" cy="0"/>
        </a:xfrm>
      </p:grpSpPr>
      <p:pic>
        <p:nvPicPr>
          <p:cNvPr id="601" name="Google Shape;601;p15"/>
          <p:cNvPicPr preferRelativeResize="0"/>
          <p:nvPr/>
        </p:nvPicPr>
        <p:blipFill rotWithShape="1">
          <a:blip r:embed="rId3">
            <a:alphaModFix/>
          </a:blip>
          <a:srcRect b="0" l="0" r="0" t="0"/>
          <a:stretch/>
        </p:blipFill>
        <p:spPr>
          <a:xfrm>
            <a:off x="0" y="0"/>
            <a:ext cx="18288000" cy="10287000"/>
          </a:xfrm>
          <a:prstGeom prst="rect">
            <a:avLst/>
          </a:prstGeom>
          <a:noFill/>
          <a:ln>
            <a:noFill/>
          </a:ln>
        </p:spPr>
      </p:pic>
      <p:sp>
        <p:nvSpPr>
          <p:cNvPr id="602" name="Google Shape;602;p15"/>
          <p:cNvSpPr/>
          <p:nvPr/>
        </p:nvSpPr>
        <p:spPr>
          <a:xfrm>
            <a:off x="7391400" y="9467850"/>
            <a:ext cx="9144000" cy="400200"/>
          </a:xfrm>
          <a:prstGeom prst="rect">
            <a:avLst/>
          </a:prstGeom>
          <a:noFill/>
          <a:ln>
            <a:noFill/>
          </a:ln>
        </p:spPr>
        <p:txBody>
          <a:bodyPr anchorCtr="0" anchor="t" bIns="0" lIns="0" spcFirstLastPara="1" rIns="0" wrap="square" tIns="0">
            <a:noAutofit/>
          </a:bodyPr>
          <a:lstStyle/>
          <a:p>
            <a:pPr indent="0" lvl="0" marL="0" marR="0" rtl="1" algn="r">
              <a:spcBef>
                <a:spcPts val="0"/>
              </a:spcBef>
              <a:spcAft>
                <a:spcPts val="0"/>
              </a:spcAft>
              <a:buNone/>
            </a:pPr>
            <a:r>
              <a:rPr b="0" lang="ar-SA" sz="1350">
                <a:solidFill>
                  <a:srgbClr val="8E99CC"/>
                </a:solidFill>
                <a:latin typeface="Readex Pro"/>
                <a:ea typeface="Readex Pro"/>
                <a:cs typeface="Readex Pro"/>
                <a:sym typeface="Readex Pro"/>
              </a:rPr>
              <a:t>تحدي الذكاء الاصطناعي في خدمة المحتوى الإسلامي</a:t>
            </a:r>
            <a:endParaRPr/>
          </a:p>
        </p:txBody>
      </p:sp>
      <p:pic>
        <p:nvPicPr>
          <p:cNvPr id="603" name="Google Shape;603;p15"/>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604" name="Google Shape;604;p15"/>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النتائج</a:t>
            </a:r>
            <a:endParaRPr/>
          </a:p>
        </p:txBody>
      </p:sp>
      <p:sp>
        <p:nvSpPr>
          <p:cNvPr id="605" name="Google Shape;605;p15"/>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اختبار الإجابات</a:t>
            </a:r>
            <a:endParaRPr/>
          </a:p>
        </p:txBody>
      </p:sp>
      <p:sp>
        <p:nvSpPr>
          <p:cNvPr id="606" name="Google Shape;606;p15"/>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بعد إضافة معيد الترتيب وتنقية المصادر: 97.9% بدل 95.8%، والامتناع عما لا مصدر له 100% بدل 83%</a:t>
            </a:r>
            <a:endParaRPr/>
          </a:p>
        </p:txBody>
      </p:sp>
      <p:sp>
        <p:nvSpPr>
          <p:cNvPr id="607" name="Google Shape;607;p1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608" name="Google Shape;608;p15"/>
          <p:cNvSpPr txBox="1"/>
          <p:nvPr>
            <p:ph idx="3" type="body"/>
          </p:nvPr>
        </p:nvSpPr>
        <p:spPr>
          <a:xfrm>
            <a:off x="13716000" y="4333875"/>
            <a:ext cx="3429000" cy="15240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050"/>
              <a:buNone/>
            </a:pPr>
            <a:r>
              <a:rPr b="1" lang="ar-SA" sz="7050">
                <a:solidFill>
                  <a:srgbClr val="2EF2C2"/>
                </a:solidFill>
                <a:latin typeface="Readex Pro"/>
                <a:ea typeface="Readex Pro"/>
                <a:cs typeface="Readex Pro"/>
                <a:sym typeface="Readex Pro"/>
              </a:rPr>
              <a:t>97.9%</a:t>
            </a:r>
            <a:endParaRPr/>
          </a:p>
        </p:txBody>
      </p:sp>
      <p:sp>
        <p:nvSpPr>
          <p:cNvPr id="609" name="Google Shape;609;p15"/>
          <p:cNvSpPr txBox="1"/>
          <p:nvPr>
            <p:ph idx="4" type="body"/>
          </p:nvPr>
        </p:nvSpPr>
        <p:spPr>
          <a:xfrm>
            <a:off x="13716000" y="6048375"/>
            <a:ext cx="3429000" cy="7143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550"/>
              <a:buNone/>
            </a:pPr>
            <a:r>
              <a:rPr b="1" lang="ar-SA" sz="2550">
                <a:solidFill>
                  <a:srgbClr val="F2F4FF"/>
                </a:solidFill>
                <a:latin typeface="Readex Pro"/>
                <a:ea typeface="Readex Pro"/>
                <a:cs typeface="Readex Pro"/>
                <a:sym typeface="Readex Pro"/>
              </a:rPr>
              <a:t>إجابات بمصدر صحيح</a:t>
            </a:r>
            <a:endParaRPr/>
          </a:p>
        </p:txBody>
      </p:sp>
      <p:sp>
        <p:nvSpPr>
          <p:cNvPr id="610" name="Google Shape;610;p15"/>
          <p:cNvSpPr txBox="1"/>
          <p:nvPr>
            <p:ph idx="5" type="body"/>
          </p:nvPr>
        </p:nvSpPr>
        <p:spPr>
          <a:xfrm>
            <a:off x="13716000" y="7000875"/>
            <a:ext cx="3429000" cy="1000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025"/>
              <a:buNone/>
            </a:pPr>
            <a:r>
              <a:rPr b="0" lang="ar-SA" sz="2025">
                <a:solidFill>
                  <a:srgbClr val="CBCFE6"/>
                </a:solidFill>
                <a:latin typeface="Readex Pro"/>
                <a:ea typeface="Readex Pro"/>
                <a:cs typeface="Readex Pro"/>
                <a:sym typeface="Readex Pro"/>
              </a:rPr>
              <a:t>47 من 48 سؤالًا، والباقي امتناع</a:t>
            </a:r>
            <a:endParaRPr/>
          </a:p>
        </p:txBody>
      </p:sp>
      <p:sp>
        <p:nvSpPr>
          <p:cNvPr id="611" name="Google Shape;611;p15"/>
          <p:cNvSpPr txBox="1"/>
          <p:nvPr>
            <p:ph idx="6" type="body"/>
          </p:nvPr>
        </p:nvSpPr>
        <p:spPr>
          <a:xfrm>
            <a:off x="9715500" y="4333875"/>
            <a:ext cx="3429000" cy="15240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050"/>
              <a:buNone/>
            </a:pPr>
            <a:r>
              <a:rPr b="1" lang="ar-SA" sz="7050">
                <a:solidFill>
                  <a:srgbClr val="2EF2C2"/>
                </a:solidFill>
                <a:latin typeface="Readex Pro"/>
                <a:ea typeface="Readex Pro"/>
                <a:cs typeface="Readex Pro"/>
                <a:sym typeface="Readex Pro"/>
              </a:rPr>
              <a:t>100%</a:t>
            </a:r>
            <a:endParaRPr/>
          </a:p>
        </p:txBody>
      </p:sp>
      <p:sp>
        <p:nvSpPr>
          <p:cNvPr id="612" name="Google Shape;612;p15"/>
          <p:cNvSpPr txBox="1"/>
          <p:nvPr>
            <p:ph idx="7" type="body"/>
          </p:nvPr>
        </p:nvSpPr>
        <p:spPr>
          <a:xfrm>
            <a:off x="9715500" y="6048375"/>
            <a:ext cx="3429000" cy="7143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550"/>
              <a:buNone/>
            </a:pPr>
            <a:r>
              <a:rPr b="1" lang="ar-SA" sz="2550">
                <a:solidFill>
                  <a:srgbClr val="F2F4FF"/>
                </a:solidFill>
                <a:latin typeface="Readex Pro"/>
                <a:ea typeface="Readex Pro"/>
                <a:cs typeface="Readex Pro"/>
                <a:sym typeface="Readex Pro"/>
              </a:rPr>
              <a:t>امتناع صحيح</a:t>
            </a:r>
            <a:endParaRPr/>
          </a:p>
        </p:txBody>
      </p:sp>
      <p:sp>
        <p:nvSpPr>
          <p:cNvPr id="613" name="Google Shape;613;p15"/>
          <p:cNvSpPr txBox="1"/>
          <p:nvPr>
            <p:ph idx="8" type="body"/>
          </p:nvPr>
        </p:nvSpPr>
        <p:spPr>
          <a:xfrm>
            <a:off x="9715500" y="7000875"/>
            <a:ext cx="3429000" cy="1000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025"/>
              <a:buNone/>
            </a:pPr>
            <a:r>
              <a:rPr b="0" lang="ar-SA" sz="2025">
                <a:solidFill>
                  <a:srgbClr val="CBCFE6"/>
                </a:solidFill>
                <a:latin typeface="Readex Pro"/>
                <a:ea typeface="Readex Pro"/>
                <a:cs typeface="Readex Pro"/>
                <a:sym typeface="Readex Pro"/>
              </a:rPr>
              <a:t>12 سؤالًا عن الفتوى وما لا مصدر له</a:t>
            </a:r>
            <a:endParaRPr/>
          </a:p>
        </p:txBody>
      </p:sp>
      <p:sp>
        <p:nvSpPr>
          <p:cNvPr id="614" name="Google Shape;614;p15"/>
          <p:cNvSpPr txBox="1"/>
          <p:nvPr>
            <p:ph idx="9" type="body"/>
          </p:nvPr>
        </p:nvSpPr>
        <p:spPr>
          <a:xfrm>
            <a:off x="5715000" y="4333875"/>
            <a:ext cx="3429000" cy="15240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050"/>
              <a:buNone/>
            </a:pPr>
            <a:r>
              <a:rPr b="1" lang="ar-SA" sz="7050">
                <a:solidFill>
                  <a:srgbClr val="2EF2C2"/>
                </a:solidFill>
                <a:latin typeface="Readex Pro"/>
                <a:ea typeface="Readex Pro"/>
                <a:cs typeface="Readex Pro"/>
                <a:sym typeface="Readex Pro"/>
              </a:rPr>
              <a:t>0</a:t>
            </a:r>
            <a:endParaRPr/>
          </a:p>
        </p:txBody>
      </p:sp>
      <p:sp>
        <p:nvSpPr>
          <p:cNvPr id="615" name="Google Shape;615;p15"/>
          <p:cNvSpPr txBox="1"/>
          <p:nvPr>
            <p:ph idx="13" type="body"/>
          </p:nvPr>
        </p:nvSpPr>
        <p:spPr>
          <a:xfrm>
            <a:off x="5715000" y="6048375"/>
            <a:ext cx="3429000" cy="7143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550"/>
              <a:buNone/>
            </a:pPr>
            <a:r>
              <a:rPr b="1" lang="ar-SA" sz="2550">
                <a:solidFill>
                  <a:srgbClr val="F2F4FF"/>
                </a:solidFill>
                <a:latin typeface="Readex Pro"/>
                <a:ea typeface="Readex Pro"/>
                <a:cs typeface="Readex Pro"/>
                <a:sym typeface="Readex Pro"/>
              </a:rPr>
              <a:t>معلومة خاطئة</a:t>
            </a:r>
            <a:endParaRPr/>
          </a:p>
        </p:txBody>
      </p:sp>
      <p:sp>
        <p:nvSpPr>
          <p:cNvPr id="616" name="Google Shape;616;p15"/>
          <p:cNvSpPr txBox="1"/>
          <p:nvPr>
            <p:ph idx="14" type="body"/>
          </p:nvPr>
        </p:nvSpPr>
        <p:spPr>
          <a:xfrm>
            <a:off x="5715000" y="7000875"/>
            <a:ext cx="3429000" cy="1000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025"/>
              <a:buNone/>
            </a:pPr>
            <a:r>
              <a:rPr b="0" lang="ar-SA" sz="2025">
                <a:solidFill>
                  <a:srgbClr val="CBCFE6"/>
                </a:solidFill>
                <a:latin typeface="Readex Pro"/>
                <a:ea typeface="Readex Pro"/>
                <a:cs typeface="Readex Pro"/>
                <a:sym typeface="Readex Pro"/>
              </a:rPr>
              <a:t>في 50 جوابًا صعبًا؛ ما لم يجده امتنع عنه</a:t>
            </a:r>
            <a:endParaRPr/>
          </a:p>
        </p:txBody>
      </p:sp>
      <p:sp>
        <p:nvSpPr>
          <p:cNvPr id="617" name="Google Shape;617;p15"/>
          <p:cNvSpPr txBox="1"/>
          <p:nvPr>
            <p:ph idx="15" type="body"/>
          </p:nvPr>
        </p:nvSpPr>
        <p:spPr>
          <a:xfrm>
            <a:off x="1714500" y="4333875"/>
            <a:ext cx="3429000" cy="15240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050"/>
              <a:buNone/>
            </a:pPr>
            <a:r>
              <a:rPr b="1" lang="ar-SA" sz="7050">
                <a:solidFill>
                  <a:srgbClr val="2EF2C2"/>
                </a:solidFill>
                <a:latin typeface="Readex Pro"/>
                <a:ea typeface="Readex Pro"/>
                <a:cs typeface="Readex Pro"/>
                <a:sym typeface="Readex Pro"/>
              </a:rPr>
              <a:t>7.5 ث</a:t>
            </a:r>
            <a:endParaRPr/>
          </a:p>
        </p:txBody>
      </p:sp>
      <p:sp>
        <p:nvSpPr>
          <p:cNvPr id="618" name="Google Shape;618;p15"/>
          <p:cNvSpPr txBox="1"/>
          <p:nvPr>
            <p:ph idx="16" type="body"/>
          </p:nvPr>
        </p:nvSpPr>
        <p:spPr>
          <a:xfrm>
            <a:off x="1714500" y="6048375"/>
            <a:ext cx="3429000" cy="7143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550"/>
              <a:buNone/>
            </a:pPr>
            <a:r>
              <a:rPr b="1" lang="ar-SA" sz="2550">
                <a:solidFill>
                  <a:srgbClr val="F2F4FF"/>
                </a:solidFill>
                <a:latin typeface="Readex Pro"/>
                <a:ea typeface="Readex Pro"/>
                <a:cs typeface="Readex Pro"/>
                <a:sym typeface="Readex Pro"/>
              </a:rPr>
              <a:t>زمن الجواب</a:t>
            </a:r>
            <a:endParaRPr/>
          </a:p>
        </p:txBody>
      </p:sp>
      <p:sp>
        <p:nvSpPr>
          <p:cNvPr id="619" name="Google Shape;619;p15"/>
          <p:cNvSpPr txBox="1"/>
          <p:nvPr>
            <p:ph idx="17" type="body"/>
          </p:nvPr>
        </p:nvSpPr>
        <p:spPr>
          <a:xfrm>
            <a:off x="1714500" y="7000875"/>
            <a:ext cx="3429000" cy="1000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025"/>
              <a:buNone/>
            </a:pPr>
            <a:r>
              <a:rPr b="0" lang="ar-SA" sz="2025">
                <a:solidFill>
                  <a:srgbClr val="CBCFE6"/>
                </a:solidFill>
                <a:latin typeface="Readex Pro"/>
                <a:ea typeface="Readex Pro"/>
                <a:cs typeface="Readex Pro"/>
                <a:sym typeface="Readex Pro"/>
              </a:rPr>
              <a:t>الوسيط على الموقع الحي</a:t>
            </a:r>
            <a:endParaRPr/>
          </a:p>
        </p:txBody>
      </p:sp>
      <p:sp>
        <p:nvSpPr>
          <p:cNvPr id="620" name="Google Shape;620;p15"/>
          <p:cNvSpPr txBox="1"/>
          <p:nvPr>
            <p:ph idx="18" type="body"/>
          </p:nvPr>
        </p:nvSpPr>
        <p:spPr>
          <a:xfrm>
            <a:off x="8381075" y="8763000"/>
            <a:ext cx="8459100" cy="4764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CBCFE6"/>
                </a:solidFill>
                <a:latin typeface="Readex Pro"/>
                <a:ea typeface="Readex Pro"/>
                <a:cs typeface="Readex Pro"/>
                <a:sym typeface="Readex Pro"/>
              </a:rPr>
              <a:t>حدود معروفة: تختلف صياغة الجواب ومراجعه بين محاولتين، ويُرفض أحيانًا السؤال بالعربية المكتوبة بحروف لاتينية. كل سؤال وجوابه في docs/evaluation</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636" name="Shape 636"/>
        <p:cNvGrpSpPr/>
        <p:nvPr/>
      </p:nvGrpSpPr>
      <p:grpSpPr>
        <a:xfrm>
          <a:off x="0" y="0"/>
          <a:ext cx="0" cy="0"/>
          <a:chOff x="0" y="0"/>
          <a:chExt cx="0" cy="0"/>
        </a:xfrm>
      </p:grpSpPr>
      <p:pic>
        <p:nvPicPr>
          <p:cNvPr id="637" name="Google Shape;637;p17"/>
          <p:cNvPicPr preferRelativeResize="0"/>
          <p:nvPr/>
        </p:nvPicPr>
        <p:blipFill rotWithShape="1">
          <a:blip r:embed="rId3">
            <a:alphaModFix/>
          </a:blip>
          <a:srcRect b="0" l="0" r="0" t="0"/>
          <a:stretch/>
        </p:blipFill>
        <p:spPr>
          <a:xfrm>
            <a:off x="0" y="0"/>
            <a:ext cx="18288000" cy="10287000"/>
          </a:xfrm>
          <a:prstGeom prst="rect">
            <a:avLst/>
          </a:prstGeom>
          <a:noFill/>
          <a:ln>
            <a:noFill/>
          </a:ln>
        </p:spPr>
      </p:pic>
      <p:pic>
        <p:nvPicPr>
          <p:cNvPr id="638" name="Google Shape;638;p17"/>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639" name="Google Shape;639;p17"/>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الموثوقية</a:t>
            </a:r>
            <a:endParaRPr/>
          </a:p>
        </p:txBody>
      </p:sp>
      <p:sp>
        <p:nvSpPr>
          <p:cNvPr id="640" name="Google Shape;640;p17"/>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مستويات المحتوى وضبط الاستجابة</a:t>
            </a:r>
            <a:endParaRPr/>
          </a:p>
        </p:txBody>
      </p:sp>
      <p:sp>
        <p:nvSpPr>
          <p:cNvPr id="641" name="Google Shape;641;p17"/>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كما في المرجعية العلمية للتحدي، وما تفعله بداية في كل مستوى</a:t>
            </a:r>
            <a:endParaRPr/>
          </a:p>
        </p:txBody>
      </p:sp>
      <p:sp>
        <p:nvSpPr>
          <p:cNvPr id="642" name="Google Shape;642;p17"/>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graphicFrame>
        <p:nvGraphicFramePr>
          <p:cNvPr id="643" name="Google Shape;643;p17"/>
          <p:cNvGraphicFramePr/>
          <p:nvPr/>
        </p:nvGraphicFramePr>
        <p:xfrm>
          <a:off x="1314450" y="3905250"/>
          <a:ext cx="3000000" cy="3000000"/>
        </p:xfrm>
        <a:graphic>
          <a:graphicData uri="http://schemas.openxmlformats.org/drawingml/2006/table">
            <a:tbl>
              <a:tblPr>
                <a:noFill/>
                <a:tableStyleId>{B8ED9858-D163-4338-9E88-1F424354888F}</a:tableStyleId>
              </a:tblPr>
              <a:tblGrid>
                <a:gridCol w="2286000"/>
                <a:gridCol w="3238500"/>
                <a:gridCol w="6191250"/>
                <a:gridCol w="3714750"/>
              </a:tblGrid>
              <a:tr h="781050">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2EF2C2"/>
                          </a:solidFill>
                          <a:latin typeface="Readex Pro"/>
                          <a:ea typeface="Readex Pro"/>
                          <a:cs typeface="Readex Pro"/>
                          <a:sym typeface="Readex Pro"/>
                        </a:rPr>
                        <a:t>في الاختبار</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242759"/>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2EF2C2"/>
                          </a:solidFill>
                          <a:latin typeface="Readex Pro"/>
                          <a:ea typeface="Readex Pro"/>
                          <a:cs typeface="Readex Pro"/>
                          <a:sym typeface="Readex Pro"/>
                        </a:rPr>
                        <a:t>ما تفعله بداية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242759"/>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2EF2C2"/>
                          </a:solidFill>
                          <a:latin typeface="Readex Pro"/>
                          <a:ea typeface="Readex Pro"/>
                          <a:cs typeface="Readex Pro"/>
                          <a:sym typeface="Readex Pro"/>
                        </a:rPr>
                        <a:t>أمثلة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242759"/>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2EF2C2"/>
                          </a:solidFill>
                          <a:latin typeface="Readex Pro"/>
                          <a:ea typeface="Readex Pro"/>
                          <a:cs typeface="Readex Pro"/>
                          <a:sym typeface="Readex Pro"/>
                        </a:rPr>
                        <a:t>المستوى</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242759"/>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بمصدر صحيح أو امتناع</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جواب مباشر مع رابط المصدر</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متى كانت غزوة بدر؟ من هو أبو بكر؟</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(أ) معلومات مستقرة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5 من 5 أسئلة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جواب من المصادر مع المرجع</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لماذا قبل النبي ﷺ صلح الحديبية؟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(ب) شرح وتعريف</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5 من 5 صحيحة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ينقل ما في المصادر، ويذكر الخلاف إن ذكرته</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عدد شهداء أحد، سنوات مكة بعد البعثة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(ج) مسائل خلافية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6 من 6 أسئلة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امتناع وإحالة إلى الرئاسة العامة للإفتاء</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هل يجوز…؟ ما حكم…؟</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F2F4FF"/>
                          </a:solidFill>
                          <a:latin typeface="Readex Pro"/>
                          <a:ea typeface="Readex Pro"/>
                          <a:cs typeface="Readex Pro"/>
                          <a:sym typeface="Readex Pro"/>
                        </a:rPr>
                        <a:t>(د) فتوى أو حالة شخصية</a:t>
                      </a:r>
                      <a:endParaRPr/>
                    </a:p>
                  </a:txBody>
                  <a:tcPr marT="45725" marB="45725" marR="91450" marL="91450" anchor="ctr">
                    <a:lnL cap="flat" cmpd="sng" w="9525">
                      <a:solidFill>
                        <a:srgbClr val="323D68"/>
                      </a:solidFill>
                      <a:prstDash val="solid"/>
                      <a:round/>
                      <a:headEnd len="sm" w="sm" type="none"/>
                      <a:tailEnd len="sm" w="sm" type="none"/>
                    </a:lnL>
                    <a:lnR cap="flat" cmpd="sng" w="9525">
                      <a:solidFill>
                        <a:srgbClr val="323D68"/>
                      </a:solidFill>
                      <a:prstDash val="solid"/>
                      <a:round/>
                      <a:headEnd len="sm" w="sm" type="none"/>
                      <a:tailEnd len="sm" w="sm" type="none"/>
                    </a:lnR>
                    <a:lnT cap="flat" cmpd="sng" w="9525">
                      <a:solidFill>
                        <a:srgbClr val="323D68"/>
                      </a:solidFill>
                      <a:prstDash val="solid"/>
                      <a:round/>
                      <a:headEnd len="sm" w="sm" type="none"/>
                      <a:tailEnd len="sm" w="sm" type="none"/>
                    </a:lnT>
                    <a:lnB cap="flat" cmpd="sng" w="9525">
                      <a:solidFill>
                        <a:srgbClr val="323D68"/>
                      </a:solidFill>
                      <a:prstDash val="solid"/>
                      <a:round/>
                      <a:headEnd len="sm" w="sm" type="none"/>
                      <a:tailEnd len="sm" w="sm" type="none"/>
                    </a:lnB>
                    <a:solidFill>
                      <a:srgbClr val="161D48"/>
                    </a:solidFill>
                  </a:tcPr>
                </a:tc>
              </a:tr>
            </a:tbl>
          </a:graphicData>
        </a:graphic>
      </p:graphicFrame>
      <p:sp>
        <p:nvSpPr>
          <p:cNvPr id="644" name="Google Shape;644;p17"/>
          <p:cNvSpPr txBox="1"/>
          <p:nvPr>
            <p:ph idx="3" type="body"/>
          </p:nvPr>
        </p:nvSpPr>
        <p:spPr>
          <a:xfrm>
            <a:off x="1409700" y="8810625"/>
            <a:ext cx="15430500" cy="457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CBCFE6"/>
                </a:solidFill>
                <a:latin typeface="Readex Pro"/>
                <a:ea typeface="Readex Pro"/>
                <a:cs typeface="Readex Pro"/>
                <a:sym typeface="Readex Pro"/>
              </a:rPr>
              <a:t>الخصوصية: بلا حسابات ولا بيانات شخصية؛ موضع القراءة وسجل الأسئلة في متصفح المستخدم فقط، والمساعد يصنّف السؤال لا السائل</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2183F"/>
        </a:solidFill>
      </p:bgPr>
    </p:bg>
    <p:spTree>
      <p:nvGrpSpPr>
        <p:cNvPr id="649" name="Shape 649"/>
        <p:cNvGrpSpPr/>
        <p:nvPr/>
      </p:nvGrpSpPr>
      <p:grpSpPr>
        <a:xfrm>
          <a:off x="0" y="0"/>
          <a:ext cx="0" cy="0"/>
          <a:chOff x="0" y="0"/>
          <a:chExt cx="0" cy="0"/>
        </a:xfrm>
      </p:grpSpPr>
      <p:pic>
        <p:nvPicPr>
          <p:cNvPr id="650" name="Google Shape;650;p18"/>
          <p:cNvPicPr preferRelativeResize="0"/>
          <p:nvPr/>
        </p:nvPicPr>
        <p:blipFill rotWithShape="1">
          <a:blip r:embed="rId3">
            <a:alphaModFix/>
          </a:blip>
          <a:srcRect b="0" l="0" r="0" t="0"/>
          <a:stretch/>
        </p:blipFill>
        <p:spPr>
          <a:xfrm>
            <a:off x="-19050" y="0"/>
            <a:ext cx="18288000" cy="10287000"/>
          </a:xfrm>
          <a:prstGeom prst="rect">
            <a:avLst/>
          </a:prstGeom>
          <a:noFill/>
          <a:ln>
            <a:noFill/>
          </a:ln>
        </p:spPr>
      </p:pic>
      <p:sp>
        <p:nvSpPr>
          <p:cNvPr id="651" name="Google Shape;651;p18"/>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652" name="Google Shape;652;p18"/>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خطة الاستمرار</a:t>
            </a:r>
            <a:endParaRPr/>
          </a:p>
        </p:txBody>
      </p:sp>
      <p:sp>
        <p:nvSpPr>
          <p:cNvPr id="653" name="Google Shape;653;p18"/>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التشغيل بعد التحدي</a:t>
            </a:r>
            <a:endParaRPr/>
          </a:p>
        </p:txBody>
      </p:sp>
      <p:sp>
        <p:nvSpPr>
          <p:cNvPr id="654" name="Google Shape;654;p18"/>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ما يعمل الآن، وما نقترحه بعده</a:t>
            </a:r>
            <a:endParaRPr/>
          </a:p>
        </p:txBody>
      </p:sp>
      <p:sp>
        <p:nvSpPr>
          <p:cNvPr id="655" name="Google Shape;655;p18"/>
          <p:cNvSpPr txBox="1"/>
          <p:nvPr>
            <p:ph idx="3" type="body"/>
          </p:nvPr>
        </p:nvSpPr>
        <p:spPr>
          <a:xfrm>
            <a:off x="13982700" y="3762375"/>
            <a:ext cx="2857500" cy="762000"/>
          </a:xfrm>
          <a:prstGeom prst="rect">
            <a:avLst/>
          </a:prstGeom>
          <a:noFill/>
          <a:ln>
            <a:noFill/>
          </a:ln>
        </p:spPr>
        <p:txBody>
          <a:bodyPr anchorCtr="0" anchor="t" bIns="0" lIns="0" spcFirstLastPara="1" rIns="0" wrap="square" tIns="0">
            <a:noAutofit/>
          </a:bodyPr>
          <a:lstStyle/>
          <a:p>
            <a:pPr indent="0" lvl="0" marL="0" rtl="0" algn="ct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01</a:t>
            </a:r>
            <a:endParaRPr/>
          </a:p>
        </p:txBody>
      </p:sp>
      <p:sp>
        <p:nvSpPr>
          <p:cNvPr id="656" name="Google Shape;656;p18"/>
          <p:cNvSpPr txBox="1"/>
          <p:nvPr>
            <p:ph idx="4" type="body"/>
          </p:nvPr>
        </p:nvSpPr>
        <p:spPr>
          <a:xfrm>
            <a:off x="13982700" y="5238750"/>
            <a:ext cx="2857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التشغيل الحالي</a:t>
            </a:r>
            <a:endParaRPr/>
          </a:p>
        </p:txBody>
      </p:sp>
      <p:sp>
        <p:nvSpPr>
          <p:cNvPr id="657" name="Google Shape;657;p18"/>
          <p:cNvSpPr txBox="1"/>
          <p:nvPr>
            <p:ph idx="5" type="body"/>
          </p:nvPr>
        </p:nvSpPr>
        <p:spPr>
          <a:xfrm>
            <a:off x="13982700" y="6048375"/>
            <a:ext cx="2857500" cy="5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2EF2C2"/>
                </a:solidFill>
                <a:latin typeface="Readex Pro"/>
                <a:ea typeface="Readex Pro"/>
                <a:cs typeface="Readex Pro"/>
                <a:sym typeface="Readex Pro"/>
              </a:rPr>
              <a:t>الآن</a:t>
            </a:r>
            <a:endParaRPr/>
          </a:p>
        </p:txBody>
      </p:sp>
      <p:sp>
        <p:nvSpPr>
          <p:cNvPr id="658" name="Google Shape;658;p18"/>
          <p:cNvSpPr txBox="1"/>
          <p:nvPr>
            <p:ph idx="6" type="body"/>
          </p:nvPr>
        </p:nvSpPr>
        <p:spPr>
          <a:xfrm>
            <a:off x="13982700" y="7000875"/>
            <a:ext cx="2857500" cy="10953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موقع حي بالعربية والإنجليزية</a:t>
            </a:r>
            <a:endParaRPr/>
          </a:p>
        </p:txBody>
      </p:sp>
      <p:sp>
        <p:nvSpPr>
          <p:cNvPr id="659" name="Google Shape;659;p18"/>
          <p:cNvSpPr txBox="1"/>
          <p:nvPr>
            <p:ph idx="7" type="body"/>
          </p:nvPr>
        </p:nvSpPr>
        <p:spPr>
          <a:xfrm>
            <a:off x="10839450" y="3762375"/>
            <a:ext cx="2857500" cy="762000"/>
          </a:xfrm>
          <a:prstGeom prst="rect">
            <a:avLst/>
          </a:prstGeom>
          <a:noFill/>
          <a:ln>
            <a:noFill/>
          </a:ln>
        </p:spPr>
        <p:txBody>
          <a:bodyPr anchorCtr="0" anchor="t" bIns="0" lIns="0" spcFirstLastPara="1" rIns="0" wrap="square" tIns="0">
            <a:noAutofit/>
          </a:bodyPr>
          <a:lstStyle/>
          <a:p>
            <a:pPr indent="0" lvl="0" marL="0" rtl="0" algn="ct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02</a:t>
            </a:r>
            <a:endParaRPr/>
          </a:p>
        </p:txBody>
      </p:sp>
      <p:sp>
        <p:nvSpPr>
          <p:cNvPr id="660" name="Google Shape;660;p18"/>
          <p:cNvSpPr txBox="1"/>
          <p:nvPr>
            <p:ph idx="8" type="body"/>
          </p:nvPr>
        </p:nvSpPr>
        <p:spPr>
          <a:xfrm>
            <a:off x="10839450" y="5238750"/>
            <a:ext cx="2857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اختبار المستفيدين</a:t>
            </a:r>
            <a:endParaRPr/>
          </a:p>
        </p:txBody>
      </p:sp>
      <p:sp>
        <p:nvSpPr>
          <p:cNvPr id="661" name="Google Shape;661;p18"/>
          <p:cNvSpPr txBox="1"/>
          <p:nvPr>
            <p:ph idx="9" type="body"/>
          </p:nvPr>
        </p:nvSpPr>
        <p:spPr>
          <a:xfrm>
            <a:off x="10839450" y="6048375"/>
            <a:ext cx="2857500" cy="5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2EF2C2"/>
                </a:solidFill>
                <a:latin typeface="Readex Pro"/>
                <a:ea typeface="Readex Pro"/>
                <a:cs typeface="Readex Pro"/>
                <a:sym typeface="Readex Pro"/>
              </a:rPr>
              <a:t>الشهر الأول</a:t>
            </a:r>
            <a:endParaRPr/>
          </a:p>
        </p:txBody>
      </p:sp>
      <p:sp>
        <p:nvSpPr>
          <p:cNvPr id="662" name="Google Shape;662;p18"/>
          <p:cNvSpPr txBox="1"/>
          <p:nvPr>
            <p:ph idx="13" type="body"/>
          </p:nvPr>
        </p:nvSpPr>
        <p:spPr>
          <a:xfrm>
            <a:off x="10839450" y="7000875"/>
            <a:ext cx="2857500" cy="10953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اختبار فهم قبلي وبعدي مع مسلمين جدد وغير مسلمين</a:t>
            </a:r>
            <a:endParaRPr/>
          </a:p>
        </p:txBody>
      </p:sp>
      <p:sp>
        <p:nvSpPr>
          <p:cNvPr id="663" name="Google Shape;663;p18"/>
          <p:cNvSpPr txBox="1"/>
          <p:nvPr>
            <p:ph idx="14" type="body"/>
          </p:nvPr>
        </p:nvSpPr>
        <p:spPr>
          <a:xfrm>
            <a:off x="7696200" y="3762375"/>
            <a:ext cx="2857500" cy="762000"/>
          </a:xfrm>
          <a:prstGeom prst="rect">
            <a:avLst/>
          </a:prstGeom>
          <a:noFill/>
          <a:ln>
            <a:noFill/>
          </a:ln>
        </p:spPr>
        <p:txBody>
          <a:bodyPr anchorCtr="0" anchor="t" bIns="0" lIns="0" spcFirstLastPara="1" rIns="0" wrap="square" tIns="0">
            <a:noAutofit/>
          </a:bodyPr>
          <a:lstStyle/>
          <a:p>
            <a:pPr indent="0" lvl="0" marL="0" rtl="0" algn="ct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03</a:t>
            </a:r>
            <a:endParaRPr/>
          </a:p>
        </p:txBody>
      </p:sp>
      <p:sp>
        <p:nvSpPr>
          <p:cNvPr id="664" name="Google Shape;664;p18"/>
          <p:cNvSpPr txBox="1"/>
          <p:nvPr>
            <p:ph idx="15" type="body"/>
          </p:nvPr>
        </p:nvSpPr>
        <p:spPr>
          <a:xfrm>
            <a:off x="7696200" y="5238750"/>
            <a:ext cx="2857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مراجعة المحتوى</a:t>
            </a:r>
            <a:endParaRPr/>
          </a:p>
        </p:txBody>
      </p:sp>
      <p:sp>
        <p:nvSpPr>
          <p:cNvPr id="665" name="Google Shape;665;p18"/>
          <p:cNvSpPr txBox="1"/>
          <p:nvPr>
            <p:ph idx="16" type="body"/>
          </p:nvPr>
        </p:nvSpPr>
        <p:spPr>
          <a:xfrm>
            <a:off x="7696200" y="6048375"/>
            <a:ext cx="2857500" cy="5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2EF2C2"/>
                </a:solidFill>
                <a:latin typeface="Readex Pro"/>
                <a:ea typeface="Readex Pro"/>
                <a:cs typeface="Readex Pro"/>
                <a:sym typeface="Readex Pro"/>
              </a:rPr>
              <a:t>مستمر</a:t>
            </a:r>
            <a:endParaRPr/>
          </a:p>
        </p:txBody>
      </p:sp>
      <p:sp>
        <p:nvSpPr>
          <p:cNvPr id="666" name="Google Shape;666;p18"/>
          <p:cNvSpPr txBox="1"/>
          <p:nvPr>
            <p:ph idx="17" type="body"/>
          </p:nvPr>
        </p:nvSpPr>
        <p:spPr>
          <a:xfrm>
            <a:off x="7696200" y="7000875"/>
            <a:ext cx="2857500" cy="10953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كل سجل جديد يعتمده مسؤول المحتوى قبل نشره</a:t>
            </a:r>
            <a:endParaRPr/>
          </a:p>
        </p:txBody>
      </p:sp>
      <p:sp>
        <p:nvSpPr>
          <p:cNvPr id="667" name="Google Shape;667;p18"/>
          <p:cNvSpPr txBox="1"/>
          <p:nvPr>
            <p:ph idx="18" type="body"/>
          </p:nvPr>
        </p:nvSpPr>
        <p:spPr>
          <a:xfrm>
            <a:off x="4552950" y="3762375"/>
            <a:ext cx="2857500" cy="762000"/>
          </a:xfrm>
          <a:prstGeom prst="rect">
            <a:avLst/>
          </a:prstGeom>
          <a:noFill/>
          <a:ln>
            <a:noFill/>
          </a:ln>
        </p:spPr>
        <p:txBody>
          <a:bodyPr anchorCtr="0" anchor="t" bIns="0" lIns="0" spcFirstLastPara="1" rIns="0" wrap="square" tIns="0">
            <a:noAutofit/>
          </a:bodyPr>
          <a:lstStyle/>
          <a:p>
            <a:pPr indent="0" lvl="0" marL="0" rtl="0" algn="ct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04</a:t>
            </a:r>
            <a:endParaRPr/>
          </a:p>
        </p:txBody>
      </p:sp>
      <p:sp>
        <p:nvSpPr>
          <p:cNvPr id="668" name="Google Shape;668;p18"/>
          <p:cNvSpPr txBox="1"/>
          <p:nvPr>
            <p:ph idx="19" type="body"/>
          </p:nvPr>
        </p:nvSpPr>
        <p:spPr>
          <a:xfrm>
            <a:off x="4552950" y="5238750"/>
            <a:ext cx="2857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تحسين المساعد</a:t>
            </a:r>
            <a:endParaRPr/>
          </a:p>
        </p:txBody>
      </p:sp>
      <p:sp>
        <p:nvSpPr>
          <p:cNvPr id="669" name="Google Shape;669;p18"/>
          <p:cNvSpPr txBox="1"/>
          <p:nvPr>
            <p:ph idx="20" type="body"/>
          </p:nvPr>
        </p:nvSpPr>
        <p:spPr>
          <a:xfrm>
            <a:off x="4552950" y="6048375"/>
            <a:ext cx="2857500" cy="5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2EF2C2"/>
                </a:solidFill>
                <a:latin typeface="Readex Pro"/>
                <a:ea typeface="Readex Pro"/>
                <a:cs typeface="Readex Pro"/>
                <a:sym typeface="Readex Pro"/>
              </a:rPr>
              <a:t>كل تعديل</a:t>
            </a:r>
            <a:endParaRPr/>
          </a:p>
        </p:txBody>
      </p:sp>
      <p:sp>
        <p:nvSpPr>
          <p:cNvPr id="670" name="Google Shape;670;p18"/>
          <p:cNvSpPr txBox="1"/>
          <p:nvPr>
            <p:ph idx="21" type="body"/>
          </p:nvPr>
        </p:nvSpPr>
        <p:spPr>
          <a:xfrm>
            <a:off x="4552950" y="7000875"/>
            <a:ext cx="2857500" cy="10953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إعادة اختبار الأسئلة الخمسين قبل النشر</a:t>
            </a:r>
            <a:endParaRPr/>
          </a:p>
        </p:txBody>
      </p:sp>
      <p:sp>
        <p:nvSpPr>
          <p:cNvPr id="671" name="Google Shape;671;p18"/>
          <p:cNvSpPr txBox="1"/>
          <p:nvPr>
            <p:ph idx="22" type="body"/>
          </p:nvPr>
        </p:nvSpPr>
        <p:spPr>
          <a:xfrm>
            <a:off x="1409700" y="3762375"/>
            <a:ext cx="2857500" cy="762000"/>
          </a:xfrm>
          <a:prstGeom prst="rect">
            <a:avLst/>
          </a:prstGeom>
          <a:noFill/>
          <a:ln>
            <a:noFill/>
          </a:ln>
        </p:spPr>
        <p:txBody>
          <a:bodyPr anchorCtr="0" anchor="t" bIns="0" lIns="0" spcFirstLastPara="1" rIns="0" wrap="square" tIns="0">
            <a:noAutofit/>
          </a:bodyPr>
          <a:lstStyle/>
          <a:p>
            <a:pPr indent="0" lvl="0" marL="0" rtl="0" algn="ctr">
              <a:lnSpc>
                <a:spcPct val="100000"/>
              </a:lnSpc>
              <a:spcBef>
                <a:spcPts val="0"/>
              </a:spcBef>
              <a:spcAft>
                <a:spcPts val="0"/>
              </a:spcAft>
              <a:buSzPts val="3900"/>
              <a:buNone/>
            </a:pPr>
            <a:r>
              <a:rPr b="1" lang="ar-SA" sz="3900">
                <a:solidFill>
                  <a:srgbClr val="2EF2C2"/>
                </a:solidFill>
                <a:latin typeface="Readex Pro"/>
                <a:ea typeface="Readex Pro"/>
                <a:cs typeface="Readex Pro"/>
                <a:sym typeface="Readex Pro"/>
              </a:rPr>
              <a:t>05</a:t>
            </a:r>
            <a:endParaRPr/>
          </a:p>
        </p:txBody>
      </p:sp>
      <p:sp>
        <p:nvSpPr>
          <p:cNvPr id="672" name="Google Shape;672;p18"/>
          <p:cNvSpPr txBox="1"/>
          <p:nvPr>
            <p:ph idx="23" type="body"/>
          </p:nvPr>
        </p:nvSpPr>
        <p:spPr>
          <a:xfrm>
            <a:off x="1409700" y="5238750"/>
            <a:ext cx="2857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رواية القصة صوتياً بالعربية</a:t>
            </a:r>
            <a:endParaRPr/>
          </a:p>
        </p:txBody>
      </p:sp>
      <p:sp>
        <p:nvSpPr>
          <p:cNvPr id="673" name="Google Shape;673;p18"/>
          <p:cNvSpPr txBox="1"/>
          <p:nvPr>
            <p:ph idx="24" type="body"/>
          </p:nvPr>
        </p:nvSpPr>
        <p:spPr>
          <a:xfrm>
            <a:off x="1409700" y="6048375"/>
            <a:ext cx="2857500" cy="5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2EF2C2"/>
                </a:solidFill>
                <a:latin typeface="Readex Pro"/>
                <a:ea typeface="Readex Pro"/>
                <a:cs typeface="Readex Pro"/>
                <a:sym typeface="Readex Pro"/>
              </a:rPr>
              <a:t>قيد التطوير</a:t>
            </a:r>
            <a:endParaRPr/>
          </a:p>
        </p:txBody>
      </p:sp>
      <p:sp>
        <p:nvSpPr>
          <p:cNvPr id="674" name="Google Shape;674;p18"/>
          <p:cNvSpPr txBox="1"/>
          <p:nvPr>
            <p:ph idx="25" type="body"/>
          </p:nvPr>
        </p:nvSpPr>
        <p:spPr>
          <a:xfrm>
            <a:off x="1409700" y="7000875"/>
            <a:ext cx="2857500" cy="10953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القصة كاملة مسموعة بالإنجليزية الآن، ثم العربية</a:t>
            </a:r>
            <a:endParaRPr/>
          </a:p>
        </p:txBody>
      </p:sp>
      <p:cxnSp>
        <p:nvCxnSpPr>
          <p:cNvPr id="675" name="Google Shape;675;p18"/>
          <p:cNvCxnSpPr/>
          <p:nvPr/>
        </p:nvCxnSpPr>
        <p:spPr>
          <a:xfrm rot="10800000">
            <a:off x="13992300" y="4708975"/>
            <a:ext cx="2838300" cy="0"/>
          </a:xfrm>
          <a:prstGeom prst="straightConnector1">
            <a:avLst/>
          </a:prstGeom>
          <a:noFill/>
          <a:ln cap="flat" cmpd="sng" w="76200">
            <a:solidFill>
              <a:srgbClr val="6150EA"/>
            </a:solidFill>
            <a:prstDash val="solid"/>
            <a:round/>
            <a:headEnd len="med" w="med" type="none"/>
            <a:tailEnd len="med" w="med" type="none"/>
          </a:ln>
        </p:spPr>
      </p:cxnSp>
      <p:pic>
        <p:nvPicPr>
          <p:cNvPr id="676" name="Google Shape;676;p18"/>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cxnSp>
        <p:nvCxnSpPr>
          <p:cNvPr id="677" name="Google Shape;677;p18"/>
          <p:cNvCxnSpPr/>
          <p:nvPr/>
        </p:nvCxnSpPr>
        <p:spPr>
          <a:xfrm rot="10800000">
            <a:off x="10830000" y="4708975"/>
            <a:ext cx="2838300" cy="0"/>
          </a:xfrm>
          <a:prstGeom prst="straightConnector1">
            <a:avLst/>
          </a:prstGeom>
          <a:noFill/>
          <a:ln cap="flat" cmpd="sng" w="76200">
            <a:solidFill>
              <a:srgbClr val="6150EA"/>
            </a:solidFill>
            <a:prstDash val="solid"/>
            <a:round/>
            <a:headEnd len="med" w="med" type="none"/>
            <a:tailEnd len="med" w="med" type="none"/>
          </a:ln>
        </p:spPr>
      </p:cxnSp>
      <p:cxnSp>
        <p:nvCxnSpPr>
          <p:cNvPr id="678" name="Google Shape;678;p18"/>
          <p:cNvCxnSpPr/>
          <p:nvPr/>
        </p:nvCxnSpPr>
        <p:spPr>
          <a:xfrm rot="10800000">
            <a:off x="7667700" y="4708975"/>
            <a:ext cx="2838300" cy="0"/>
          </a:xfrm>
          <a:prstGeom prst="straightConnector1">
            <a:avLst/>
          </a:prstGeom>
          <a:noFill/>
          <a:ln cap="flat" cmpd="sng" w="76200">
            <a:solidFill>
              <a:srgbClr val="6150EA"/>
            </a:solidFill>
            <a:prstDash val="solid"/>
            <a:round/>
            <a:headEnd len="med" w="med" type="none"/>
            <a:tailEnd len="med" w="med" type="none"/>
          </a:ln>
        </p:spPr>
      </p:cxnSp>
      <p:cxnSp>
        <p:nvCxnSpPr>
          <p:cNvPr id="679" name="Google Shape;679;p18"/>
          <p:cNvCxnSpPr/>
          <p:nvPr/>
        </p:nvCxnSpPr>
        <p:spPr>
          <a:xfrm rot="10800000">
            <a:off x="4505400" y="4708975"/>
            <a:ext cx="2838300" cy="0"/>
          </a:xfrm>
          <a:prstGeom prst="straightConnector1">
            <a:avLst/>
          </a:prstGeom>
          <a:noFill/>
          <a:ln cap="flat" cmpd="sng" w="76200">
            <a:solidFill>
              <a:srgbClr val="6150EA"/>
            </a:solidFill>
            <a:prstDash val="solid"/>
            <a:round/>
            <a:headEnd len="med" w="med" type="none"/>
            <a:tailEnd len="med" w="med" type="none"/>
          </a:ln>
        </p:spPr>
      </p:cxnSp>
      <p:cxnSp>
        <p:nvCxnSpPr>
          <p:cNvPr id="680" name="Google Shape;680;p18"/>
          <p:cNvCxnSpPr/>
          <p:nvPr/>
        </p:nvCxnSpPr>
        <p:spPr>
          <a:xfrm rot="10800000">
            <a:off x="1343100" y="4708975"/>
            <a:ext cx="2838300" cy="0"/>
          </a:xfrm>
          <a:prstGeom prst="straightConnector1">
            <a:avLst/>
          </a:prstGeom>
          <a:noFill/>
          <a:ln cap="flat" cmpd="sng" w="76200">
            <a:solidFill>
              <a:srgbClr val="6150EA"/>
            </a:solidFill>
            <a:prstDash val="solid"/>
            <a:round/>
            <a:headEnd len="med" w="med" type="none"/>
            <a:tailEnd len="med" w="med" type="none"/>
          </a:ln>
        </p:spPr>
      </p:cxn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5" name="Shape 685"/>
        <p:cNvGrpSpPr/>
        <p:nvPr/>
      </p:nvGrpSpPr>
      <p:grpSpPr>
        <a:xfrm>
          <a:off x="0" y="0"/>
          <a:ext cx="0" cy="0"/>
          <a:chOff x="0" y="0"/>
          <a:chExt cx="0" cy="0"/>
        </a:xfrm>
      </p:grpSpPr>
      <p:pic>
        <p:nvPicPr>
          <p:cNvPr id="686" name="Google Shape;686;p19"/>
          <p:cNvPicPr preferRelativeResize="0"/>
          <p:nvPr/>
        </p:nvPicPr>
        <p:blipFill rotWithShape="1">
          <a:blip r:embed="rId3">
            <a:alphaModFix/>
          </a:blip>
          <a:srcRect b="0" l="0" r="0" t="0"/>
          <a:stretch/>
        </p:blipFill>
        <p:spPr>
          <a:xfrm>
            <a:off x="-19050" y="0"/>
            <a:ext cx="18288000" cy="10287000"/>
          </a:xfrm>
          <a:prstGeom prst="rect">
            <a:avLst/>
          </a:prstGeom>
          <a:noFill/>
          <a:ln>
            <a:noFill/>
          </a:ln>
        </p:spPr>
      </p:pic>
      <p:pic>
        <p:nvPicPr>
          <p:cNvPr id="687" name="Google Shape;687;p19"/>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688" name="Google Shape;688;p19"/>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الفريق</a:t>
            </a:r>
            <a:endParaRPr/>
          </a:p>
        </p:txBody>
      </p:sp>
      <p:sp>
        <p:nvSpPr>
          <p:cNvPr id="689" name="Google Shape;689;p19"/>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فريق العمل</a:t>
            </a:r>
            <a:endParaRPr/>
          </a:p>
        </p:txBody>
      </p:sp>
      <p:sp>
        <p:nvSpPr>
          <p:cNvPr id="690" name="Google Shape;690;p19"/>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فريق بداية: التقنية والمحتوى والاختبار</a:t>
            </a:r>
            <a:endParaRPr/>
          </a:p>
        </p:txBody>
      </p:sp>
      <p:sp>
        <p:nvSpPr>
          <p:cNvPr id="691" name="Google Shape;691;p19"/>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692" name="Google Shape;692;p19"/>
          <p:cNvSpPr/>
          <p:nvPr>
            <p:ph idx="3" type="pic"/>
          </p:nvPr>
        </p:nvSpPr>
        <p:spPr>
          <a:xfrm>
            <a:off x="1219200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693" name="Google Shape;693;p19"/>
          <p:cNvSpPr txBox="1"/>
          <p:nvPr>
            <p:ph idx="4" type="body"/>
          </p:nvPr>
        </p:nvSpPr>
        <p:spPr>
          <a:xfrm>
            <a:off x="11715750" y="6953250"/>
            <a:ext cx="3524250" cy="619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عمر بن طالب</a:t>
            </a:r>
            <a:endParaRPr/>
          </a:p>
        </p:txBody>
      </p:sp>
      <p:sp>
        <p:nvSpPr>
          <p:cNvPr id="694" name="Google Shape;694;p19"/>
          <p:cNvSpPr txBox="1"/>
          <p:nvPr>
            <p:ph idx="5" type="body"/>
          </p:nvPr>
        </p:nvSpPr>
        <p:spPr>
          <a:xfrm>
            <a:off x="11715750" y="7810500"/>
            <a:ext cx="3524250" cy="9048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100"/>
              <a:buNone/>
            </a:pPr>
            <a:r>
              <a:rPr b="0" lang="ar-SA" sz="2100">
                <a:solidFill>
                  <a:srgbClr val="2EF2C2"/>
                </a:solidFill>
                <a:latin typeface="Readex Pro"/>
                <a:ea typeface="Readex Pro"/>
                <a:cs typeface="Readex Pro"/>
                <a:sym typeface="Readex Pro"/>
              </a:rPr>
              <a:t>الذكاء الاصطناعي: المساعد، والتبسيط والترجمة، ودقة الإجابات</a:t>
            </a:r>
            <a:endParaRPr/>
          </a:p>
        </p:txBody>
      </p:sp>
      <p:sp>
        <p:nvSpPr>
          <p:cNvPr id="695" name="Google Shape;695;p19"/>
          <p:cNvSpPr/>
          <p:nvPr>
            <p:ph idx="6" type="pic"/>
          </p:nvPr>
        </p:nvSpPr>
        <p:spPr>
          <a:xfrm>
            <a:off x="819150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696" name="Google Shape;696;p19"/>
          <p:cNvSpPr txBox="1"/>
          <p:nvPr>
            <p:ph idx="7" type="body"/>
          </p:nvPr>
        </p:nvSpPr>
        <p:spPr>
          <a:xfrm>
            <a:off x="7715250" y="6953250"/>
            <a:ext cx="3524250" cy="619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الياس التركستاني</a:t>
            </a:r>
            <a:endParaRPr/>
          </a:p>
        </p:txBody>
      </p:sp>
      <p:sp>
        <p:nvSpPr>
          <p:cNvPr id="697" name="Google Shape;697;p19"/>
          <p:cNvSpPr txBox="1"/>
          <p:nvPr>
            <p:ph idx="8" type="body"/>
          </p:nvPr>
        </p:nvSpPr>
        <p:spPr>
          <a:xfrm>
            <a:off x="7715250" y="7810500"/>
            <a:ext cx="3524250" cy="9048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100"/>
              <a:buNone/>
            </a:pPr>
            <a:r>
              <a:rPr b="0" lang="ar-SA" sz="2100">
                <a:solidFill>
                  <a:srgbClr val="2EF2C2"/>
                </a:solidFill>
                <a:latin typeface="Readex Pro"/>
                <a:ea typeface="Readex Pro"/>
                <a:cs typeface="Readex Pro"/>
                <a:sym typeface="Readex Pro"/>
              </a:rPr>
              <a:t>الواجهة وتجربة المستخدم: الخريطة والخط الزمني، ورحلة التعلم</a:t>
            </a:r>
            <a:endParaRPr/>
          </a:p>
        </p:txBody>
      </p:sp>
      <p:sp>
        <p:nvSpPr>
          <p:cNvPr id="698" name="Google Shape;698;p19"/>
          <p:cNvSpPr/>
          <p:nvPr>
            <p:ph idx="9" type="pic"/>
          </p:nvPr>
        </p:nvSpPr>
        <p:spPr>
          <a:xfrm>
            <a:off x="4191000" y="3857625"/>
            <a:ext cx="2571750" cy="2571750"/>
          </a:xfrm>
          <a:prstGeom prst="rect">
            <a:avLst/>
          </a:prstGeom>
          <a:solidFill>
            <a:srgbClr val="161D48"/>
          </a:solidFill>
          <a:ln cap="flat" cmpd="sng" w="11425">
            <a:solidFill>
              <a:srgbClr val="4A5590"/>
            </a:solidFill>
            <a:prstDash val="solid"/>
            <a:round/>
            <a:headEnd len="sm" w="sm" type="none"/>
            <a:tailEnd len="sm" w="sm" type="none"/>
          </a:ln>
        </p:spPr>
      </p:sp>
      <p:sp>
        <p:nvSpPr>
          <p:cNvPr id="699" name="Google Shape;699;p19"/>
          <p:cNvSpPr txBox="1"/>
          <p:nvPr>
            <p:ph idx="13" type="body"/>
          </p:nvPr>
        </p:nvSpPr>
        <p:spPr>
          <a:xfrm>
            <a:off x="3714750" y="6953250"/>
            <a:ext cx="3524250" cy="61912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حسان الغامدي</a:t>
            </a:r>
            <a:endParaRPr/>
          </a:p>
        </p:txBody>
      </p:sp>
      <p:sp>
        <p:nvSpPr>
          <p:cNvPr id="700" name="Google Shape;700;p19"/>
          <p:cNvSpPr txBox="1"/>
          <p:nvPr>
            <p:ph idx="14" type="body"/>
          </p:nvPr>
        </p:nvSpPr>
        <p:spPr>
          <a:xfrm>
            <a:off x="3714750" y="7810500"/>
            <a:ext cx="3524250" cy="904875"/>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100"/>
              <a:buNone/>
            </a:pPr>
            <a:r>
              <a:rPr b="0" lang="ar-SA" sz="2100">
                <a:solidFill>
                  <a:srgbClr val="2EF2C2"/>
                </a:solidFill>
                <a:latin typeface="Readex Pro"/>
                <a:ea typeface="Readex Pro"/>
                <a:cs typeface="Readex Pro"/>
                <a:sym typeface="Readex Pro"/>
              </a:rPr>
              <a:t>المحتوى والمراجعة: جمع المصادر، ومراجعة الأحداث والمصطلحات</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7" name="Shape 727"/>
        <p:cNvGrpSpPr/>
        <p:nvPr/>
      </p:nvGrpSpPr>
      <p:grpSpPr>
        <a:xfrm>
          <a:off x="0" y="0"/>
          <a:ext cx="0" cy="0"/>
          <a:chOff x="0" y="0"/>
          <a:chExt cx="0" cy="0"/>
        </a:xfrm>
      </p:grpSpPr>
      <p:pic>
        <p:nvPicPr>
          <p:cNvPr id="728" name="Google Shape;728;p21" title="خلفية هكثون5.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729" name="Google Shape;729;p21" title="شعار تحدي الذكاء.png"/>
          <p:cNvPicPr preferRelativeResize="0"/>
          <p:nvPr/>
        </p:nvPicPr>
        <p:blipFill>
          <a:blip r:embed="rId4">
            <a:alphaModFix/>
          </a:blip>
          <a:stretch>
            <a:fillRect/>
          </a:stretch>
        </p:blipFill>
        <p:spPr>
          <a:xfrm>
            <a:off x="1015225" y="572270"/>
            <a:ext cx="3490299" cy="1109450"/>
          </a:xfrm>
          <a:prstGeom prst="rect">
            <a:avLst/>
          </a:prstGeom>
          <a:noFill/>
          <a:ln>
            <a:noFill/>
          </a:ln>
        </p:spPr>
      </p:pic>
      <p:sp>
        <p:nvSpPr>
          <p:cNvPr id="730" name="Google Shape;730;p2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4A5590"/>
                </a:solidFill>
                <a:latin typeface="Readex Pro"/>
                <a:ea typeface="Readex Pro"/>
                <a:cs typeface="Readex Pro"/>
                <a:sym typeface="Readex Pro"/>
              </a:rPr>
              <a:t>‹#›</a:t>
            </a:fld>
            <a:endParaRPr/>
          </a:p>
        </p:txBody>
      </p:sp>
      <p:graphicFrame>
        <p:nvGraphicFramePr>
          <p:cNvPr id="731" name="Google Shape;731;p21"/>
          <p:cNvGraphicFramePr/>
          <p:nvPr/>
        </p:nvGraphicFramePr>
        <p:xfrm>
          <a:off x="1714500" y="3905250"/>
          <a:ext cx="3000000" cy="3000000"/>
        </p:xfrm>
        <a:graphic>
          <a:graphicData uri="http://schemas.openxmlformats.org/drawingml/2006/table">
            <a:tbl>
              <a:tblPr>
                <a:noFill/>
                <a:tableStyleId>{B8ED9858-D163-4338-9E88-1F424354888F}</a:tableStyleId>
              </a:tblPr>
              <a:tblGrid>
                <a:gridCol w="2286000"/>
                <a:gridCol w="3238500"/>
                <a:gridCol w="6191250"/>
                <a:gridCol w="3714750"/>
              </a:tblGrid>
              <a:tr h="781050">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الترخيص</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دوره في بداية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التفاصيل</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المكوّن</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r>
              <a:tr h="735000">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MIT</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البحث في المصادر بالعربية والإنجليزية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بحث بالمعنى وبالكلمات معًا في 2,905 نصًا</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bge-m3</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735000">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Apache-2.0</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ترتيب نتائج البحث</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يقدّم النصوص الأقرب إلى السؤال</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bge-reranker-v2-m3</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735000">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OpenAI terms</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فهم السؤال وكتابة الجواب</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من نصوص المصادر فقط، ويُرفض الجواب بلا استشهاد صحيح</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OpenAI gpt-6-luna</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735000">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MIT</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الموقع والخادم</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الموقع على Vercel، والخادم على Modal بمعالج رسومي</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React + FastAPI</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735000">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الاستماع إلى القصة كاملة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بالإنجليزية الآن، والعربية قيد التطوير</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Text-to-speech</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bl>
          </a:graphicData>
        </a:graphic>
      </p:graphicFrame>
      <p:sp>
        <p:nvSpPr>
          <p:cNvPr id="732" name="Google Shape;732;p21"/>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6150EA"/>
                </a:solidFill>
                <a:latin typeface="Readex Pro"/>
                <a:ea typeface="Readex Pro"/>
                <a:cs typeface="Readex Pro"/>
                <a:sym typeface="Readex Pro"/>
              </a:rPr>
              <a:t>التقنيات</a:t>
            </a:r>
            <a:endParaRPr/>
          </a:p>
        </p:txBody>
      </p:sp>
      <p:sp>
        <p:nvSpPr>
          <p:cNvPr id="733" name="Google Shape;733;p21"/>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12183F"/>
                </a:solidFill>
                <a:latin typeface="Readex Pro"/>
                <a:ea typeface="Readex Pro"/>
                <a:cs typeface="Readex Pro"/>
                <a:sym typeface="Readex Pro"/>
              </a:rPr>
              <a:t>مكوّنات الذكاء الاصطناعي والمنصة</a:t>
            </a:r>
            <a:endParaRPr/>
          </a:p>
        </p:txBody>
      </p:sp>
      <p:sp>
        <p:nvSpPr>
          <p:cNvPr id="734" name="Google Shape;734;p21"/>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4A5590"/>
                </a:solidFill>
                <a:latin typeface="Readex Pro"/>
                <a:ea typeface="Readex Pro"/>
                <a:cs typeface="Readex Pro"/>
                <a:sym typeface="Readex Pro"/>
              </a:rPr>
              <a:t>كل مكوّن، ودوره في الحل، وترخيصه</a:t>
            </a:r>
            <a:endParaRPr/>
          </a:p>
        </p:txBody>
      </p:sp>
      <p:sp>
        <p:nvSpPr>
          <p:cNvPr id="735" name="Google Shape;735;p21"/>
          <p:cNvSpPr txBox="1"/>
          <p:nvPr>
            <p:ph idx="3" type="body"/>
          </p:nvPr>
        </p:nvSpPr>
        <p:spPr>
          <a:xfrm>
            <a:off x="1409700" y="8810625"/>
            <a:ext cx="15430500" cy="457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4A5590"/>
                </a:solidFill>
                <a:latin typeface="Readex Pro"/>
                <a:ea typeface="Readex Pro"/>
                <a:cs typeface="Readex Pro"/>
                <a:sym typeface="Readex Pro"/>
              </a:rPr>
              <a:t>Details: backend/README.md · docs/SOURCES_AND_LICENSES.md</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16" name="Shape 816"/>
        <p:cNvGrpSpPr/>
        <p:nvPr/>
      </p:nvGrpSpPr>
      <p:grpSpPr>
        <a:xfrm>
          <a:off x="0" y="0"/>
          <a:ext cx="0" cy="0"/>
          <a:chOff x="0" y="0"/>
          <a:chExt cx="0" cy="0"/>
        </a:xfrm>
      </p:grpSpPr>
      <p:pic>
        <p:nvPicPr>
          <p:cNvPr id="817" name="Google Shape;817;p24"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818" name="Google Shape;818;p24"/>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الذكاء الاصطناعي</a:t>
            </a:r>
            <a:endParaRPr/>
          </a:p>
        </p:txBody>
      </p:sp>
      <p:sp>
        <p:nvSpPr>
          <p:cNvPr id="819" name="Google Shape;819;p24"/>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كيف يجيب «اسأل الخريطة»</a:t>
            </a:r>
            <a:endParaRPr/>
          </a:p>
        </p:txBody>
      </p:sp>
      <p:sp>
        <p:nvSpPr>
          <p:cNvPr id="820" name="Google Shape;820;p24"/>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من سؤال المستخدم إلى الجواب على الخريطة</a:t>
            </a:r>
            <a:endParaRPr/>
          </a:p>
        </p:txBody>
      </p:sp>
      <p:sp>
        <p:nvSpPr>
          <p:cNvPr id="821" name="Google Shape;821;p24"/>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822" name="Google Shape;822;p24"/>
          <p:cNvSpPr/>
          <p:nvPr/>
        </p:nvSpPr>
        <p:spPr>
          <a:xfrm>
            <a:off x="13716000" y="4333800"/>
            <a:ext cx="3429000" cy="3714900"/>
          </a:xfrm>
          <a:prstGeom prst="roundRect">
            <a:avLst>
              <a:gd fmla="val 8059" name="adj"/>
            </a:avLst>
          </a:prstGeom>
          <a:solidFill>
            <a:srgbClr val="FFFFFF">
              <a:alpha val="3920"/>
            </a:srgbClr>
          </a:solidFill>
          <a:ln cap="flat" cmpd="sng" w="8175">
            <a:solidFill>
              <a:srgbClr val="2EF2C2">
                <a:alpha val="12160"/>
              </a:srgbClr>
            </a:solidFill>
            <a:prstDash val="solid"/>
            <a:round/>
            <a:headEnd len="sm" w="sm" type="none"/>
            <a:tailEnd len="sm" w="sm" type="none"/>
          </a:ln>
        </p:spPr>
        <p:txBody>
          <a:bodyPr anchorCtr="0" anchor="ctr" bIns="78400" lIns="78400" spcFirstLastPara="1" rIns="78400" wrap="square" tIns="78400">
            <a:noAutofit/>
          </a:bodyPr>
          <a:lstStyle/>
          <a:p>
            <a:pPr indent="0" lvl="0" marL="0" marR="238670" rtl="0" algn="r">
              <a:spcBef>
                <a:spcPts val="0"/>
              </a:spcBef>
              <a:spcAft>
                <a:spcPts val="0"/>
              </a:spcAft>
              <a:buNone/>
            </a:pPr>
            <a:r>
              <a:rPr b="1" lang="ar-SA" sz="3600">
                <a:solidFill>
                  <a:srgbClr val="2EF2C2"/>
                </a:solidFill>
                <a:latin typeface="Readex Pro"/>
                <a:ea typeface="Readex Pro"/>
                <a:cs typeface="Readex Pro"/>
                <a:sym typeface="Readex Pro"/>
              </a:rPr>
              <a:t>01</a:t>
            </a:r>
            <a:endParaRPr>
              <a:solidFill>
                <a:schemeClr val="dk1"/>
              </a:solidFill>
              <a:latin typeface="Readex Pro"/>
              <a:ea typeface="Readex Pro"/>
              <a:cs typeface="Readex Pro"/>
              <a:sym typeface="Readex Pro"/>
            </a:endParaRPr>
          </a:p>
          <a:p>
            <a:pPr indent="0" lvl="0" marL="269999" rtl="1" algn="r">
              <a:spcBef>
                <a:spcPts val="2300"/>
              </a:spcBef>
              <a:spcAft>
                <a:spcPts val="0"/>
              </a:spcAft>
              <a:buNone/>
            </a:pPr>
            <a:r>
              <a:rPr b="1" lang="ar-SA" sz="2700">
                <a:solidFill>
                  <a:srgbClr val="F2F4FF"/>
                </a:solidFill>
                <a:latin typeface="Readex Pro"/>
                <a:ea typeface="Readex Pro"/>
                <a:cs typeface="Readex Pro"/>
                <a:sym typeface="Readex Pro"/>
              </a:rPr>
              <a:t>السؤال</a:t>
            </a:r>
            <a:endParaRPr>
              <a:solidFill>
                <a:schemeClr val="dk1"/>
              </a:solidFill>
              <a:latin typeface="Readex Pro"/>
              <a:ea typeface="Readex Pro"/>
              <a:cs typeface="Readex Pro"/>
              <a:sym typeface="Readex Pro"/>
            </a:endParaRPr>
          </a:p>
          <a:p>
            <a:pPr indent="0" lvl="0" marL="269999" rtl="1" algn="r">
              <a:spcBef>
                <a:spcPts val="2200"/>
              </a:spcBef>
              <a:spcAft>
                <a:spcPts val="0"/>
              </a:spcAft>
              <a:buNone/>
            </a:pPr>
            <a:r>
              <a:rPr lang="ar-SA" sz="2175">
                <a:solidFill>
                  <a:srgbClr val="CBCFE6"/>
                </a:solidFill>
                <a:latin typeface="Readex Pro"/>
                <a:ea typeface="Readex Pro"/>
                <a:cs typeface="Readex Pro"/>
                <a:sym typeface="Readex Pro"/>
              </a:rPr>
              <a:t>بالعربية أو الإنجليزية</a:t>
            </a:r>
            <a:endParaRPr>
              <a:solidFill>
                <a:schemeClr val="dk1"/>
              </a:solidFill>
              <a:latin typeface="Readex Pro"/>
              <a:ea typeface="Readex Pro"/>
              <a:cs typeface="Readex Pro"/>
              <a:sym typeface="Readex Pro"/>
            </a:endParaRPr>
          </a:p>
          <a:p>
            <a:pPr indent="0" lvl="0" marL="269999" rtl="1" algn="r">
              <a:spcBef>
                <a:spcPts val="600"/>
              </a:spcBef>
              <a:spcAft>
                <a:spcPts val="0"/>
              </a:spcAft>
              <a:buNone/>
            </a:pPr>
            <a:r>
              <a:rPr lang="ar-SA" sz="2175">
                <a:solidFill>
                  <a:srgbClr val="CBCFE6"/>
                </a:solidFill>
                <a:latin typeface="Readex Pro"/>
                <a:ea typeface="Readex Pro"/>
                <a:cs typeface="Readex Pro"/>
                <a:sym typeface="Readex Pro"/>
              </a:rPr>
              <a:t>مع سياق المحادثة لأسئلة المتابعة</a:t>
            </a:r>
            <a:endParaRPr>
              <a:solidFill>
                <a:schemeClr val="dk1"/>
              </a:solidFill>
              <a:latin typeface="Readex Pro"/>
              <a:ea typeface="Readex Pro"/>
              <a:cs typeface="Readex Pro"/>
              <a:sym typeface="Readex Pro"/>
            </a:endParaRPr>
          </a:p>
          <a:p>
            <a:pPr indent="0" lvl="0" marL="0" rtl="1" algn="r">
              <a:lnSpc>
                <a:spcPct val="115000"/>
              </a:lnSpc>
              <a:spcBef>
                <a:spcPts val="0"/>
              </a:spcBef>
              <a:spcAft>
                <a:spcPts val="0"/>
              </a:spcAft>
              <a:buNone/>
            </a:pPr>
            <a:r>
              <a:t/>
            </a:r>
            <a:endParaRPr sz="1201"/>
          </a:p>
        </p:txBody>
      </p:sp>
      <p:sp>
        <p:nvSpPr>
          <p:cNvPr id="823" name="Google Shape;823;p24"/>
          <p:cNvSpPr/>
          <p:nvPr/>
        </p:nvSpPr>
        <p:spPr>
          <a:xfrm>
            <a:off x="9715500" y="4333800"/>
            <a:ext cx="3429000" cy="3714900"/>
          </a:xfrm>
          <a:prstGeom prst="roundRect">
            <a:avLst>
              <a:gd fmla="val 8059" name="adj"/>
            </a:avLst>
          </a:prstGeom>
          <a:solidFill>
            <a:srgbClr val="FFFFFF">
              <a:alpha val="3920"/>
            </a:srgbClr>
          </a:solidFill>
          <a:ln cap="flat" cmpd="sng" w="8175">
            <a:solidFill>
              <a:srgbClr val="2EF2C2">
                <a:alpha val="12160"/>
              </a:srgbClr>
            </a:solidFill>
            <a:prstDash val="solid"/>
            <a:round/>
            <a:headEnd len="sm" w="sm" type="none"/>
            <a:tailEnd len="sm" w="sm" type="none"/>
          </a:ln>
        </p:spPr>
        <p:txBody>
          <a:bodyPr anchorCtr="0" anchor="ctr" bIns="78400" lIns="78400" spcFirstLastPara="1" rIns="78400" wrap="square" tIns="78400">
            <a:noAutofit/>
          </a:bodyPr>
          <a:lstStyle/>
          <a:p>
            <a:pPr indent="0" lvl="0" marL="0" marR="223307" rtl="0" algn="r">
              <a:spcBef>
                <a:spcPts val="0"/>
              </a:spcBef>
              <a:spcAft>
                <a:spcPts val="0"/>
              </a:spcAft>
              <a:buNone/>
            </a:pPr>
            <a:r>
              <a:rPr b="1" lang="ar-SA" sz="3600">
                <a:solidFill>
                  <a:srgbClr val="2EF2C2"/>
                </a:solidFill>
                <a:latin typeface="Readex Pro"/>
                <a:ea typeface="Readex Pro"/>
                <a:cs typeface="Readex Pro"/>
                <a:sym typeface="Readex Pro"/>
              </a:rPr>
              <a:t>02</a:t>
            </a:r>
            <a:endParaRPr>
              <a:solidFill>
                <a:schemeClr val="dk1"/>
              </a:solidFill>
              <a:latin typeface="Readex Pro"/>
              <a:ea typeface="Readex Pro"/>
              <a:cs typeface="Readex Pro"/>
              <a:sym typeface="Readex Pro"/>
            </a:endParaRPr>
          </a:p>
          <a:p>
            <a:pPr indent="0" lvl="0" marL="269999" rtl="1" algn="r">
              <a:spcBef>
                <a:spcPts val="2300"/>
              </a:spcBef>
              <a:spcAft>
                <a:spcPts val="0"/>
              </a:spcAft>
              <a:buNone/>
            </a:pPr>
            <a:r>
              <a:rPr b="1" lang="ar-SA" sz="2700">
                <a:solidFill>
                  <a:srgbClr val="F2F4FF"/>
                </a:solidFill>
                <a:latin typeface="Readex Pro"/>
                <a:ea typeface="Readex Pro"/>
                <a:cs typeface="Readex Pro"/>
                <a:sym typeface="Readex Pro"/>
              </a:rPr>
              <a:t>الفهم والبحث</a:t>
            </a:r>
            <a:endParaRPr>
              <a:solidFill>
                <a:schemeClr val="dk1"/>
              </a:solidFill>
              <a:latin typeface="Readex Pro"/>
              <a:ea typeface="Readex Pro"/>
              <a:cs typeface="Readex Pro"/>
              <a:sym typeface="Readex Pro"/>
            </a:endParaRPr>
          </a:p>
          <a:p>
            <a:pPr indent="0" lvl="0" marL="269999" rtl="1" algn="r">
              <a:spcBef>
                <a:spcPts val="2200"/>
              </a:spcBef>
              <a:spcAft>
                <a:spcPts val="0"/>
              </a:spcAft>
              <a:buNone/>
            </a:pPr>
            <a:r>
              <a:rPr lang="ar-SA" sz="2175">
                <a:solidFill>
                  <a:srgbClr val="CBCFE6"/>
                </a:solidFill>
                <a:latin typeface="Readex Pro"/>
                <a:ea typeface="Readex Pro"/>
                <a:cs typeface="Readex Pro"/>
                <a:sym typeface="Readex Pro"/>
              </a:rPr>
              <a:t>نموذج لغوي يصنّف السؤال ويعيد صياغته</a:t>
            </a:r>
            <a:endParaRPr>
              <a:solidFill>
                <a:schemeClr val="dk1"/>
              </a:solidFill>
              <a:latin typeface="Readex Pro"/>
              <a:ea typeface="Readex Pro"/>
              <a:cs typeface="Readex Pro"/>
              <a:sym typeface="Readex Pro"/>
            </a:endParaRPr>
          </a:p>
          <a:p>
            <a:pPr indent="0" lvl="0" marL="269999" rtl="1" algn="r">
              <a:spcBef>
                <a:spcPts val="600"/>
              </a:spcBef>
              <a:spcAft>
                <a:spcPts val="0"/>
              </a:spcAft>
              <a:buNone/>
            </a:pPr>
            <a:r>
              <a:rPr lang="ar-SA" sz="2175">
                <a:solidFill>
                  <a:srgbClr val="CBCFE6"/>
                </a:solidFill>
                <a:latin typeface="Readex Pro"/>
                <a:ea typeface="Readex Pro"/>
                <a:cs typeface="Readex Pro"/>
                <a:sym typeface="Readex Pro"/>
              </a:rPr>
              <a:t>بحث في 2,905 نصًا من المصادر ثم ترتيبها</a:t>
            </a:r>
            <a:endParaRPr b="1" sz="3600">
              <a:solidFill>
                <a:srgbClr val="2EF2C2"/>
              </a:solidFill>
              <a:latin typeface="Readex Pro"/>
              <a:ea typeface="Readex Pro"/>
              <a:cs typeface="Readex Pro"/>
              <a:sym typeface="Readex Pro"/>
            </a:endParaRPr>
          </a:p>
        </p:txBody>
      </p:sp>
      <p:sp>
        <p:nvSpPr>
          <p:cNvPr id="824" name="Google Shape;824;p24"/>
          <p:cNvSpPr/>
          <p:nvPr/>
        </p:nvSpPr>
        <p:spPr>
          <a:xfrm>
            <a:off x="5715000" y="4333800"/>
            <a:ext cx="3429000" cy="3714900"/>
          </a:xfrm>
          <a:prstGeom prst="roundRect">
            <a:avLst>
              <a:gd fmla="val 8059" name="adj"/>
            </a:avLst>
          </a:prstGeom>
          <a:solidFill>
            <a:srgbClr val="FFFFFF">
              <a:alpha val="3920"/>
            </a:srgbClr>
          </a:solidFill>
          <a:ln cap="flat" cmpd="sng" w="8175">
            <a:solidFill>
              <a:srgbClr val="2EF2C2">
                <a:alpha val="12160"/>
              </a:srgbClr>
            </a:solidFill>
            <a:prstDash val="solid"/>
            <a:round/>
            <a:headEnd len="sm" w="sm" type="none"/>
            <a:tailEnd len="sm" w="sm" type="none"/>
          </a:ln>
        </p:spPr>
        <p:txBody>
          <a:bodyPr anchorCtr="0" anchor="ctr" bIns="78400" lIns="78400" spcFirstLastPara="1" rIns="78400" wrap="square" tIns="78400">
            <a:noAutofit/>
          </a:bodyPr>
          <a:lstStyle/>
          <a:p>
            <a:pPr indent="0" lvl="0" marL="0" marR="238125" rtl="0" algn="r">
              <a:spcBef>
                <a:spcPts val="0"/>
              </a:spcBef>
              <a:spcAft>
                <a:spcPts val="0"/>
              </a:spcAft>
              <a:buNone/>
            </a:pPr>
            <a:r>
              <a:rPr b="1" lang="ar-SA" sz="3600">
                <a:solidFill>
                  <a:srgbClr val="2EF2C2"/>
                </a:solidFill>
                <a:latin typeface="Readex Pro"/>
                <a:ea typeface="Readex Pro"/>
                <a:cs typeface="Readex Pro"/>
                <a:sym typeface="Readex Pro"/>
              </a:rPr>
              <a:t>03</a:t>
            </a:r>
            <a:endParaRPr>
              <a:solidFill>
                <a:schemeClr val="dk1"/>
              </a:solidFill>
              <a:latin typeface="Readex Pro"/>
              <a:ea typeface="Readex Pro"/>
              <a:cs typeface="Readex Pro"/>
              <a:sym typeface="Readex Pro"/>
            </a:endParaRPr>
          </a:p>
          <a:p>
            <a:pPr indent="0" lvl="0" marL="269999" rtl="1" algn="r">
              <a:spcBef>
                <a:spcPts val="2300"/>
              </a:spcBef>
              <a:spcAft>
                <a:spcPts val="0"/>
              </a:spcAft>
              <a:buNone/>
            </a:pPr>
            <a:r>
              <a:rPr b="1" lang="ar-SA" sz="2700">
                <a:solidFill>
                  <a:srgbClr val="F2F4FF"/>
                </a:solidFill>
                <a:latin typeface="Readex Pro"/>
                <a:ea typeface="Readex Pro"/>
                <a:cs typeface="Readex Pro"/>
                <a:sym typeface="Readex Pro"/>
              </a:rPr>
              <a:t>جواب موثّق</a:t>
            </a:r>
            <a:endParaRPr>
              <a:solidFill>
                <a:schemeClr val="dk1"/>
              </a:solidFill>
              <a:latin typeface="Readex Pro"/>
              <a:ea typeface="Readex Pro"/>
              <a:cs typeface="Readex Pro"/>
              <a:sym typeface="Readex Pro"/>
            </a:endParaRPr>
          </a:p>
          <a:p>
            <a:pPr indent="0" lvl="0" marL="269999" rtl="1" algn="r">
              <a:spcBef>
                <a:spcPts val="2200"/>
              </a:spcBef>
              <a:spcAft>
                <a:spcPts val="0"/>
              </a:spcAft>
              <a:buNone/>
            </a:pPr>
            <a:r>
              <a:rPr lang="ar-SA" sz="2175">
                <a:solidFill>
                  <a:srgbClr val="CBCFE6"/>
                </a:solidFill>
                <a:latin typeface="Readex Pro"/>
                <a:ea typeface="Readex Pro"/>
                <a:cs typeface="Readex Pro"/>
                <a:sym typeface="Readex Pro"/>
              </a:rPr>
              <a:t>يجيب من المصادر مع روابطها</a:t>
            </a:r>
            <a:endParaRPr>
              <a:solidFill>
                <a:schemeClr val="dk1"/>
              </a:solidFill>
              <a:latin typeface="Readex Pro"/>
              <a:ea typeface="Readex Pro"/>
              <a:cs typeface="Readex Pro"/>
              <a:sym typeface="Readex Pro"/>
            </a:endParaRPr>
          </a:p>
          <a:p>
            <a:pPr indent="0" lvl="0" marL="269999" rtl="1" algn="r">
              <a:spcBef>
                <a:spcPts val="600"/>
              </a:spcBef>
              <a:spcAft>
                <a:spcPts val="0"/>
              </a:spcAft>
              <a:buNone/>
            </a:pPr>
            <a:r>
              <a:rPr lang="ar-SA" sz="2175">
                <a:solidFill>
                  <a:srgbClr val="CBCFE6"/>
                </a:solidFill>
                <a:latin typeface="Readex Pro"/>
                <a:ea typeface="Readex Pro"/>
                <a:cs typeface="Readex Pro"/>
                <a:sym typeface="Readex Pro"/>
              </a:rPr>
              <a:t>وإن لم يجد فيها جوابًا امتنع</a:t>
            </a:r>
            <a:endParaRPr b="1" sz="3600">
              <a:solidFill>
                <a:srgbClr val="2EF2C2"/>
              </a:solidFill>
              <a:latin typeface="Readex Pro"/>
              <a:ea typeface="Readex Pro"/>
              <a:cs typeface="Readex Pro"/>
              <a:sym typeface="Readex Pro"/>
            </a:endParaRPr>
          </a:p>
        </p:txBody>
      </p:sp>
      <p:sp>
        <p:nvSpPr>
          <p:cNvPr id="825" name="Google Shape;825;p24"/>
          <p:cNvSpPr/>
          <p:nvPr/>
        </p:nvSpPr>
        <p:spPr>
          <a:xfrm>
            <a:off x="1714500" y="4333800"/>
            <a:ext cx="3429000" cy="3714900"/>
          </a:xfrm>
          <a:prstGeom prst="roundRect">
            <a:avLst>
              <a:gd fmla="val 8059" name="adj"/>
            </a:avLst>
          </a:prstGeom>
          <a:solidFill>
            <a:srgbClr val="FFFFFF">
              <a:alpha val="3920"/>
            </a:srgbClr>
          </a:solidFill>
          <a:ln cap="flat" cmpd="sng" w="8175">
            <a:solidFill>
              <a:srgbClr val="2EF2C2">
                <a:alpha val="12160"/>
              </a:srgbClr>
            </a:solidFill>
            <a:prstDash val="solid"/>
            <a:round/>
            <a:headEnd len="sm" w="sm" type="none"/>
            <a:tailEnd len="sm" w="sm" type="none"/>
          </a:ln>
        </p:spPr>
        <p:txBody>
          <a:bodyPr anchorCtr="0" anchor="ctr" bIns="78400" lIns="78400" spcFirstLastPara="1" rIns="78400" wrap="square" tIns="78400">
            <a:noAutofit/>
          </a:bodyPr>
          <a:lstStyle/>
          <a:p>
            <a:pPr indent="0" lvl="0" marL="0" marR="223307" rtl="0" algn="r">
              <a:spcBef>
                <a:spcPts val="0"/>
              </a:spcBef>
              <a:spcAft>
                <a:spcPts val="0"/>
              </a:spcAft>
              <a:buNone/>
            </a:pPr>
            <a:r>
              <a:rPr b="1" lang="ar-SA" sz="3600">
                <a:solidFill>
                  <a:srgbClr val="2EF2C2"/>
                </a:solidFill>
                <a:latin typeface="Readex Pro"/>
                <a:ea typeface="Readex Pro"/>
                <a:cs typeface="Readex Pro"/>
                <a:sym typeface="Readex Pro"/>
              </a:rPr>
              <a:t>04</a:t>
            </a:r>
            <a:endParaRPr>
              <a:solidFill>
                <a:schemeClr val="dk1"/>
              </a:solidFill>
              <a:latin typeface="Readex Pro"/>
              <a:ea typeface="Readex Pro"/>
              <a:cs typeface="Readex Pro"/>
              <a:sym typeface="Readex Pro"/>
            </a:endParaRPr>
          </a:p>
          <a:p>
            <a:pPr indent="0" lvl="0" marL="269999" rtl="1" algn="r">
              <a:spcBef>
                <a:spcPts val="2300"/>
              </a:spcBef>
              <a:spcAft>
                <a:spcPts val="0"/>
              </a:spcAft>
              <a:buNone/>
            </a:pPr>
            <a:r>
              <a:rPr b="1" lang="ar-SA" sz="2700">
                <a:solidFill>
                  <a:srgbClr val="F2F4FF"/>
                </a:solidFill>
                <a:latin typeface="Readex Pro"/>
                <a:ea typeface="Readex Pro"/>
                <a:cs typeface="Readex Pro"/>
                <a:sym typeface="Readex Pro"/>
              </a:rPr>
              <a:t>على الخريطة</a:t>
            </a:r>
            <a:endParaRPr>
              <a:solidFill>
                <a:schemeClr val="dk1"/>
              </a:solidFill>
              <a:latin typeface="Readex Pro"/>
              <a:ea typeface="Readex Pro"/>
              <a:cs typeface="Readex Pro"/>
              <a:sym typeface="Readex Pro"/>
            </a:endParaRPr>
          </a:p>
          <a:p>
            <a:pPr indent="0" lvl="0" marL="269999" rtl="1" algn="r">
              <a:spcBef>
                <a:spcPts val="2200"/>
              </a:spcBef>
              <a:spcAft>
                <a:spcPts val="0"/>
              </a:spcAft>
              <a:buNone/>
            </a:pPr>
            <a:r>
              <a:rPr lang="ar-SA" sz="2175">
                <a:solidFill>
                  <a:srgbClr val="CBCFE6"/>
                </a:solidFill>
                <a:latin typeface="Readex Pro"/>
                <a:ea typeface="Readex Pro"/>
                <a:cs typeface="Readex Pro"/>
                <a:sym typeface="Readex Pro"/>
              </a:rPr>
              <a:t>تنتقل الخريطة إلى الحدث أو بطاقة الشخص</a:t>
            </a:r>
            <a:endParaRPr>
              <a:solidFill>
                <a:schemeClr val="dk1"/>
              </a:solidFill>
              <a:latin typeface="Readex Pro"/>
              <a:ea typeface="Readex Pro"/>
              <a:cs typeface="Readex Pro"/>
              <a:sym typeface="Readex Pro"/>
            </a:endParaRPr>
          </a:p>
          <a:p>
            <a:pPr indent="0" lvl="0" marL="269999" rtl="1" algn="r">
              <a:spcBef>
                <a:spcPts val="600"/>
              </a:spcBef>
              <a:spcAft>
                <a:spcPts val="0"/>
              </a:spcAft>
              <a:buNone/>
            </a:pPr>
            <a:r>
              <a:rPr lang="ar-SA" sz="2175">
                <a:solidFill>
                  <a:srgbClr val="CBCFE6"/>
                </a:solidFill>
                <a:latin typeface="Readex Pro"/>
                <a:ea typeface="Readex Pro"/>
                <a:cs typeface="Readex Pro"/>
                <a:sym typeface="Readex Pro"/>
              </a:rPr>
              <a:t>مع زر للعودة إلى موضع القراءة</a:t>
            </a:r>
            <a:endParaRPr b="1" sz="3600">
              <a:solidFill>
                <a:srgbClr val="2EF2C2"/>
              </a:solidFill>
              <a:latin typeface="Readex Pro"/>
              <a:ea typeface="Readex Pro"/>
              <a:cs typeface="Readex Pro"/>
              <a:sym typeface="Readex Pro"/>
            </a:endParaRPr>
          </a:p>
        </p:txBody>
      </p:sp>
      <p:pic>
        <p:nvPicPr>
          <p:cNvPr id="826" name="Google Shape;826;p24"/>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1" name="Shape 831"/>
        <p:cNvGrpSpPr/>
        <p:nvPr/>
      </p:nvGrpSpPr>
      <p:grpSpPr>
        <a:xfrm>
          <a:off x="0" y="0"/>
          <a:ext cx="0" cy="0"/>
          <a:chOff x="0" y="0"/>
          <a:chExt cx="0" cy="0"/>
        </a:xfrm>
      </p:grpSpPr>
      <p:pic>
        <p:nvPicPr>
          <p:cNvPr id="832" name="Google Shape;832;p25"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833" name="Google Shape;833;p2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pic>
        <p:nvPicPr>
          <p:cNvPr id="9250" name="Screenshot 1" descr="Ask the map: an answer about Badr with its sources, the map at Badr"/>
          <p:cNvPicPr>
            <a:picLocks noChangeAspect="1"/>
          </p:cNvPicPr>
          <p:nvPr/>
        </p:nvPicPr>
        <p:blipFill>
          <a:blip r:embed="rId4"/>
          <a:stretch>
            <a:fillRect/>
          </a:stretch>
        </p:blipFill>
        <p:spPr>
          <a:xfrm>
            <a:off x="2654160" y="666750"/>
            <a:ext cx="12979680" cy="6953400"/>
          </a:xfrm>
          <a:prstGeom prst="roundRect">
            <a:avLst>
              <a:gd fmla="val 3580" name="adj"/>
            </a:avLst>
          </a:prstGeom>
          <a:ln cap="flat" cmpd="sng" w="11425">
            <a:solidFill>
              <a:srgbClr val="4A5590"/>
            </a:solidFill>
            <a:prstDash val="solid"/>
            <a:round/>
            <a:headEnd len="sm" w="sm" type="none"/>
            <a:tailEnd len="sm" w="sm" type="none"/>
          </a:ln>
        </p:spPr>
      </p:pic>
      <p:sp>
        <p:nvSpPr>
          <p:cNvPr id="835" name="Google Shape;835;p25"/>
          <p:cNvSpPr txBox="1"/>
          <p:nvPr>
            <p:ph type="title"/>
          </p:nvPr>
        </p:nvSpPr>
        <p:spPr>
          <a:xfrm>
            <a:off x="2038350" y="7962900"/>
            <a:ext cx="14763900" cy="838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3900"/>
              <a:buNone/>
            </a:pPr>
            <a:r>
              <a:rPr b="1" lang="ar-SA" sz="3900">
                <a:solidFill>
                  <a:srgbClr val="F2F4FF"/>
                </a:solidFill>
                <a:latin typeface="Readex Pro"/>
                <a:ea typeface="Readex Pro"/>
                <a:cs typeface="Readex Pro"/>
                <a:sym typeface="Readex Pro"/>
              </a:rPr>
              <a:t>اسأل الخريطة: مساعد بالذكاء الاصطناعي يجيب من المصادر</a:t>
            </a:r>
            <a:endParaRPr/>
          </a:p>
        </p:txBody>
      </p:sp>
      <p:sp>
        <p:nvSpPr>
          <p:cNvPr id="836" name="Google Shape;836;p25"/>
          <p:cNvSpPr txBox="1"/>
          <p:nvPr>
            <p:ph idx="1" type="body"/>
          </p:nvPr>
        </p:nvSpPr>
        <p:spPr>
          <a:xfrm>
            <a:off x="1990725" y="8824913"/>
            <a:ext cx="14763900" cy="428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100"/>
              <a:buNone/>
            </a:pPr>
            <a:r>
              <a:rPr b="0" lang="ar-SA" sz="2100">
                <a:solidFill>
                  <a:srgbClr val="CBCFE6"/>
                </a:solidFill>
                <a:latin typeface="Readex Pro"/>
                <a:ea typeface="Readex Pro"/>
                <a:cs typeface="Readex Pro"/>
                <a:sym typeface="Readex Pro"/>
              </a:rPr>
              <a:t>سؤال لمساعد الذكاء الاصطناعي عن غزوة بدر: جواب من الدرر السنية والرحيق المختوم مع روابطهما، وتنتقل الخريطة إلى بدر مع زر للعودة</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1" name="Shape 841"/>
        <p:cNvGrpSpPr/>
        <p:nvPr/>
      </p:nvGrpSpPr>
      <p:grpSpPr>
        <a:xfrm>
          <a:off x="0" y="0"/>
          <a:ext cx="0" cy="0"/>
          <a:chOff x="0" y="0"/>
          <a:chExt cx="0" cy="0"/>
        </a:xfrm>
      </p:grpSpPr>
      <p:pic>
        <p:nvPicPr>
          <p:cNvPr id="842" name="Google Shape;842;p26"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843" name="Google Shape;843;p26"/>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التجربة</a:t>
            </a:r>
            <a:endParaRPr/>
          </a:p>
        </p:txBody>
      </p:sp>
      <p:sp>
        <p:nvSpPr>
          <p:cNvPr id="844" name="Google Shape;844;p26"/>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على الحاسب والجوال، مع إعدادات الإتاحة</a:t>
            </a:r>
            <a:endParaRPr/>
          </a:p>
        </p:txBody>
      </p:sp>
      <p:sp>
        <p:nvSpPr>
          <p:cNvPr id="845" name="Google Shape;845;p26"/>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pic>
        <p:nvPicPr>
          <p:cNvPr id="9260" name="Screenshot 1" descr="The Sirah summary on the map"/>
          <p:cNvPicPr>
            <a:picLocks noChangeAspect="1"/>
          </p:cNvPicPr>
          <p:nvPr/>
        </p:nvPicPr>
        <p:blipFill>
          <a:blip r:embed="rId5"/>
          <a:stretch>
            <a:fillRect/>
          </a:stretch>
        </p:blipFill>
        <p:spPr>
          <a:xfrm>
            <a:off x="12077700" y="4369669"/>
            <a:ext cx="4762500" cy="2976562"/>
          </a:xfrm>
          <a:prstGeom prst="roundRect">
            <a:avLst>
              <a:gd fmla="val 5252" name="adj"/>
            </a:avLst>
          </a:prstGeom>
          <a:ln cap="flat" cmpd="sng" w="11425">
            <a:solidFill>
              <a:srgbClr val="4A5590"/>
            </a:solidFill>
            <a:prstDash val="solid"/>
            <a:round/>
            <a:headEnd len="sm" w="sm" type="none"/>
            <a:tailEnd len="sm" w="sm" type="none"/>
          </a:ln>
        </p:spPr>
      </p:pic>
      <p:sp>
        <p:nvSpPr>
          <p:cNvPr id="847" name="Google Shape;847;p26"/>
          <p:cNvSpPr txBox="1"/>
          <p:nvPr>
            <p:ph idx="3" type="body"/>
          </p:nvPr>
        </p:nvSpPr>
        <p:spPr>
          <a:xfrm>
            <a:off x="12115800" y="8334375"/>
            <a:ext cx="4762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ملخص السيرة بالإنجليزية: 21 لحظة بنصوصها وآياتها</a:t>
            </a:r>
            <a:endParaRPr/>
          </a:p>
        </p:txBody>
      </p:sp>
      <p:sp>
        <p:nvSpPr>
          <p:cNvPr id="848" name="Google Shape;848;p26"/>
          <p:cNvSpPr txBox="1"/>
          <p:nvPr>
            <p:ph idx="5" type="body"/>
          </p:nvPr>
        </p:nvSpPr>
        <p:spPr>
          <a:xfrm>
            <a:off x="6762750" y="8334375"/>
            <a:ext cx="4762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بطاقة الشخص: يفتحها المساعد الذكي عند السؤال عن شخص</a:t>
            </a:r>
            <a:endParaRPr/>
          </a:p>
        </p:txBody>
      </p:sp>
      <p:sp>
        <p:nvSpPr>
          <p:cNvPr id="849" name="Google Shape;849;p26"/>
          <p:cNvSpPr txBox="1"/>
          <p:nvPr>
            <p:ph idx="7" type="body"/>
          </p:nvPr>
        </p:nvSpPr>
        <p:spPr>
          <a:xfrm>
            <a:off x="1409700" y="8334375"/>
            <a:ext cx="4762500" cy="6192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إعدادات الإتاحة: حجم النص، والتباعد، والألوان، والخط، والحركة</a:t>
            </a:r>
            <a:endParaRPr/>
          </a:p>
        </p:txBody>
      </p:sp>
      <p:pic>
        <p:nvPicPr>
          <p:cNvPr id="850" name="Google Shape;850;p26"/>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pic>
        <p:nvPicPr>
          <p:cNvPr id="9261" name="Screenshot 2" descr="A person card opened by the AI assistant"/>
          <p:cNvPicPr>
            <a:picLocks noChangeAspect="1"/>
          </p:cNvPicPr>
          <p:nvPr/>
        </p:nvPicPr>
        <p:blipFill>
          <a:blip r:embed="rId6"/>
          <a:stretch>
            <a:fillRect/>
          </a:stretch>
        </p:blipFill>
        <p:spPr>
          <a:xfrm>
            <a:off x="6743700" y="4369594"/>
            <a:ext cx="4762500" cy="2976562"/>
          </a:xfrm>
          <a:prstGeom prst="roundRect">
            <a:avLst>
              <a:gd fmla="val 5252" name="adj"/>
            </a:avLst>
          </a:prstGeom>
          <a:ln cap="flat" cmpd="sng" w="11425">
            <a:solidFill>
              <a:srgbClr val="4A5590"/>
            </a:solidFill>
            <a:prstDash val="solid"/>
            <a:round/>
            <a:headEnd len="sm" w="sm" type="none"/>
            <a:tailEnd len="sm" w="sm" type="none"/>
          </a:ln>
        </p:spPr>
      </p:pic>
      <p:pic>
        <p:nvPicPr>
          <p:cNvPr id="9262" name="Screenshot 3" descr="Accessibility settings on a phone"/>
          <p:cNvPicPr>
            <a:picLocks noChangeAspect="1"/>
          </p:cNvPicPr>
          <p:nvPr/>
        </p:nvPicPr>
        <p:blipFill>
          <a:blip r:embed="rId7"/>
          <a:stretch>
            <a:fillRect/>
          </a:stretch>
        </p:blipFill>
        <p:spPr>
          <a:xfrm>
            <a:off x="2800609" y="3714750"/>
            <a:ext cx="1980682" cy="4286400"/>
          </a:xfrm>
          <a:prstGeom prst="roundRect">
            <a:avLst>
              <a:gd fmla="val 5252" name="adj"/>
            </a:avLst>
          </a:prstGeom>
          <a:ln cap="flat" cmpd="sng" w="11425">
            <a:solidFill>
              <a:srgbClr val="4A5590"/>
            </a:solidFill>
            <a:prstDash val="solid"/>
            <a:round/>
            <a:headEnd len="sm" w="sm" type="none"/>
            <a:tailEnd len="sm" w="sm" type="none"/>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7" name="Shape 857"/>
        <p:cNvGrpSpPr/>
        <p:nvPr/>
      </p:nvGrpSpPr>
      <p:grpSpPr>
        <a:xfrm>
          <a:off x="0" y="0"/>
          <a:ext cx="0" cy="0"/>
          <a:chOff x="0" y="0"/>
          <a:chExt cx="0" cy="0"/>
        </a:xfrm>
      </p:grpSpPr>
      <p:pic>
        <p:nvPicPr>
          <p:cNvPr id="858" name="Google Shape;858;p27"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859" name="Google Shape;859;p27"/>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860" name="Google Shape;860;p27"/>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الحل</a:t>
            </a:r>
            <a:endParaRPr/>
          </a:p>
        </p:txBody>
      </p:sp>
      <p:sp>
        <p:nvSpPr>
          <p:cNvPr id="861" name="Google Shape;861;p27"/>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بداية: السيرة قصةً على الخريطة</a:t>
            </a:r>
            <a:endParaRPr/>
          </a:p>
        </p:txBody>
      </p:sp>
      <p:sp>
        <p:nvSpPr>
          <p:cNvPr id="862" name="Google Shape;862;p27"/>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بالعربية والإنجليزية، وتُروى القصة كاملة صوتياً بالإنجليزية (العربية قيد التطوير)</a:t>
            </a:r>
            <a:endParaRPr/>
          </a:p>
        </p:txBody>
      </p:sp>
      <p:sp>
        <p:nvSpPr>
          <p:cNvPr id="863" name="Google Shape;863;p27"/>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pic>
        <p:nvPicPr>
          <p:cNvPr id="864" name="Google Shape;864;p27"/>
          <p:cNvPicPr preferRelativeResize="0"/>
          <p:nvPr/>
        </p:nvPicPr>
        <p:blipFill rotWithShape="1">
          <a:blip r:embed="rId5">
            <a:alphaModFix/>
          </a:blip>
          <a:srcRect b="0" l="0" r="0" t="0"/>
          <a:stretch/>
        </p:blipFill>
        <p:spPr>
          <a:xfrm>
            <a:off x="14458950" y="4000500"/>
            <a:ext cx="1428750" cy="1428750"/>
          </a:xfrm>
          <a:prstGeom prst="rect">
            <a:avLst/>
          </a:prstGeom>
          <a:noFill/>
          <a:ln>
            <a:noFill/>
          </a:ln>
        </p:spPr>
      </p:pic>
      <p:sp>
        <p:nvSpPr>
          <p:cNvPr id="865" name="Google Shape;865;p27"/>
          <p:cNvSpPr txBox="1"/>
          <p:nvPr>
            <p:ph idx="3" type="body"/>
          </p:nvPr>
        </p:nvSpPr>
        <p:spPr>
          <a:xfrm>
            <a:off x="13411200" y="6048375"/>
            <a:ext cx="3524400" cy="7431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القصة على الخريطة</a:t>
            </a:r>
            <a:endParaRPr/>
          </a:p>
        </p:txBody>
      </p:sp>
      <p:sp>
        <p:nvSpPr>
          <p:cNvPr id="866" name="Google Shape;866;p27"/>
          <p:cNvSpPr txBox="1"/>
          <p:nvPr>
            <p:ph idx="4" type="body"/>
          </p:nvPr>
        </p:nvSpPr>
        <p:spPr>
          <a:xfrm>
            <a:off x="13411200" y="7162800"/>
            <a:ext cx="3524400" cy="11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142 حدثًا على الخريطة خطوة بخطوة، وسؤال في نهاية كل فصل</a:t>
            </a:r>
            <a:endParaRPr/>
          </a:p>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
            </a:r>
            <a:endParaRPr/>
          </a:p>
        </p:txBody>
      </p:sp>
      <p:pic>
        <p:nvPicPr>
          <p:cNvPr id="867" name="Google Shape;867;p27"/>
          <p:cNvPicPr preferRelativeResize="0"/>
          <p:nvPr/>
        </p:nvPicPr>
        <p:blipFill rotWithShape="1">
          <a:blip r:embed="rId6">
            <a:alphaModFix/>
          </a:blip>
          <a:srcRect b="0" l="0" r="0" t="0"/>
          <a:stretch/>
        </p:blipFill>
        <p:spPr>
          <a:xfrm>
            <a:off x="10458450" y="4000500"/>
            <a:ext cx="1428750" cy="1428750"/>
          </a:xfrm>
          <a:prstGeom prst="rect">
            <a:avLst/>
          </a:prstGeom>
          <a:noFill/>
          <a:ln>
            <a:noFill/>
          </a:ln>
        </p:spPr>
      </p:pic>
      <p:sp>
        <p:nvSpPr>
          <p:cNvPr id="868" name="Google Shape;868;p27"/>
          <p:cNvSpPr txBox="1"/>
          <p:nvPr>
            <p:ph idx="5" type="body"/>
          </p:nvPr>
        </p:nvSpPr>
        <p:spPr>
          <a:xfrm>
            <a:off x="9410700" y="6048375"/>
            <a:ext cx="3524400" cy="7431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السور في سياقها</a:t>
            </a:r>
            <a:endParaRPr/>
          </a:p>
        </p:txBody>
      </p:sp>
      <p:sp>
        <p:nvSpPr>
          <p:cNvPr id="869" name="Google Shape;869;p27"/>
          <p:cNvSpPr txBox="1"/>
          <p:nvPr>
            <p:ph idx="6" type="body"/>
          </p:nvPr>
        </p:nvSpPr>
        <p:spPr>
          <a:xfrm>
            <a:off x="9410700" y="7162800"/>
            <a:ext cx="3524400" cy="11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الآيات مع أحداثها، من الصحيحين وموسوعة التفسير</a:t>
            </a:r>
            <a:endParaRPr/>
          </a:p>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
            </a:r>
            <a:endParaRPr/>
          </a:p>
        </p:txBody>
      </p:sp>
      <p:pic>
        <p:nvPicPr>
          <p:cNvPr id="870" name="Google Shape;870;p27"/>
          <p:cNvPicPr preferRelativeResize="0"/>
          <p:nvPr/>
        </p:nvPicPr>
        <p:blipFill rotWithShape="1">
          <a:blip r:embed="rId7">
            <a:alphaModFix/>
          </a:blip>
          <a:srcRect b="0" l="0" r="0" t="0"/>
          <a:stretch/>
        </p:blipFill>
        <p:spPr>
          <a:xfrm>
            <a:off x="6457950" y="4000500"/>
            <a:ext cx="1428750" cy="1428750"/>
          </a:xfrm>
          <a:prstGeom prst="rect">
            <a:avLst/>
          </a:prstGeom>
          <a:noFill/>
          <a:ln>
            <a:noFill/>
          </a:ln>
        </p:spPr>
      </p:pic>
      <p:sp>
        <p:nvSpPr>
          <p:cNvPr id="871" name="Google Shape;871;p27"/>
          <p:cNvSpPr txBox="1"/>
          <p:nvPr>
            <p:ph idx="7" type="body"/>
          </p:nvPr>
        </p:nvSpPr>
        <p:spPr>
          <a:xfrm>
            <a:off x="5410200" y="6048375"/>
            <a:ext cx="3524400" cy="7431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اسأل الخريطة</a:t>
            </a:r>
            <a:endParaRPr/>
          </a:p>
        </p:txBody>
      </p:sp>
      <p:sp>
        <p:nvSpPr>
          <p:cNvPr id="872" name="Google Shape;872;p27"/>
          <p:cNvSpPr txBox="1"/>
          <p:nvPr>
            <p:ph idx="8" type="body"/>
          </p:nvPr>
        </p:nvSpPr>
        <p:spPr>
          <a:xfrm>
            <a:off x="5410200" y="7162800"/>
            <a:ext cx="3524400" cy="11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مساعد بالذكاء الاصطناعي يجيب من المصادر وينقل الخريطة إلى الحدث</a:t>
            </a:r>
            <a:endParaRPr/>
          </a:p>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
            </a:r>
            <a:endParaRPr/>
          </a:p>
        </p:txBody>
      </p:sp>
      <p:pic>
        <p:nvPicPr>
          <p:cNvPr id="873" name="Google Shape;873;p27"/>
          <p:cNvPicPr preferRelativeResize="0"/>
          <p:nvPr/>
        </p:nvPicPr>
        <p:blipFill rotWithShape="1">
          <a:blip r:embed="rId8">
            <a:alphaModFix/>
          </a:blip>
          <a:srcRect b="0" l="0" r="0" t="0"/>
          <a:stretch/>
        </p:blipFill>
        <p:spPr>
          <a:xfrm>
            <a:off x="2457450" y="4000500"/>
            <a:ext cx="1428750" cy="1428750"/>
          </a:xfrm>
          <a:prstGeom prst="rect">
            <a:avLst/>
          </a:prstGeom>
          <a:noFill/>
          <a:ln>
            <a:noFill/>
          </a:ln>
        </p:spPr>
      </p:pic>
      <p:sp>
        <p:nvSpPr>
          <p:cNvPr id="874" name="Google Shape;874;p27"/>
          <p:cNvSpPr txBox="1"/>
          <p:nvPr>
            <p:ph idx="9" type="body"/>
          </p:nvPr>
        </p:nvSpPr>
        <p:spPr>
          <a:xfrm>
            <a:off x="1409700" y="6048375"/>
            <a:ext cx="3524400" cy="7431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1" lang="ar-SA" sz="2700">
                <a:solidFill>
                  <a:srgbClr val="F2F4FF"/>
                </a:solidFill>
                <a:latin typeface="Readex Pro"/>
                <a:ea typeface="Readex Pro"/>
                <a:cs typeface="Readex Pro"/>
                <a:sym typeface="Readex Pro"/>
              </a:rPr>
              <a:t>ملخص السيرة</a:t>
            </a:r>
            <a:endParaRPr/>
          </a:p>
        </p:txBody>
      </p:sp>
      <p:sp>
        <p:nvSpPr>
          <p:cNvPr id="875" name="Google Shape;875;p27"/>
          <p:cNvSpPr txBox="1"/>
          <p:nvPr>
            <p:ph idx="13" type="body"/>
          </p:nvPr>
        </p:nvSpPr>
        <p:spPr>
          <a:xfrm>
            <a:off x="1409700" y="7162800"/>
            <a:ext cx="3524400" cy="11715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21 لحظة بنصوص الدرر، مع السؤال عن كل لحظة</a:t>
            </a:r>
            <a:endParaRPr/>
          </a:p>
          <a:p>
            <a:pPr indent="0" lvl="0" marL="0" rtl="1" algn="ct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0" name="Shape 880"/>
        <p:cNvGrpSpPr/>
        <p:nvPr/>
      </p:nvGrpSpPr>
      <p:grpSpPr>
        <a:xfrm>
          <a:off x="0" y="0"/>
          <a:ext cx="0" cy="0"/>
          <a:chOff x="0" y="0"/>
          <a:chExt cx="0" cy="0"/>
        </a:xfrm>
      </p:grpSpPr>
      <p:pic>
        <p:nvPicPr>
          <p:cNvPr id="881" name="Google Shape;881;p28"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882" name="Google Shape;882;p28"/>
          <p:cNvPicPr preferRelativeResize="0"/>
          <p:nvPr/>
        </p:nvPicPr>
        <p:blipFill rotWithShape="1">
          <a:blip r:embed="rId4">
            <a:alphaModFix/>
          </a:blip>
          <a:srcRect b="0" l="0" r="0" t="0"/>
          <a:stretch/>
        </p:blipFill>
        <p:spPr>
          <a:xfrm>
            <a:off x="1066800" y="693967"/>
            <a:ext cx="3429002" cy="879015"/>
          </a:xfrm>
          <a:prstGeom prst="rect">
            <a:avLst/>
          </a:prstGeom>
          <a:noFill/>
          <a:ln>
            <a:noFill/>
          </a:ln>
        </p:spPr>
      </p:pic>
      <p:sp>
        <p:nvSpPr>
          <p:cNvPr id="883" name="Google Shape;883;p28"/>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2EF2C2"/>
                </a:solidFill>
                <a:latin typeface="Readex Pro"/>
                <a:ea typeface="Readex Pro"/>
                <a:cs typeface="Readex Pro"/>
                <a:sym typeface="Readex Pro"/>
              </a:rPr>
              <a:t>القيمة المضافة</a:t>
            </a:r>
            <a:endParaRPr/>
          </a:p>
        </p:txBody>
      </p:sp>
      <p:sp>
        <p:nvSpPr>
          <p:cNvPr id="884" name="Google Shape;884;p28"/>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F2F4FF"/>
                </a:solidFill>
                <a:latin typeface="Readex Pro"/>
                <a:ea typeface="Readex Pro"/>
                <a:cs typeface="Readex Pro"/>
                <a:sym typeface="Readex Pro"/>
              </a:rPr>
              <a:t>بداية: مدخل إلى كتب السيرة</a:t>
            </a:r>
            <a:endParaRPr/>
          </a:p>
        </p:txBody>
      </p:sp>
      <p:sp>
        <p:nvSpPr>
          <p:cNvPr id="885" name="Google Shape;885;p28"/>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CBCFE6"/>
                </a:solidFill>
                <a:latin typeface="Readex Pro"/>
                <a:ea typeface="Readex Pro"/>
                <a:cs typeface="Readex Pro"/>
                <a:sym typeface="Readex Pro"/>
              </a:rPr>
              <a:t>لا تُغني عنها، بل تقرّبها للمبتدئ</a:t>
            </a:r>
            <a:endParaRPr/>
          </a:p>
        </p:txBody>
      </p:sp>
      <p:sp>
        <p:nvSpPr>
          <p:cNvPr id="886" name="Google Shape;886;p28"/>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sp>
        <p:nvSpPr>
          <p:cNvPr id="887" name="Google Shape;887;p28"/>
          <p:cNvSpPr txBox="1"/>
          <p:nvPr>
            <p:ph idx="3" type="body"/>
          </p:nvPr>
        </p:nvSpPr>
        <p:spPr>
          <a:xfrm>
            <a:off x="9696450" y="3857625"/>
            <a:ext cx="7143900" cy="590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كتب السيرة والبحث</a:t>
            </a:r>
            <a:endParaRPr/>
          </a:p>
        </p:txBody>
      </p:sp>
      <p:sp>
        <p:nvSpPr>
          <p:cNvPr id="888" name="Google Shape;888;p28"/>
          <p:cNvSpPr txBox="1"/>
          <p:nvPr>
            <p:ph idx="4" type="body"/>
          </p:nvPr>
        </p:nvSpPr>
        <p:spPr>
          <a:xfrm>
            <a:off x="9696450" y="4562475"/>
            <a:ext cx="714390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مصادر موثوقة، لكنها نصوص طويلة ومفصّلة</a:t>
            </a:r>
            <a:endParaRPr/>
          </a:p>
        </p:txBody>
      </p:sp>
      <p:sp>
        <p:nvSpPr>
          <p:cNvPr id="889" name="Google Shape;889;p28"/>
          <p:cNvSpPr txBox="1"/>
          <p:nvPr>
            <p:ph idx="5" type="body"/>
          </p:nvPr>
        </p:nvSpPr>
        <p:spPr>
          <a:xfrm>
            <a:off x="1409700" y="3857625"/>
            <a:ext cx="7143900" cy="590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850"/>
              <a:buNone/>
            </a:pPr>
            <a:r>
              <a:rPr b="1" lang="ar-SA" sz="2850">
                <a:solidFill>
                  <a:srgbClr val="2EF2C2"/>
                </a:solidFill>
                <a:latin typeface="Readex Pro"/>
                <a:ea typeface="Readex Pro"/>
                <a:cs typeface="Readex Pro"/>
                <a:sym typeface="Readex Pro"/>
              </a:rPr>
              <a:t>بداية</a:t>
            </a:r>
            <a:endParaRPr/>
          </a:p>
        </p:txBody>
      </p:sp>
      <p:sp>
        <p:nvSpPr>
          <p:cNvPr id="890" name="Google Shape;890;p28"/>
          <p:cNvSpPr txBox="1"/>
          <p:nvPr>
            <p:ph idx="6" type="body"/>
          </p:nvPr>
        </p:nvSpPr>
        <p:spPr>
          <a:xfrm>
            <a:off x="1409700" y="4562475"/>
            <a:ext cx="7143900" cy="1066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400"/>
              <a:buNone/>
            </a:pPr>
            <a:r>
              <a:rPr b="0" lang="ar-SA" sz="2400">
                <a:solidFill>
                  <a:srgbClr val="CBCFE6"/>
                </a:solidFill>
                <a:latin typeface="Readex Pro"/>
                <a:ea typeface="Readex Pro"/>
                <a:cs typeface="Readex Pro"/>
                <a:sym typeface="Readex Pro"/>
              </a:rPr>
              <a:t>المصادر نفسها، قصةً على الخريطة مع مساعد يجيب منها</a:t>
            </a:r>
            <a:endParaRPr/>
          </a:p>
        </p:txBody>
      </p:sp>
      <p:sp>
        <p:nvSpPr>
          <p:cNvPr id="891" name="Google Shape;891;p28"/>
          <p:cNvSpPr txBox="1"/>
          <p:nvPr>
            <p:ph idx="7" type="body"/>
          </p:nvPr>
        </p:nvSpPr>
        <p:spPr>
          <a:xfrm>
            <a:off x="9696450" y="5905500"/>
            <a:ext cx="7143900" cy="29529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550"/>
              <a:buNone/>
            </a:pPr>
            <a:r>
              <a:rPr b="0" lang="ar-SA" sz="2550">
                <a:solidFill>
                  <a:srgbClr val="F2F4FF"/>
                </a:solidFill>
                <a:latin typeface="Readex Pro"/>
                <a:ea typeface="Readex Pro"/>
                <a:cs typeface="Readex Pro"/>
                <a:sym typeface="Readex Pro"/>
              </a:rPr>
              <a:t>عمق وتفصيل كامل</a:t>
            </a:r>
            <a:endParaRPr/>
          </a:p>
          <a:p>
            <a:pPr indent="0" lvl="0" marL="0" rtl="0" algn="r">
              <a:lnSpc>
                <a:spcPct val="100000"/>
              </a:lnSpc>
              <a:spcBef>
                <a:spcPts val="0"/>
              </a:spcBef>
              <a:spcAft>
                <a:spcPts val="0"/>
              </a:spcAft>
              <a:buSzPts val="2550"/>
              <a:buNone/>
            </a:pPr>
            <a:r>
              <a:t/>
            </a:r>
            <a:endParaRPr b="0" sz="2550">
              <a:solidFill>
                <a:srgbClr val="F2F4FF"/>
              </a:solidFill>
              <a:latin typeface="Readex Pro"/>
              <a:ea typeface="Readex Pro"/>
              <a:cs typeface="Readex Pro"/>
              <a:sym typeface="Readex Pro"/>
            </a:endParaRPr>
          </a:p>
          <a:p>
            <a:pPr indent="0" lvl="0" marL="0" rtl="1" algn="r">
              <a:lnSpc>
                <a:spcPct val="100000"/>
              </a:lnSpc>
              <a:spcBef>
                <a:spcPts val="0"/>
              </a:spcBef>
              <a:spcAft>
                <a:spcPts val="0"/>
              </a:spcAft>
              <a:buSzPts val="2550"/>
              <a:buNone/>
            </a:pPr>
            <a:r>
              <a:rPr b="0" lang="ar-SA" sz="2550">
                <a:solidFill>
                  <a:srgbClr val="F2F4FF"/>
                </a:solidFill>
                <a:latin typeface="Readex Pro"/>
                <a:ea typeface="Readex Pro"/>
                <a:cs typeface="Readex Pro"/>
                <a:sym typeface="Readex Pro"/>
              </a:rPr>
              <a:t>تحتاج وقتًا وخلفية لربط الأحداث بأماكنها وآياتها</a:t>
            </a:r>
            <a:endParaRPr/>
          </a:p>
          <a:p>
            <a:pPr indent="0" lvl="0" marL="0" rtl="0" algn="r">
              <a:lnSpc>
                <a:spcPct val="100000"/>
              </a:lnSpc>
              <a:spcBef>
                <a:spcPts val="0"/>
              </a:spcBef>
              <a:spcAft>
                <a:spcPts val="0"/>
              </a:spcAft>
              <a:buSzPts val="2550"/>
              <a:buNone/>
            </a:pPr>
            <a:r>
              <a:t/>
            </a:r>
            <a:endParaRPr b="0" sz="2550">
              <a:solidFill>
                <a:srgbClr val="F2F4FF"/>
              </a:solidFill>
              <a:latin typeface="Readex Pro"/>
              <a:ea typeface="Readex Pro"/>
              <a:cs typeface="Readex Pro"/>
              <a:sym typeface="Readex Pro"/>
            </a:endParaRPr>
          </a:p>
          <a:p>
            <a:pPr indent="0" lvl="0" marL="0" rtl="1" algn="r">
              <a:lnSpc>
                <a:spcPct val="100000"/>
              </a:lnSpc>
              <a:spcBef>
                <a:spcPts val="0"/>
              </a:spcBef>
              <a:spcAft>
                <a:spcPts val="0"/>
              </a:spcAft>
              <a:buSzPts val="2550"/>
              <a:buNone/>
            </a:pPr>
            <a:r>
              <a:rPr b="0" lang="ar-SA" sz="2550">
                <a:solidFill>
                  <a:srgbClr val="F2F4FF"/>
                </a:solidFill>
                <a:latin typeface="Readex Pro"/>
                <a:ea typeface="Readex Pro"/>
                <a:cs typeface="Readex Pro"/>
                <a:sym typeface="Readex Pro"/>
              </a:rPr>
              <a:t>للمتعلم المتقدم والباحث</a:t>
            </a:r>
            <a:endParaRPr/>
          </a:p>
        </p:txBody>
      </p:sp>
      <p:sp>
        <p:nvSpPr>
          <p:cNvPr id="892" name="Google Shape;892;p28"/>
          <p:cNvSpPr txBox="1"/>
          <p:nvPr>
            <p:ph idx="8" type="body"/>
          </p:nvPr>
        </p:nvSpPr>
        <p:spPr>
          <a:xfrm>
            <a:off x="1409700" y="5905500"/>
            <a:ext cx="7143900" cy="29529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550"/>
              <a:buNone/>
            </a:pPr>
            <a:r>
              <a:rPr b="0" lang="ar-SA" sz="2550">
                <a:solidFill>
                  <a:srgbClr val="F2F4FF"/>
                </a:solidFill>
                <a:latin typeface="Readex Pro"/>
                <a:ea typeface="Readex Pro"/>
                <a:cs typeface="Readex Pro"/>
                <a:sym typeface="Readex Pro"/>
              </a:rPr>
              <a:t>يرى الحدث ومكانه وآياته، ويسأل بالعربية أو الإنجليزية</a:t>
            </a:r>
            <a:endParaRPr/>
          </a:p>
          <a:p>
            <a:pPr indent="0" lvl="0" marL="0" rtl="0" algn="r">
              <a:lnSpc>
                <a:spcPct val="100000"/>
              </a:lnSpc>
              <a:spcBef>
                <a:spcPts val="0"/>
              </a:spcBef>
              <a:spcAft>
                <a:spcPts val="0"/>
              </a:spcAft>
              <a:buSzPts val="2550"/>
              <a:buNone/>
            </a:pPr>
            <a:r>
              <a:t/>
            </a:r>
            <a:endParaRPr b="0" sz="2550">
              <a:solidFill>
                <a:srgbClr val="F2F4FF"/>
              </a:solidFill>
              <a:latin typeface="Readex Pro"/>
              <a:ea typeface="Readex Pro"/>
              <a:cs typeface="Readex Pro"/>
              <a:sym typeface="Readex Pro"/>
            </a:endParaRPr>
          </a:p>
          <a:p>
            <a:pPr indent="0" lvl="0" marL="0" rtl="1" algn="r">
              <a:lnSpc>
                <a:spcPct val="100000"/>
              </a:lnSpc>
              <a:spcBef>
                <a:spcPts val="0"/>
              </a:spcBef>
              <a:spcAft>
                <a:spcPts val="0"/>
              </a:spcAft>
              <a:buSzPts val="2550"/>
              <a:buNone/>
            </a:pPr>
            <a:r>
              <a:rPr b="0" lang="ar-SA" sz="2550">
                <a:solidFill>
                  <a:srgbClr val="F2F4FF"/>
                </a:solidFill>
                <a:latin typeface="Readex Pro"/>
                <a:ea typeface="Readex Pro"/>
                <a:cs typeface="Readex Pro"/>
                <a:sym typeface="Readex Pro"/>
              </a:rPr>
              <a:t>مختصر، وكل جواب يحيل إلى مصدره في الكتب</a:t>
            </a:r>
            <a:endParaRPr/>
          </a:p>
          <a:p>
            <a:pPr indent="0" lvl="0" marL="0" rtl="0" algn="r">
              <a:lnSpc>
                <a:spcPct val="100000"/>
              </a:lnSpc>
              <a:spcBef>
                <a:spcPts val="0"/>
              </a:spcBef>
              <a:spcAft>
                <a:spcPts val="0"/>
              </a:spcAft>
              <a:buSzPts val="2550"/>
              <a:buNone/>
            </a:pPr>
            <a:r>
              <a:t/>
            </a:r>
            <a:endParaRPr b="0" sz="2550">
              <a:solidFill>
                <a:srgbClr val="F2F4FF"/>
              </a:solidFill>
              <a:latin typeface="Readex Pro"/>
              <a:ea typeface="Readex Pro"/>
              <a:cs typeface="Readex Pro"/>
              <a:sym typeface="Readex Pro"/>
            </a:endParaRPr>
          </a:p>
          <a:p>
            <a:pPr indent="0" lvl="0" marL="0" rtl="1" algn="r">
              <a:lnSpc>
                <a:spcPct val="100000"/>
              </a:lnSpc>
              <a:spcBef>
                <a:spcPts val="0"/>
              </a:spcBef>
              <a:spcAft>
                <a:spcPts val="0"/>
              </a:spcAft>
              <a:buSzPts val="2550"/>
              <a:buNone/>
            </a:pPr>
            <a:r>
              <a:rPr b="0" lang="ar-SA" sz="2550">
                <a:solidFill>
                  <a:srgbClr val="F2F4FF"/>
                </a:solidFill>
                <a:latin typeface="Readex Pro"/>
                <a:ea typeface="Readex Pro"/>
                <a:cs typeface="Readex Pro"/>
                <a:sym typeface="Readex Pro"/>
              </a:rPr>
              <a:t>للمبتدئ وغير المسلم والمسلم الجديد</a:t>
            </a:r>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3" name="Shape 913"/>
        <p:cNvGrpSpPr/>
        <p:nvPr/>
      </p:nvGrpSpPr>
      <p:grpSpPr>
        <a:xfrm>
          <a:off x="0" y="0"/>
          <a:ext cx="0" cy="0"/>
          <a:chOff x="0" y="0"/>
          <a:chExt cx="0" cy="0"/>
        </a:xfrm>
      </p:grpSpPr>
      <p:pic>
        <p:nvPicPr>
          <p:cNvPr id="914" name="Google Shape;914;p31" title="خلفية هكثون3.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915" name="Google Shape;915;p31"/>
          <p:cNvSpPr txBox="1"/>
          <p:nvPr>
            <p:ph idx="1" type="body"/>
          </p:nvPr>
        </p:nvSpPr>
        <p:spPr>
          <a:xfrm>
            <a:off x="3810000" y="5676900"/>
            <a:ext cx="10668000" cy="7431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700"/>
              <a:buNone/>
            </a:pPr>
            <a:r>
              <a:rPr b="0" lang="ar-SA" sz="2700">
                <a:solidFill>
                  <a:srgbClr val="F2F4FF"/>
                </a:solidFill>
                <a:latin typeface="Readex Pro"/>
                <a:ea typeface="Readex Pro"/>
                <a:cs typeface="Readex Pro"/>
                <a:sym typeface="Readex Pro"/>
              </a:rPr>
              <a:t>بداية</a:t>
            </a:r>
            <a:endParaRPr/>
          </a:p>
        </p:txBody>
      </p:sp>
      <p:sp>
        <p:nvSpPr>
          <p:cNvPr id="916" name="Google Shape;916;p31"/>
          <p:cNvSpPr txBox="1"/>
          <p:nvPr>
            <p:ph idx="2" type="body"/>
          </p:nvPr>
        </p:nvSpPr>
        <p:spPr>
          <a:xfrm>
            <a:off x="3810000" y="6653200"/>
            <a:ext cx="10668000" cy="6669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2100"/>
              <a:buNone/>
            </a:pPr>
            <a:r>
              <a:rPr b="0" lang="ar-SA" sz="2100">
                <a:solidFill>
                  <a:srgbClr val="CBCFE6"/>
                </a:solidFill>
                <a:latin typeface="Readex Pro"/>
                <a:ea typeface="Readex Pro"/>
                <a:cs typeface="Readex Pro"/>
                <a:sym typeface="Readex Pro"/>
              </a:rPr>
              <a:t>bidaya-sirah.vercel.app  ·  github.com/omarbintalib/Bidaya</a:t>
            </a:r>
            <a:endParaRPr/>
          </a:p>
        </p:txBody>
      </p:sp>
      <p:sp>
        <p:nvSpPr>
          <p:cNvPr id="917" name="Google Shape;917;p31"/>
          <p:cNvSpPr txBox="1"/>
          <p:nvPr>
            <p:ph type="title"/>
          </p:nvPr>
        </p:nvSpPr>
        <p:spPr>
          <a:xfrm>
            <a:off x="3810000" y="3819525"/>
            <a:ext cx="10668000" cy="1428900"/>
          </a:xfrm>
          <a:prstGeom prst="rect">
            <a:avLst/>
          </a:prstGeom>
          <a:noFill/>
          <a:ln>
            <a:noFill/>
          </a:ln>
        </p:spPr>
        <p:txBody>
          <a:bodyPr anchorCtr="0" anchor="t" bIns="0" lIns="0" spcFirstLastPara="1" rIns="0" wrap="square" tIns="0">
            <a:noAutofit/>
          </a:bodyPr>
          <a:lstStyle/>
          <a:p>
            <a:pPr indent="0" lvl="0" marL="0" rtl="1" algn="ctr">
              <a:lnSpc>
                <a:spcPct val="100000"/>
              </a:lnSpc>
              <a:spcBef>
                <a:spcPts val="0"/>
              </a:spcBef>
              <a:spcAft>
                <a:spcPts val="0"/>
              </a:spcAft>
              <a:buSzPts val="7200"/>
              <a:buNone/>
            </a:pPr>
            <a:r>
              <a:rPr b="1" lang="ar-SA" sz="7200">
                <a:solidFill>
                  <a:srgbClr val="2EF2C2"/>
                </a:solidFill>
                <a:latin typeface="Readex Pro"/>
                <a:ea typeface="Readex Pro"/>
                <a:cs typeface="Readex Pro"/>
                <a:sym typeface="Readex Pro"/>
              </a:rPr>
              <a:t>شكراً لكم</a:t>
            </a:r>
            <a:endParaRPr/>
          </a:p>
        </p:txBody>
      </p:sp>
      <p:pic>
        <p:nvPicPr>
          <p:cNvPr id="918" name="Google Shape;918;p31" title="شعار الهاكثون لايت.png"/>
          <p:cNvPicPr preferRelativeResize="0"/>
          <p:nvPr/>
        </p:nvPicPr>
        <p:blipFill>
          <a:blip r:embed="rId4">
            <a:alphaModFix/>
          </a:blip>
          <a:stretch>
            <a:fillRect/>
          </a:stretch>
        </p:blipFill>
        <p:spPr>
          <a:xfrm>
            <a:off x="3158450" y="1277075"/>
            <a:ext cx="6546002" cy="1678025"/>
          </a:xfrm>
          <a:prstGeom prst="rect">
            <a:avLst/>
          </a:prstGeom>
          <a:noFill/>
          <a:ln>
            <a:noFill/>
          </a:ln>
        </p:spPr>
      </p:pic>
      <p:pic>
        <p:nvPicPr>
          <p:cNvPr id="919" name="Google Shape;919;p31"/>
          <p:cNvPicPr preferRelativeResize="0"/>
          <p:nvPr/>
        </p:nvPicPr>
        <p:blipFill rotWithShape="1">
          <a:blip r:embed="rId5">
            <a:alphaModFix/>
          </a:blip>
          <a:srcRect b="0" l="0" r="0" t="0"/>
          <a:stretch/>
        </p:blipFill>
        <p:spPr>
          <a:xfrm>
            <a:off x="13237879" y="1460433"/>
            <a:ext cx="1891696" cy="1195990"/>
          </a:xfrm>
          <a:prstGeom prst="rect">
            <a:avLst/>
          </a:prstGeom>
          <a:noFill/>
          <a:ln>
            <a:noFill/>
          </a:ln>
        </p:spPr>
      </p:pic>
      <p:pic>
        <p:nvPicPr>
          <p:cNvPr id="920" name="Google Shape;920;p31" title="شعار عام الذكاء الاصطناعي.png"/>
          <p:cNvPicPr preferRelativeResize="0"/>
          <p:nvPr/>
        </p:nvPicPr>
        <p:blipFill>
          <a:blip r:embed="rId6">
            <a:alphaModFix/>
          </a:blip>
          <a:stretch>
            <a:fillRect/>
          </a:stretch>
        </p:blipFill>
        <p:spPr>
          <a:xfrm>
            <a:off x="10056994" y="1261812"/>
            <a:ext cx="2908672" cy="1708549"/>
          </a:xfrm>
          <a:prstGeom prst="rect">
            <a:avLst/>
          </a:prstGeom>
          <a:noFill/>
          <a:ln>
            <a:noFill/>
          </a:ln>
        </p:spPr>
      </p:pic>
      <p:pic>
        <p:nvPicPr>
          <p:cNvPr id="921" name="Google Shape;921;p31" title="شعار سدايا.png"/>
          <p:cNvPicPr preferRelativeResize="0"/>
          <p:nvPr/>
        </p:nvPicPr>
        <p:blipFill>
          <a:blip r:embed="rId7">
            <a:alphaModFix/>
          </a:blip>
          <a:stretch>
            <a:fillRect/>
          </a:stretch>
        </p:blipFill>
        <p:spPr>
          <a:xfrm>
            <a:off x="7750489" y="7716733"/>
            <a:ext cx="2292680" cy="1346725"/>
          </a:xfrm>
          <a:prstGeom prst="rect">
            <a:avLst/>
          </a:prstGeom>
          <a:noFill/>
          <a:ln>
            <a:noFill/>
          </a:ln>
        </p:spPr>
      </p:pic>
      <p:pic>
        <p:nvPicPr>
          <p:cNvPr id="922" name="Google Shape;922;p31" title="شعار فيوتشر.png"/>
          <p:cNvPicPr preferRelativeResize="0"/>
          <p:nvPr/>
        </p:nvPicPr>
        <p:blipFill>
          <a:blip r:embed="rId8">
            <a:alphaModFix/>
          </a:blip>
          <a:stretch>
            <a:fillRect/>
          </a:stretch>
        </p:blipFill>
        <p:spPr>
          <a:xfrm>
            <a:off x="3179331" y="7929122"/>
            <a:ext cx="1570852" cy="921955"/>
          </a:xfrm>
          <a:prstGeom prst="rect">
            <a:avLst/>
          </a:prstGeom>
          <a:noFill/>
          <a:ln>
            <a:noFill/>
          </a:ln>
        </p:spPr>
      </p:pic>
      <p:pic>
        <p:nvPicPr>
          <p:cNvPr id="923" name="Google Shape;923;p31" title="شعار التحول.png"/>
          <p:cNvPicPr preferRelativeResize="0"/>
          <p:nvPr/>
        </p:nvPicPr>
        <p:blipFill>
          <a:blip r:embed="rId9">
            <a:alphaModFix/>
          </a:blip>
          <a:stretch>
            <a:fillRect/>
          </a:stretch>
        </p:blipFill>
        <p:spPr>
          <a:xfrm>
            <a:off x="5373933" y="7875719"/>
            <a:ext cx="1752806" cy="1028753"/>
          </a:xfrm>
          <a:prstGeom prst="rect">
            <a:avLst/>
          </a:prstGeom>
          <a:noFill/>
          <a:ln>
            <a:noFill/>
          </a:ln>
        </p:spPr>
      </p:pic>
      <p:sp>
        <p:nvSpPr>
          <p:cNvPr id="924" name="Google Shape;924;p31"/>
          <p:cNvSpPr txBox="1"/>
          <p:nvPr/>
        </p:nvSpPr>
        <p:spPr>
          <a:xfrm>
            <a:off x="14046675" y="8254733"/>
            <a:ext cx="1062000" cy="295800"/>
          </a:xfrm>
          <a:prstGeom prst="rect">
            <a:avLst/>
          </a:prstGeom>
          <a:noFill/>
          <a:ln>
            <a:noFill/>
          </a:ln>
        </p:spPr>
        <p:txBody>
          <a:bodyPr anchorCtr="0" anchor="t" bIns="0" lIns="0" spcFirstLastPara="1" rIns="0" wrap="square" tIns="0">
            <a:noAutofit/>
          </a:bodyPr>
          <a:lstStyle/>
          <a:p>
            <a:pPr indent="0" lvl="0" marL="0" rtl="1" algn="r">
              <a:spcBef>
                <a:spcPts val="0"/>
              </a:spcBef>
              <a:spcAft>
                <a:spcPts val="0"/>
              </a:spcAft>
              <a:buNone/>
            </a:pPr>
            <a:r>
              <a:rPr lang="ar-SA" sz="1800">
                <a:solidFill>
                  <a:srgbClr val="2EF2C2"/>
                </a:solidFill>
                <a:latin typeface="Readex Pro"/>
                <a:ea typeface="Readex Pro"/>
                <a:cs typeface="Readex Pro"/>
                <a:sym typeface="Readex Pro"/>
              </a:rPr>
              <a:t>شركاء التحدي</a:t>
            </a:r>
            <a:r>
              <a:rPr lang="ar-SA">
                <a:solidFill>
                  <a:srgbClr val="2EF2C2"/>
                </a:solidFill>
                <a:latin typeface="Readex Pro"/>
                <a:ea typeface="Readex Pro"/>
                <a:cs typeface="Readex Pro"/>
                <a:sym typeface="Readex Pro"/>
              </a:rPr>
              <a:t>:</a:t>
            </a:r>
            <a:endParaRPr sz="1800">
              <a:solidFill>
                <a:srgbClr val="2EF2C2"/>
              </a:solidFill>
              <a:latin typeface="Readex Pro"/>
              <a:ea typeface="Readex Pro"/>
              <a:cs typeface="Readex Pro"/>
              <a:sym typeface="Readex Pro"/>
            </a:endParaRPr>
          </a:p>
        </p:txBody>
      </p:sp>
      <p:cxnSp>
        <p:nvCxnSpPr>
          <p:cNvPr id="925" name="Google Shape;925;p31"/>
          <p:cNvCxnSpPr/>
          <p:nvPr/>
        </p:nvCxnSpPr>
        <p:spPr>
          <a:xfrm>
            <a:off x="7456246" y="8142400"/>
            <a:ext cx="0" cy="453600"/>
          </a:xfrm>
          <a:prstGeom prst="straightConnector1">
            <a:avLst/>
          </a:prstGeom>
          <a:noFill/>
          <a:ln cap="flat" cmpd="sng" w="9525">
            <a:solidFill>
              <a:srgbClr val="2EF2C2"/>
            </a:solidFill>
            <a:prstDash val="solid"/>
            <a:round/>
            <a:headEnd len="med" w="med" type="none"/>
            <a:tailEnd len="med" w="med" type="none"/>
          </a:ln>
        </p:spPr>
      </p:cxnSp>
      <p:cxnSp>
        <p:nvCxnSpPr>
          <p:cNvPr id="926" name="Google Shape;926;p31"/>
          <p:cNvCxnSpPr/>
          <p:nvPr/>
        </p:nvCxnSpPr>
        <p:spPr>
          <a:xfrm>
            <a:off x="5075007" y="8142400"/>
            <a:ext cx="0" cy="453600"/>
          </a:xfrm>
          <a:prstGeom prst="straightConnector1">
            <a:avLst/>
          </a:prstGeom>
          <a:noFill/>
          <a:ln cap="flat" cmpd="sng" w="9525">
            <a:solidFill>
              <a:srgbClr val="2EF2C2"/>
            </a:solidFill>
            <a:prstDash val="solid"/>
            <a:round/>
            <a:headEnd len="med" w="med" type="none"/>
            <a:tailEnd len="med" w="med" type="none"/>
          </a:ln>
        </p:spPr>
      </p:cxnSp>
      <p:pic>
        <p:nvPicPr>
          <p:cNvPr id="927" name="Google Shape;927;p31" title="شعار وزارة الاتصالات.png"/>
          <p:cNvPicPr preferRelativeResize="0"/>
          <p:nvPr/>
        </p:nvPicPr>
        <p:blipFill>
          <a:blip r:embed="rId10">
            <a:alphaModFix/>
          </a:blip>
          <a:stretch>
            <a:fillRect/>
          </a:stretch>
        </p:blipFill>
        <p:spPr>
          <a:xfrm>
            <a:off x="10602750" y="7979050"/>
            <a:ext cx="3035650" cy="847150"/>
          </a:xfrm>
          <a:prstGeom prst="rect">
            <a:avLst/>
          </a:prstGeom>
          <a:noFill/>
          <a:ln>
            <a:noFill/>
          </a:ln>
        </p:spPr>
      </p:pic>
      <p:cxnSp>
        <p:nvCxnSpPr>
          <p:cNvPr id="928" name="Google Shape;928;p31"/>
          <p:cNvCxnSpPr/>
          <p:nvPr/>
        </p:nvCxnSpPr>
        <p:spPr>
          <a:xfrm>
            <a:off x="10366904" y="8142400"/>
            <a:ext cx="0" cy="453600"/>
          </a:xfrm>
          <a:prstGeom prst="straightConnector1">
            <a:avLst/>
          </a:prstGeom>
          <a:noFill/>
          <a:ln cap="flat" cmpd="sng" w="9525">
            <a:solidFill>
              <a:srgbClr val="2EF2C2"/>
            </a:solidFill>
            <a:prstDash val="solid"/>
            <a:round/>
            <a:headEnd len="med" w="med" type="none"/>
            <a:tailEnd len="med" w="med" type="none"/>
          </a:ln>
        </p:spPr>
      </p:cxn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7" name="Shape 727"/>
        <p:cNvGrpSpPr/>
        <p:nvPr/>
      </p:nvGrpSpPr>
      <p:grpSpPr>
        <a:xfrm>
          <a:off x="0" y="0"/>
          <a:ext cx="0" cy="0"/>
          <a:chOff x="0" y="0"/>
          <a:chExt cx="0" cy="0"/>
        </a:xfrm>
      </p:grpSpPr>
      <p:pic>
        <p:nvPicPr>
          <p:cNvPr id="728" name="Google Shape;728;p21" title="خلفية هكثون5.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729" name="Google Shape;729;p21" title="شعار تحدي الذكاء.png"/>
          <p:cNvPicPr preferRelativeResize="0"/>
          <p:nvPr/>
        </p:nvPicPr>
        <p:blipFill>
          <a:blip r:embed="rId4">
            <a:alphaModFix/>
          </a:blip>
          <a:stretch>
            <a:fillRect/>
          </a:stretch>
        </p:blipFill>
        <p:spPr>
          <a:xfrm>
            <a:off x="1015225" y="572270"/>
            <a:ext cx="3490299" cy="1109450"/>
          </a:xfrm>
          <a:prstGeom prst="rect">
            <a:avLst/>
          </a:prstGeom>
          <a:noFill/>
          <a:ln>
            <a:noFill/>
          </a:ln>
        </p:spPr>
      </p:pic>
      <p:sp>
        <p:nvSpPr>
          <p:cNvPr id="730" name="Google Shape;730;p2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4A5590"/>
                </a:solidFill>
                <a:latin typeface="Readex Pro"/>
                <a:ea typeface="Readex Pro"/>
                <a:cs typeface="Readex Pro"/>
                <a:sym typeface="Readex Pro"/>
              </a:rPr>
              <a:t>‹#›</a:t>
            </a:fld>
            <a:endParaRPr/>
          </a:p>
        </p:txBody>
      </p:sp>
      <p:graphicFrame>
        <p:nvGraphicFramePr>
          <p:cNvPr id="731" name="Google Shape;731;p21"/>
          <p:cNvGraphicFramePr/>
          <p:nvPr/>
        </p:nvGraphicFramePr>
        <p:xfrm>
          <a:off x="1714500" y="3905250"/>
          <a:ext cx="3000000" cy="3000000"/>
        </p:xfrm>
        <a:graphic>
          <a:graphicData uri="http://schemas.openxmlformats.org/drawingml/2006/table">
            <a:tbl>
              <a:tblPr>
                <a:noFill/>
                <a:tableStyleId>{B8ED9858-D163-4338-9E88-1F424354888F}</a:tableStyleId>
              </a:tblPr>
              <a:tblGrid>
                <a:gridCol w="2286000"/>
                <a:gridCol w="3238500"/>
                <a:gridCol w="6191250"/>
                <a:gridCol w="3714750"/>
              </a:tblGrid>
              <a:tr h="781050">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الإتاحة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الاستخدام في بداية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كيف نتحقق</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المصدر</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dorar.net</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142 حدثًا: العناوين والتواريخ والنصوص</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كل حدث برابطه؛ ونصوص الملخص حرفية يفحصها اختبار آلي</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الدرر السنية: الموسوعة التاريخية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sunnah.com و dorar.net</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94 سجلًا يربط الآيات بأحداثها</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روجع 223 رقم حديث مع نصه، وحُذف الخطأ</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الصحيحان وموسوعة التفسير</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الشاملة 9820</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سياق السيرة في الإجابات</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حُذفت الروايات الضعيفة المعروفة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الرحيق المختوم</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الشاملة 11314</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أسباب النزول في الإجابات</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الصحيح والحسن فقط؛ استُبعدت 836 رواية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أسباب النزول للواحدي</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bl>
          </a:graphicData>
        </a:graphic>
      </p:graphicFrame>
      <p:sp>
        <p:nvSpPr>
          <p:cNvPr id="732" name="Google Shape;732;p21"/>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6150EA"/>
                </a:solidFill>
                <a:latin typeface="Readex Pro"/>
                <a:ea typeface="Readex Pro"/>
                <a:cs typeface="Readex Pro"/>
                <a:sym typeface="Readex Pro"/>
              </a:rPr>
              <a:t>المصادر</a:t>
            </a:r>
            <a:endParaRPr/>
          </a:p>
        </p:txBody>
      </p:sp>
      <p:sp>
        <p:nvSpPr>
          <p:cNvPr id="733" name="Google Shape;733;p21"/>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12183F"/>
                </a:solidFill>
                <a:latin typeface="Readex Pro"/>
                <a:ea typeface="Readex Pro"/>
                <a:cs typeface="Readex Pro"/>
                <a:sym typeface="Readex Pro"/>
              </a:rPr>
              <a:t>المصادر المعتمدة وكيف نتحقق منها</a:t>
            </a:r>
            <a:endParaRPr/>
          </a:p>
        </p:txBody>
      </p:sp>
      <p:sp>
        <p:nvSpPr>
          <p:cNvPr id="734" name="Google Shape;734;p21"/>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4A5590"/>
                </a:solidFill>
                <a:latin typeface="Readex Pro"/>
                <a:ea typeface="Readex Pro"/>
                <a:cs typeface="Readex Pro"/>
                <a:sym typeface="Readex Pro"/>
              </a:rPr>
              <a:t>بيانات بداية من هذه المصادر برابطها، والمساعد يجيب من نصوصها ويذكرها</a:t>
            </a:r>
            <a:endParaRPr/>
          </a:p>
        </p:txBody>
      </p:sp>
      <p:sp>
        <p:nvSpPr>
          <p:cNvPr id="735" name="Google Shape;735;p21"/>
          <p:cNvSpPr txBox="1"/>
          <p:nvPr>
            <p:ph idx="3" type="body"/>
          </p:nvPr>
        </p:nvSpPr>
        <p:spPr>
          <a:xfrm>
            <a:off x="1409700" y="8810625"/>
            <a:ext cx="15430500" cy="457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4A5590"/>
                </a:solidFill>
                <a:latin typeface="Readex Pro"/>
                <a:ea typeface="Readex Pro"/>
                <a:cs typeface="Readex Pro"/>
                <a:sym typeface="Readex Pro"/>
              </a:rPr>
              <a:t>سجل الأدوات والتراخيص (النماذج، الخطوط، الأصوات، الخرائط): docs/SOURCES_AND_LICENSES.md</a:t>
            </a:r>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1" name="Shape 831"/>
        <p:cNvGrpSpPr/>
        <p:nvPr/>
      </p:nvGrpSpPr>
      <p:grpSpPr>
        <a:xfrm>
          <a:off x="0" y="0"/>
          <a:ext cx="0" cy="0"/>
          <a:chOff x="0" y="0"/>
          <a:chExt cx="0" cy="0"/>
        </a:xfrm>
      </p:grpSpPr>
      <p:pic>
        <p:nvPicPr>
          <p:cNvPr id="832" name="Google Shape;832;p25"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833" name="Google Shape;833;p2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pic>
        <p:nvPicPr>
          <p:cNvPr id="9330" name="Screenshot 1" descr="The story on the map: the Prophet’s letters to the kings, the event text and its people"/>
          <p:cNvPicPr>
            <a:picLocks noChangeAspect="1"/>
          </p:cNvPicPr>
          <p:nvPr/>
        </p:nvPicPr>
        <p:blipFill>
          <a:blip r:embed="rId4"/>
          <a:stretch>
            <a:fillRect/>
          </a:stretch>
        </p:blipFill>
        <p:spPr>
          <a:xfrm>
            <a:off x="2654160" y="666750"/>
            <a:ext cx="12979680" cy="6953400"/>
          </a:xfrm>
          <a:prstGeom prst="roundRect">
            <a:avLst>
              <a:gd fmla="val 3580" name="adj"/>
            </a:avLst>
          </a:prstGeom>
          <a:ln cap="flat" cmpd="sng" w="11425">
            <a:solidFill>
              <a:srgbClr val="4A5590"/>
            </a:solidFill>
            <a:prstDash val="solid"/>
            <a:round/>
            <a:headEnd len="sm" w="sm" type="none"/>
            <a:tailEnd len="sm" w="sm" type="none"/>
          </a:ln>
        </p:spPr>
      </p:pic>
      <p:sp>
        <p:nvSpPr>
          <p:cNvPr id="835" name="Google Shape;835;p25"/>
          <p:cNvSpPr txBox="1"/>
          <p:nvPr>
            <p:ph type="title"/>
          </p:nvPr>
        </p:nvSpPr>
        <p:spPr>
          <a:xfrm>
            <a:off x="2038350" y="7962900"/>
            <a:ext cx="14763900" cy="838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3900"/>
              <a:buNone/>
            </a:pPr>
            <a:r>
              <a:rPr b="1" lang="ar-SA" sz="3900">
                <a:solidFill>
                  <a:srgbClr val="F2F4FF"/>
                </a:solidFill>
                <a:latin typeface="Readex Pro"/>
                <a:ea typeface="Readex Pro"/>
                <a:cs typeface="Readex Pro"/>
                <a:sym typeface="Readex Pro"/>
              </a:rPr>
              <a:t>القصة على الخريطة: رسائل النبي ﷺ إلى الملوك</a:t>
            </a:r>
            <a:endParaRPr/>
          </a:p>
        </p:txBody>
      </p:sp>
      <p:sp>
        <p:nvSpPr>
          <p:cNvPr id="836" name="Google Shape;836;p25"/>
          <p:cNvSpPr txBox="1"/>
          <p:nvPr>
            <p:ph idx="1" type="body"/>
          </p:nvPr>
        </p:nvSpPr>
        <p:spPr>
          <a:xfrm>
            <a:off x="1990725" y="8824913"/>
            <a:ext cx="14763900" cy="428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100"/>
              <a:buNone/>
            </a:pPr>
            <a:r>
              <a:rPr b="0" lang="ar-SA" sz="2100">
                <a:solidFill>
                  <a:srgbClr val="CBCFE6"/>
                </a:solidFill>
                <a:latin typeface="Readex Pro"/>
                <a:ea typeface="Readex Pro"/>
                <a:cs typeface="Readex Pro"/>
                <a:sym typeface="Readex Pro"/>
              </a:rPr>
              <a:t>كل حدث في مكانه مع نصه من الدرر ومصدره: هنا رسائله ﷺ من المدينة إلى الملوك، والشخصيات، وخط زمني للأحداث الـ142</a:t>
            </a:r>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1" name="Shape 831"/>
        <p:cNvGrpSpPr/>
        <p:nvPr/>
      </p:nvGrpSpPr>
      <p:grpSpPr>
        <a:xfrm>
          <a:off x="0" y="0"/>
          <a:ext cx="0" cy="0"/>
          <a:chOff x="0" y="0"/>
          <a:chExt cx="0" cy="0"/>
        </a:xfrm>
      </p:grpSpPr>
      <p:pic>
        <p:nvPicPr>
          <p:cNvPr id="832" name="Google Shape;832;p25"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833" name="Google Shape;833;p2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pic>
        <p:nvPicPr>
          <p:cNvPr id="9340" name="Screenshot 1" descr="Verses linked to the Battle of Badr on its event card"/>
          <p:cNvPicPr>
            <a:picLocks noChangeAspect="1"/>
          </p:cNvPicPr>
          <p:nvPr/>
        </p:nvPicPr>
        <p:blipFill>
          <a:blip r:embed="rId4"/>
          <a:stretch>
            <a:fillRect/>
          </a:stretch>
        </p:blipFill>
        <p:spPr>
          <a:xfrm>
            <a:off x="2654160" y="666750"/>
            <a:ext cx="12979680" cy="6953400"/>
          </a:xfrm>
          <a:prstGeom prst="roundRect">
            <a:avLst>
              <a:gd fmla="val 3580" name="adj"/>
            </a:avLst>
          </a:prstGeom>
          <a:ln cap="flat" cmpd="sng" w="11425">
            <a:solidFill>
              <a:srgbClr val="4A5590"/>
            </a:solidFill>
            <a:prstDash val="solid"/>
            <a:round/>
            <a:headEnd len="sm" w="sm" type="none"/>
            <a:tailEnd len="sm" w="sm" type="none"/>
          </a:ln>
        </p:spPr>
      </p:pic>
      <p:sp>
        <p:nvSpPr>
          <p:cNvPr id="835" name="Google Shape;835;p25"/>
          <p:cNvSpPr txBox="1"/>
          <p:nvPr>
            <p:ph type="title"/>
          </p:nvPr>
        </p:nvSpPr>
        <p:spPr>
          <a:xfrm>
            <a:off x="2038350" y="7962900"/>
            <a:ext cx="14763900" cy="838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3900"/>
              <a:buNone/>
            </a:pPr>
            <a:r>
              <a:rPr b="1" lang="ar-SA" sz="3900">
                <a:solidFill>
                  <a:srgbClr val="F2F4FF"/>
                </a:solidFill>
                <a:latin typeface="Readex Pro"/>
                <a:ea typeface="Readex Pro"/>
                <a:cs typeface="Readex Pro"/>
                <a:sym typeface="Readex Pro"/>
              </a:rPr>
              <a:t>السور في سياقها: الآيات مع حدثها</a:t>
            </a:r>
            <a:endParaRPr/>
          </a:p>
        </p:txBody>
      </p:sp>
      <p:sp>
        <p:nvSpPr>
          <p:cNvPr id="836" name="Google Shape;836;p25"/>
          <p:cNvSpPr txBox="1"/>
          <p:nvPr>
            <p:ph idx="1" type="body"/>
          </p:nvPr>
        </p:nvSpPr>
        <p:spPr>
          <a:xfrm>
            <a:off x="1990725" y="8824913"/>
            <a:ext cx="14763900" cy="428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100"/>
              <a:buNone/>
            </a:pPr>
            <a:r>
              <a:rPr b="0" lang="ar-SA" sz="2100">
                <a:solidFill>
                  <a:srgbClr val="CBCFE6"/>
                </a:solidFill>
                <a:latin typeface="Readex Pro"/>
                <a:ea typeface="Readex Pro"/>
                <a:cs typeface="Readex Pro"/>
                <a:sym typeface="Readex Pro"/>
              </a:rPr>
              <a:t>الآيات التي نزلت في غزوة بدر على بطاقة الحدث، كل آية بسورتها ورقمها ووجه ارتباطها</a:t>
            </a:r>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27" name="Shape 727"/>
        <p:cNvGrpSpPr/>
        <p:nvPr/>
      </p:nvGrpSpPr>
      <p:grpSpPr>
        <a:xfrm>
          <a:off x="0" y="0"/>
          <a:ext cx="0" cy="0"/>
          <a:chOff x="0" y="0"/>
          <a:chExt cx="0" cy="0"/>
        </a:xfrm>
      </p:grpSpPr>
      <p:pic>
        <p:nvPicPr>
          <p:cNvPr id="728" name="Google Shape;728;p21" title="خلفية هكثون5.png"/>
          <p:cNvPicPr preferRelativeResize="0"/>
          <p:nvPr/>
        </p:nvPicPr>
        <p:blipFill>
          <a:blip r:embed="rId3">
            <a:alphaModFix/>
          </a:blip>
          <a:stretch>
            <a:fillRect/>
          </a:stretch>
        </p:blipFill>
        <p:spPr>
          <a:xfrm>
            <a:off x="0" y="0"/>
            <a:ext cx="18288000" cy="10287000"/>
          </a:xfrm>
          <a:prstGeom prst="rect">
            <a:avLst/>
          </a:prstGeom>
          <a:noFill/>
          <a:ln>
            <a:noFill/>
          </a:ln>
        </p:spPr>
      </p:pic>
      <p:pic>
        <p:nvPicPr>
          <p:cNvPr id="729" name="Google Shape;729;p21" title="شعار تحدي الذكاء.png"/>
          <p:cNvPicPr preferRelativeResize="0"/>
          <p:nvPr/>
        </p:nvPicPr>
        <p:blipFill>
          <a:blip r:embed="rId4">
            <a:alphaModFix/>
          </a:blip>
          <a:stretch>
            <a:fillRect/>
          </a:stretch>
        </p:blipFill>
        <p:spPr>
          <a:xfrm>
            <a:off x="1015225" y="572270"/>
            <a:ext cx="3490299" cy="1109450"/>
          </a:xfrm>
          <a:prstGeom prst="rect">
            <a:avLst/>
          </a:prstGeom>
          <a:noFill/>
          <a:ln>
            <a:noFill/>
          </a:ln>
        </p:spPr>
      </p:pic>
      <p:sp>
        <p:nvSpPr>
          <p:cNvPr id="730" name="Google Shape;730;p21"/>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4A5590"/>
                </a:solidFill>
                <a:latin typeface="Readex Pro"/>
                <a:ea typeface="Readex Pro"/>
                <a:cs typeface="Readex Pro"/>
                <a:sym typeface="Readex Pro"/>
              </a:rPr>
              <a:t>‹#›</a:t>
            </a:fld>
            <a:endParaRPr/>
          </a:p>
        </p:txBody>
      </p:sp>
      <p:graphicFrame>
        <p:nvGraphicFramePr>
          <p:cNvPr id="731" name="Google Shape;731;p21"/>
          <p:cNvGraphicFramePr/>
          <p:nvPr/>
        </p:nvGraphicFramePr>
        <p:xfrm>
          <a:off x="1714500" y="3905250"/>
          <a:ext cx="3000000" cy="3000000"/>
        </p:xfrm>
        <a:graphic>
          <a:graphicData uri="http://schemas.openxmlformats.org/drawingml/2006/table">
            <a:tbl>
              <a:tblPr>
                <a:noFill/>
                <a:tableStyleId>{B8ED9858-D163-4338-9E88-1F424354888F}</a:tableStyleId>
              </a:tblPr>
              <a:tblGrid>
                <a:gridCol w="2286000"/>
                <a:gridCol w="3238500"/>
                <a:gridCol w="6191250"/>
                <a:gridCol w="3714750"/>
              </a:tblGrid>
              <a:tr h="781050">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المسؤول</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البديل أو الضمان</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التكلفة التقريبية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1" lang="ar-SA" sz="2250" u="none" cap="none" strike="noStrike">
                          <a:solidFill>
                            <a:srgbClr val="6150EA"/>
                          </a:solidFill>
                          <a:latin typeface="Readex Pro"/>
                          <a:ea typeface="Readex Pro"/>
                          <a:cs typeface="Readex Pro"/>
                          <a:sym typeface="Readex Pro"/>
                        </a:rPr>
                        <a:t>البند</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E0D9FB"/>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مسؤول الذكاء الاصطناعي</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إن تعطّل أجاب الموقع من بياناته المحلية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0.59 دولار للساعة تُحسب بالثانية، وينام بعد 5 دقائق بلا أسئلة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الخادم ومعالج T4</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مسؤول الذكاء الاصطناعي</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الشيفرة تدعم Gemini بديلًا</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0.10 دولار لكل مليون رمز مُدخل و0.50 للمُخرج: أقل من سنت للسؤال (تقدير)</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النموذج اللغوي</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مسؤول الواجهة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يُنقل إلى أي استضافة لمواقع ثابتة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موقع ثابت على Vercel، تكلفته منخفضة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الموقع</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r h="923925">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مسؤول المحتوى</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حالة مراجعة السجلات مدوّنة في البيانات</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وقت المراجع لاعتماد السجلات الجديدة</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c>
                  <a:txBody>
                    <a:bodyPr/>
                    <a:lstStyle/>
                    <a:p>
                      <a:pPr indent="0" lvl="0" marL="0" marR="0" rtl="1" algn="r">
                        <a:lnSpc>
                          <a:spcPct val="100000"/>
                        </a:lnSpc>
                        <a:spcBef>
                          <a:spcPts val="0"/>
                        </a:spcBef>
                        <a:spcAft>
                          <a:spcPts val="0"/>
                        </a:spcAft>
                        <a:buClr>
                          <a:srgbClr val="000000"/>
                        </a:buClr>
                        <a:buSzPts val="2250"/>
                        <a:buFont typeface="Arial"/>
                        <a:buNone/>
                      </a:pPr>
                      <a:r>
                        <a:rPr b="0" lang="ar-SA" sz="2250" u="none" cap="none" strike="noStrike">
                          <a:solidFill>
                            <a:srgbClr val="12183F"/>
                          </a:solidFill>
                          <a:latin typeface="Readex Pro"/>
                          <a:ea typeface="Readex Pro"/>
                          <a:cs typeface="Readex Pro"/>
                          <a:sym typeface="Readex Pro"/>
                        </a:rPr>
                        <a:t>مراجعة المحتوى</a:t>
                      </a:r>
                      <a:endParaRPr/>
                    </a:p>
                  </a:txBody>
                  <a:tcPr marT="45725" marB="45725" marR="91450" marL="91450" anchor="ctr">
                    <a:lnL cap="flat" cmpd="sng" w="9525">
                      <a:solidFill>
                        <a:srgbClr val="E0D9FB"/>
                      </a:solidFill>
                      <a:prstDash val="solid"/>
                      <a:round/>
                      <a:headEnd len="sm" w="sm" type="none"/>
                      <a:tailEnd len="sm" w="sm" type="none"/>
                    </a:lnL>
                    <a:lnR cap="flat" cmpd="sng" w="9525">
                      <a:solidFill>
                        <a:srgbClr val="E0D9FB"/>
                      </a:solidFill>
                      <a:prstDash val="solid"/>
                      <a:round/>
                      <a:headEnd len="sm" w="sm" type="none"/>
                      <a:tailEnd len="sm" w="sm" type="none"/>
                    </a:lnR>
                    <a:lnT cap="flat" cmpd="sng" w="9525">
                      <a:solidFill>
                        <a:srgbClr val="E0D9FB"/>
                      </a:solidFill>
                      <a:prstDash val="solid"/>
                      <a:round/>
                      <a:headEnd len="sm" w="sm" type="none"/>
                      <a:tailEnd len="sm" w="sm" type="none"/>
                    </a:lnT>
                    <a:lnB cap="flat" cmpd="sng" w="9525">
                      <a:solidFill>
                        <a:srgbClr val="E0D9FB"/>
                      </a:solidFill>
                      <a:prstDash val="solid"/>
                      <a:round/>
                      <a:headEnd len="sm" w="sm" type="none"/>
                      <a:tailEnd len="sm" w="sm" type="none"/>
                    </a:lnB>
                    <a:solidFill>
                      <a:srgbClr val="FAF9FF"/>
                    </a:solidFill>
                  </a:tcPr>
                </a:tc>
              </a:tr>
            </a:tbl>
          </a:graphicData>
        </a:graphic>
      </p:graphicFrame>
      <p:sp>
        <p:nvSpPr>
          <p:cNvPr id="732" name="Google Shape;732;p21"/>
          <p:cNvSpPr txBox="1"/>
          <p:nvPr>
            <p:ph idx="1" type="body"/>
          </p:nvPr>
        </p:nvSpPr>
        <p:spPr>
          <a:xfrm>
            <a:off x="10363200" y="1028700"/>
            <a:ext cx="6477000" cy="4191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6150EA"/>
                </a:solidFill>
                <a:latin typeface="Readex Pro"/>
                <a:ea typeface="Readex Pro"/>
                <a:cs typeface="Readex Pro"/>
                <a:sym typeface="Readex Pro"/>
              </a:rPr>
              <a:t>التشغيل</a:t>
            </a:r>
            <a:endParaRPr/>
          </a:p>
        </p:txBody>
      </p:sp>
      <p:sp>
        <p:nvSpPr>
          <p:cNvPr id="733" name="Google Shape;733;p21"/>
          <p:cNvSpPr txBox="1"/>
          <p:nvPr>
            <p:ph type="title"/>
          </p:nvPr>
        </p:nvSpPr>
        <p:spPr>
          <a:xfrm>
            <a:off x="1409700" y="1809750"/>
            <a:ext cx="15430500" cy="9525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4500"/>
              <a:buNone/>
            </a:pPr>
            <a:r>
              <a:rPr b="1" lang="ar-SA" sz="4500">
                <a:solidFill>
                  <a:srgbClr val="12183F"/>
                </a:solidFill>
                <a:latin typeface="Readex Pro"/>
                <a:ea typeface="Readex Pro"/>
                <a:cs typeface="Readex Pro"/>
                <a:sym typeface="Readex Pro"/>
              </a:rPr>
              <a:t>التشغيل والتكلفة</a:t>
            </a:r>
            <a:endParaRPr/>
          </a:p>
        </p:txBody>
      </p:sp>
      <p:sp>
        <p:nvSpPr>
          <p:cNvPr id="734" name="Google Shape;734;p21"/>
          <p:cNvSpPr txBox="1"/>
          <p:nvPr>
            <p:ph idx="2" type="body"/>
          </p:nvPr>
        </p:nvSpPr>
        <p:spPr>
          <a:xfrm>
            <a:off x="1409700" y="2857500"/>
            <a:ext cx="15430500" cy="6858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250"/>
              <a:buNone/>
            </a:pPr>
            <a:r>
              <a:rPr b="0" lang="ar-SA" sz="2250">
                <a:solidFill>
                  <a:srgbClr val="4A5590"/>
                </a:solidFill>
                <a:latin typeface="Readex Pro"/>
                <a:ea typeface="Readex Pro"/>
                <a:cs typeface="Readex Pro"/>
                <a:sym typeface="Readex Pro"/>
              </a:rPr>
              <a:t>ما يلزم لاستمرار بداية بعد التحدي: التكلفة، والبديل عند التعطل، والمسؤول</a:t>
            </a:r>
            <a:endParaRPr/>
          </a:p>
        </p:txBody>
      </p:sp>
      <p:sp>
        <p:nvSpPr>
          <p:cNvPr id="735" name="Google Shape;735;p21"/>
          <p:cNvSpPr txBox="1"/>
          <p:nvPr>
            <p:ph idx="3" type="body"/>
          </p:nvPr>
        </p:nvSpPr>
        <p:spPr>
          <a:xfrm>
            <a:off x="1409700" y="8810625"/>
            <a:ext cx="15430500" cy="457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1800"/>
              <a:buNone/>
            </a:pPr>
            <a:r>
              <a:rPr b="0" lang="ar-SA" sz="1800">
                <a:solidFill>
                  <a:srgbClr val="4A5590"/>
                </a:solidFill>
                <a:latin typeface="Readex Pro"/>
                <a:ea typeface="Readex Pro"/>
                <a:cs typeface="Readex Pro"/>
                <a:sym typeface="Readex Pro"/>
              </a:rPr>
              <a:t>الأسعار المعلنة لدى Modal و OpenAI في أكتوبر 2026، وتكلفة السؤال تقديرية</a:t>
            </a:r>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1" name="Shape 831"/>
        <p:cNvGrpSpPr/>
        <p:nvPr/>
      </p:nvGrpSpPr>
      <p:grpSpPr>
        <a:xfrm>
          <a:off x="0" y="0"/>
          <a:ext cx="0" cy="0"/>
          <a:chOff x="0" y="0"/>
          <a:chExt cx="0" cy="0"/>
        </a:xfrm>
      </p:grpSpPr>
      <p:pic>
        <p:nvPicPr>
          <p:cNvPr id="832" name="Google Shape;832;p25" title="خلفية هكثون4.png"/>
          <p:cNvPicPr preferRelativeResize="0"/>
          <p:nvPr/>
        </p:nvPicPr>
        <p:blipFill>
          <a:blip r:embed="rId3">
            <a:alphaModFix/>
          </a:blip>
          <a:stretch>
            <a:fillRect/>
          </a:stretch>
        </p:blipFill>
        <p:spPr>
          <a:xfrm>
            <a:off x="0" y="0"/>
            <a:ext cx="18288000" cy="10287000"/>
          </a:xfrm>
          <a:prstGeom prst="rect">
            <a:avLst/>
          </a:prstGeom>
          <a:noFill/>
          <a:ln>
            <a:noFill/>
          </a:ln>
        </p:spPr>
      </p:pic>
      <p:sp>
        <p:nvSpPr>
          <p:cNvPr id="833" name="Google Shape;833;p25"/>
          <p:cNvSpPr txBox="1"/>
          <p:nvPr>
            <p:ph idx="12" type="sldNum"/>
          </p:nvPr>
        </p:nvSpPr>
        <p:spPr>
          <a:xfrm>
            <a:off x="1066800" y="9467850"/>
            <a:ext cx="952500" cy="400050"/>
          </a:xfrm>
          <a:prstGeom prst="rect">
            <a:avLst/>
          </a:prstGeom>
          <a:noFill/>
          <a:ln>
            <a:noFill/>
          </a:ln>
        </p:spPr>
        <p:txBody>
          <a:bodyPr anchorCtr="0" anchor="t" bIns="0" lIns="0" spcFirstLastPara="1" rIns="0" wrap="square" tIns="0">
            <a:noAutofit/>
          </a:bodyPr>
          <a:lstStyle/>
          <a:p>
            <a:pPr indent="0" lvl="0" marL="0" rtl="0" algn="l">
              <a:spcBef>
                <a:spcPts val="0"/>
              </a:spcBef>
              <a:spcAft>
                <a:spcPts val="0"/>
              </a:spcAft>
              <a:buNone/>
            </a:pPr>
            <a:fld id="{00000000-1234-1234-1234-123412341234}" type="slidenum">
              <a:rPr lang="ar-SA" sz="1800">
                <a:solidFill>
                  <a:srgbClr val="8E99CC"/>
                </a:solidFill>
                <a:latin typeface="Readex Pro"/>
                <a:ea typeface="Readex Pro"/>
                <a:cs typeface="Readex Pro"/>
                <a:sym typeface="Readex Pro"/>
              </a:rPr>
              <a:t>‹#›</a:t>
            </a:fld>
            <a:endParaRPr/>
          </a:p>
        </p:txBody>
      </p:sp>
      <p:pic>
        <p:nvPicPr>
          <p:cNvPr id="9360" name="Screenshot 1" descr="The Hijra chapter question, answered, with the Dorar quote and the map at the Cave of Thawr"/>
          <p:cNvPicPr>
            <a:picLocks noChangeAspect="1"/>
          </p:cNvPicPr>
          <p:nvPr/>
        </p:nvPicPr>
        <p:blipFill>
          <a:blip r:embed="rId4"/>
          <a:stretch>
            <a:fillRect/>
          </a:stretch>
        </p:blipFill>
        <p:spPr>
          <a:xfrm>
            <a:off x="2654160" y="666750"/>
            <a:ext cx="12979680" cy="6953400"/>
          </a:xfrm>
          <a:prstGeom prst="roundRect">
            <a:avLst>
              <a:gd fmla="val 3580" name="adj"/>
            </a:avLst>
          </a:prstGeom>
          <a:ln cap="flat" cmpd="sng" w="11425">
            <a:solidFill>
              <a:srgbClr val="4A5590"/>
            </a:solidFill>
            <a:prstDash val="solid"/>
            <a:round/>
            <a:headEnd len="sm" w="sm" type="none"/>
            <a:tailEnd len="sm" w="sm" type="none"/>
          </a:ln>
        </p:spPr>
      </p:pic>
      <p:sp>
        <p:nvSpPr>
          <p:cNvPr id="835" name="Google Shape;835;p25"/>
          <p:cNvSpPr txBox="1"/>
          <p:nvPr>
            <p:ph type="title"/>
          </p:nvPr>
        </p:nvSpPr>
        <p:spPr>
          <a:xfrm>
            <a:off x="2038350" y="7962900"/>
            <a:ext cx="14763900" cy="8382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3900"/>
              <a:buNone/>
            </a:pPr>
            <a:r>
              <a:rPr b="1" lang="ar-SA" sz="3900">
                <a:solidFill>
                  <a:srgbClr val="F2F4FF"/>
                </a:solidFill>
                <a:latin typeface="Readex Pro"/>
                <a:ea typeface="Readex Pro"/>
                <a:cs typeface="Readex Pro"/>
                <a:sym typeface="Readex Pro"/>
              </a:rPr>
              <a:t>سؤال في نهاية كل فصل: يختبر القارئ ما فهمه</a:t>
            </a:r>
            <a:endParaRPr/>
          </a:p>
        </p:txBody>
      </p:sp>
      <p:sp>
        <p:nvSpPr>
          <p:cNvPr id="836" name="Google Shape;836;p25"/>
          <p:cNvSpPr txBox="1"/>
          <p:nvPr>
            <p:ph idx="1" type="body"/>
          </p:nvPr>
        </p:nvSpPr>
        <p:spPr>
          <a:xfrm>
            <a:off x="1990725" y="8824913"/>
            <a:ext cx="14763900" cy="428700"/>
          </a:xfrm>
          <a:prstGeom prst="rect">
            <a:avLst/>
          </a:prstGeom>
          <a:noFill/>
          <a:ln>
            <a:noFill/>
          </a:ln>
        </p:spPr>
        <p:txBody>
          <a:bodyPr anchorCtr="0" anchor="t" bIns="0" lIns="0" spcFirstLastPara="1" rIns="0" wrap="square" tIns="0">
            <a:noAutofit/>
          </a:bodyPr>
          <a:lstStyle/>
          <a:p>
            <a:pPr indent="0" lvl="0" marL="0" rtl="1" algn="r">
              <a:lnSpc>
                <a:spcPct val="100000"/>
              </a:lnSpc>
              <a:spcBef>
                <a:spcPts val="0"/>
              </a:spcBef>
              <a:spcAft>
                <a:spcPts val="0"/>
              </a:spcAft>
              <a:buSzPts val="2100"/>
              <a:buNone/>
            </a:pPr>
            <a:r>
              <a:rPr b="0" lang="ar-SA" sz="2100">
                <a:solidFill>
                  <a:srgbClr val="CBCFE6"/>
                </a:solidFill>
                <a:latin typeface="Readex Pro"/>
                <a:ea typeface="Readex Pro"/>
                <a:cs typeface="Readex Pro"/>
                <a:sym typeface="Readex Pro"/>
              </a:rPr>
              <a:t>سؤال فصل الهجرة: يختار الجواب أو يلمس المكان على الخريطة، ثم يرى الشرح ونص الدرر ومصدره، وتُعلَّم الفصول المُجابة في شريط الفصول</a:t>
            </a:r>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