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4" r:id="rId14"/>
    <p:sldId id="266" r:id="rId16"/>
    <p:sldId id="282" r:id="rId32"/>
    <p:sldId id="280" r:id="rId30"/>
    <p:sldId id="279" r:id="rId29"/>
    <p:sldId id="281" r:id="rId31"/>
    <p:sldId id="272" r:id="rId22"/>
    <p:sldId id="270" r:id="rId20"/>
    <p:sldId id="283" r:id="rId33"/>
    <p:sldId id="275" r:id="rId25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6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بداية: خريطة تفاعلية تروي السيرة النبوية في الزمان والمكان، مع مساعد ذكي يجيب من المصادر. المسار الثالث.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5" name="Google Shape;495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نعرض المشكلة، ثم الحل، ثم كيف يعمل الذكاء الاصطناعي، ثم الموثوقية والنتائج، ثم الفريق والخطوة التالية.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96" name="Google Shape;496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المستفيد: غير المسلمين والمسلمين الجدد. السيرة مدخل واضح للإسلام، لكنها متفرقة.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النتائج قابلة للتحقق: كل سؤال وجوابه منشور في مستودع المشروع.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نلتزم مستويات المحتوى في المرجعية العلمية: جواب موثق، ذكر الخلاف، والإحالة في الفتوى.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فريق من ثلاثة أعضاء يغطي التقنية والمحتوى والاختبار.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06" name="Google Shape;706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ما بقي: اختبار الفهم مع الفئة المستهدفة (معيار المسار)، واعتماد المحتوى، ولغات أخرى.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07" name="Google Shape;707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آلية العمل: نموذج لغوي يفهم السؤال، بحث هجين مع إعادة ترتيب في 2,905 مقطعًا، جواب لا يُقبل إلا باستشهاد صحيح، ثم الخريطة.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مثال حي: سؤال عن بدر. الجواب من الدرر والبخاري مع الروابط، والخريطة تنتقل إلى بدر.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7" name="Shape 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Google Shape;838;p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9" name="Google Shape;839;p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الملخص، وبطاقة الشخص، والتجربة على الجوال.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40" name="Google Shape;840;p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أربعة عناصر: القصة على الخريطة، السور في سياقها، اسأل الخريطة، ملخص السيرة. كلها بالعربية والإنجليزية.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6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7" name="Google Shape;877;p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8" name="Google Shape;878;p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بداية لا تستبدل كتب السيرة، بل تقدم محتواها المعتمد في تجربة مرتبة يسأل فيها المبتدئ بلغته.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79" name="Google Shape;879;p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>شكرًا لكم. الموقع الحي والمستودع في الشريحة.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summary.png"/><Relationship Id="rId6" Type="http://schemas.openxmlformats.org/officeDocument/2006/relationships/image" Target="../media/bidaya_person.png"/><Relationship Id="rId7" Type="http://schemas.openxmlformats.org/officeDocument/2006/relationships/image" Target="../media/bidaya_phone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8" name="Google Shape;49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501" name="Google Shape;501;p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محتويات العرض</a:t>
            </a:r>
            <a:endParaRPr/>
          </a:p>
        </p:txBody>
      </p:sp>
      <p:sp>
        <p:nvSpPr>
          <p:cNvPr id="502" name="Google Shape;502;p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03" name="Google Shape;503;p9"/>
          <p:cNvSpPr txBox="1"/>
          <p:nvPr>
            <p:ph idx="2" type="body"/>
          </p:nvPr>
        </p:nvSpPr>
        <p:spPr>
          <a:xfrm>
            <a:off x="12077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504" name="Google Shape;504;p9"/>
          <p:cNvSpPr txBox="1"/>
          <p:nvPr>
            <p:ph idx="3" type="body"/>
          </p:nvPr>
        </p:nvSpPr>
        <p:spPr>
          <a:xfrm>
            <a:off x="12077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05" name="Google Shape;505;p9"/>
          <p:cNvSpPr txBox="1"/>
          <p:nvPr>
            <p:ph idx="4" type="body"/>
          </p:nvPr>
        </p:nvSpPr>
        <p:spPr>
          <a:xfrm>
            <a:off x="12077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متفرقة ويصعب على المبتدئ ترتيبها</a:t>
            </a:r>
            <a:endParaRPr/>
          </a:p>
        </p:txBody>
      </p:sp>
      <p:sp>
        <p:nvSpPr>
          <p:cNvPr id="506" name="Google Shape;506;p9"/>
          <p:cNvSpPr txBox="1"/>
          <p:nvPr>
            <p:ph idx="5" type="body"/>
          </p:nvPr>
        </p:nvSpPr>
        <p:spPr>
          <a:xfrm>
            <a:off x="6743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507" name="Google Shape;507;p9"/>
          <p:cNvSpPr txBox="1"/>
          <p:nvPr>
            <p:ph idx="6" type="body"/>
          </p:nvPr>
        </p:nvSpPr>
        <p:spPr>
          <a:xfrm>
            <a:off x="6743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508" name="Google Shape;508;p9"/>
          <p:cNvSpPr txBox="1"/>
          <p:nvPr>
            <p:ph idx="7" type="body"/>
          </p:nvPr>
        </p:nvSpPr>
        <p:spPr>
          <a:xfrm>
            <a:off x="6743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قصة السيرة على خريطة وخط زمني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09" name="Google Shape;509;p9"/>
          <p:cNvSpPr txBox="1"/>
          <p:nvPr>
            <p:ph idx="8" type="body"/>
          </p:nvPr>
        </p:nvSpPr>
        <p:spPr>
          <a:xfrm>
            <a:off x="1409700" y="3857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510" name="Google Shape;510;p9"/>
          <p:cNvSpPr txBox="1"/>
          <p:nvPr>
            <p:ph idx="9" type="body"/>
          </p:nvPr>
        </p:nvSpPr>
        <p:spPr>
          <a:xfrm>
            <a:off x="1409700" y="4724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511" name="Google Shape;511;p9"/>
          <p:cNvSpPr txBox="1"/>
          <p:nvPr>
            <p:ph idx="13" type="body"/>
          </p:nvPr>
        </p:nvSpPr>
        <p:spPr>
          <a:xfrm>
            <a:off x="1409700" y="5419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«اسأل الخريطة» يجيب من المصادر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2" name="Google Shape;512;p9"/>
          <p:cNvSpPr txBox="1"/>
          <p:nvPr>
            <p:ph idx="14" type="body"/>
          </p:nvPr>
        </p:nvSpPr>
        <p:spPr>
          <a:xfrm>
            <a:off x="12077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513" name="Google Shape;513;p9"/>
          <p:cNvSpPr txBox="1"/>
          <p:nvPr>
            <p:ph idx="15" type="body"/>
          </p:nvPr>
        </p:nvSpPr>
        <p:spPr>
          <a:xfrm>
            <a:off x="12077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514" name="Google Shape;514;p9"/>
          <p:cNvSpPr txBox="1"/>
          <p:nvPr>
            <p:ph idx="16" type="body"/>
          </p:nvPr>
        </p:nvSpPr>
        <p:spPr>
          <a:xfrm>
            <a:off x="12077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مصادر معتمدة، وامتناع عن الفتوى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5" name="Google Shape;515;p9"/>
          <p:cNvSpPr txBox="1"/>
          <p:nvPr>
            <p:ph idx="17" type="body"/>
          </p:nvPr>
        </p:nvSpPr>
        <p:spPr>
          <a:xfrm>
            <a:off x="6743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516" name="Google Shape;516;p9"/>
          <p:cNvSpPr txBox="1"/>
          <p:nvPr>
            <p:ph idx="18" type="body"/>
          </p:nvPr>
        </p:nvSpPr>
        <p:spPr>
          <a:xfrm>
            <a:off x="6743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517" name="Google Shape;517;p9"/>
          <p:cNvSpPr txBox="1"/>
          <p:nvPr>
            <p:ph idx="19" type="body"/>
          </p:nvPr>
        </p:nvSpPr>
        <p:spPr>
          <a:xfrm>
            <a:off x="6743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اختبار الإجابات على الموقع الحي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518" name="Google Shape;518;p9"/>
          <p:cNvSpPr txBox="1"/>
          <p:nvPr>
            <p:ph idx="20" type="body"/>
          </p:nvPr>
        </p:nvSpPr>
        <p:spPr>
          <a:xfrm>
            <a:off x="1409700" y="6524625"/>
            <a:ext cx="447690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06</a:t>
            </a:r>
            <a:endParaRPr/>
          </a:p>
        </p:txBody>
      </p:sp>
      <p:sp>
        <p:nvSpPr>
          <p:cNvPr id="519" name="Google Shape;519;p9"/>
          <p:cNvSpPr txBox="1"/>
          <p:nvPr>
            <p:ph idx="21" type="body"/>
          </p:nvPr>
        </p:nvSpPr>
        <p:spPr>
          <a:xfrm>
            <a:off x="1409700" y="7391400"/>
            <a:ext cx="44769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الفريق والخطوة التالية</a:t>
            </a:r>
            <a:endParaRPr/>
          </a:p>
        </p:txBody>
      </p:sp>
      <p:sp>
        <p:nvSpPr>
          <p:cNvPr id="520" name="Google Shape;520;p9"/>
          <p:cNvSpPr txBox="1"/>
          <p:nvPr>
            <p:ph idx="22" type="body"/>
          </p:nvPr>
        </p:nvSpPr>
        <p:spPr>
          <a:xfrm>
            <a:off x="1409700" y="8086725"/>
            <a:ext cx="4476900" cy="7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lang="ar-SA" sz="2250">
                <a:solidFill>
                  <a:srgbClr val="CBCFE6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ما أُنجز، وما بقي</a:t>
            </a:r>
            <a:endParaRPr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لكنها موزعة بين كتب كثيرة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أحداث متفرقة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موزعة بين كتب السيرة والحديث، دون ترتيب واحد يراه المبتدئ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على الموقع الحي، 5–6 أكتوبر 2026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48 سؤالًا لها مصدر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100%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امتناع صحيح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عن الفتوى وما لا مصدر له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88%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أسئلة صعبة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50 سؤالًا: أسماء متشابهة ومقدمات خاطئة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7.5 ث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زمن الجواب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الوسيط على الموقع الحي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docs/evaluation في مستودع المشروع، مع كل سؤال وجوابه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97.9% بمصدر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ذكر اختلاف الروايات دون ترجيح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100% امتناع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المصدر: اختبارا 60 و50 سؤالًا، مجلد docs/evaluation في المستودع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92" name="Google Shape;692;p19"/>
          <p:cNvSpPr/>
          <p:nvPr>
            <p:ph idx="3" type="pic"/>
          </p:nvPr>
        </p:nvSpPr>
        <p:spPr>
          <a:xfrm>
            <a:off x="12192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sp>
        <p:nvSpPr>
          <p:cNvPr id="695" name="Google Shape;695;p19"/>
          <p:cNvSpPr/>
          <p:nvPr>
            <p:ph idx="6" type="pic"/>
          </p:nvPr>
        </p:nvSpPr>
        <p:spPr>
          <a:xfrm>
            <a:off x="81915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sp>
        <p:nvSpPr>
          <p:cNvPr id="698" name="Google Shape;698;p19"/>
          <p:cNvSpPr/>
          <p:nvPr>
            <p:ph idx="9" type="pic"/>
          </p:nvPr>
        </p:nvSpPr>
        <p:spPr>
          <a:xfrm>
            <a:off x="419100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8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9" name="Google Shape;709;p20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0" name="Google Shape;710;p20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الخطوة التالية</a:t>
            </a:r>
            <a:endParaRPr/>
          </a:p>
        </p:txBody>
      </p:sp>
      <p:sp>
        <p:nvSpPr>
          <p:cNvPr id="711" name="Google Shape;711;p20"/>
          <p:cNvSpPr txBox="1"/>
          <p:nvPr>
            <p:ph type="title"/>
          </p:nvPr>
        </p:nvSpPr>
        <p:spPr>
          <a:xfrm>
            <a:off x="6637950" y="1809750"/>
            <a:ext cx="102024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ما أُنجز وما بقي</a:t>
            </a:r>
            <a:endParaRPr/>
          </a:p>
        </p:txBody>
      </p:sp>
      <p:sp>
        <p:nvSpPr>
          <p:cNvPr id="712" name="Google Shape;712;p20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ما في هذا العرض يعمل الآن على الموقع الحي</a:t>
            </a:r>
            <a:endParaRPr/>
          </a:p>
        </p:txBody>
      </p:sp>
      <p:sp>
        <p:nvSpPr>
          <p:cNvPr id="713" name="Google Shape;713;p2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714" name="Google Shape;714;p20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مُنجز ويعمل</a:t>
            </a:r>
            <a:endParaRPr/>
          </a:p>
        </p:txBody>
      </p:sp>
      <p:sp>
        <p:nvSpPr>
          <p:cNvPr id="715" name="Google Shape;715;p20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والقصة والبطاقات والمساعد والملخص، بالعربية والإنجليزية</a:t>
            </a:r>
            <a:endParaRPr/>
          </a:p>
        </p:txBody>
      </p:sp>
      <p:sp>
        <p:nvSpPr>
          <p:cNvPr id="716" name="Google Shape;716;p20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اختبار مع المستفيدين</a:t>
            </a:r>
            <a:endParaRPr/>
          </a:p>
        </p:txBody>
      </p:sp>
      <p:sp>
        <p:nvSpPr>
          <p:cNvPr id="717" name="Google Shape;717;p20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قياس الفهم قبل الاستخدام وبعده مع غير المسلمين والمسلمين الجدد</a:t>
            </a:r>
            <a:endParaRPr/>
          </a:p>
        </p:txBody>
      </p:sp>
      <p:sp>
        <p:nvSpPr>
          <p:cNvPr id="718" name="Google Shape;718;p20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مراجعة المحتوى</a:t>
            </a:r>
            <a:endParaRPr/>
          </a:p>
        </p:txBody>
      </p:sp>
      <p:sp>
        <p:nvSpPr>
          <p:cNvPr id="719" name="Google Shape;719;p20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اعتماد أحدث السجلات من مسؤول المحتوى قبل النشر الواسع</a:t>
            </a:r>
            <a:endParaRPr/>
          </a:p>
        </p:txBody>
      </p:sp>
      <p:sp>
        <p:nvSpPr>
          <p:cNvPr id="720" name="Google Shape;720;p20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721" name="Google Shape;721;p20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إضافة لغات بعد العربية والإنجليزية بالمصطلحات المعتمدة</a:t>
            </a:r>
            <a:endParaRPr/>
          </a:p>
        </p:txBody>
      </p:sp>
      <p:pic>
        <p:nvPicPr>
          <p:cNvPr id="722" name="Google Shape;722;p20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هجين في 2,905 مقطعًا ثم إعادة ترتيب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جملة برقم مصدرها، أو امتناع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نص مع روابط المصادر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إلى الحدث أو تُفتح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88% في 50 سؤالًا صعبًا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Badr with its sources, the map at Badr"/>
          <p:cNvPicPr>
            <a:picLocks noChangeAspect="1"/>
          </p:cNvPicPr>
          <p:nvPr/>
        </p:nvPicPr>
        <p:blipFill>
          <a:blip r:embed="rId4"/>
          <a:srcRect t="4693" b="26599"/>
          <a:stretch>
            <a:fillRect/>
          </a:stretch>
        </p:blipFill>
        <p:spPr>
          <a:xfrm>
            <a:off x="1047750" y="666750"/>
            <a:ext cx="1619250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الجواب ومصدره، والخريطة عند الحدث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غزوة بدر: جواب من الدرر السنية وصحيح البخاري مع روابطهما، والخريطة تنتقل إلى بدر مع زر للعودة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2" name="Google Shape;842;p26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3" name="Google Shape;843;p26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التجربة</a:t>
            </a:r>
            <a:endParaRPr/>
          </a:p>
        </p:txBody>
      </p:sp>
      <p:sp>
        <p:nvSpPr>
          <p:cNvPr id="844" name="Google Shape;844;p26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واجهات بداية</a:t>
            </a:r>
            <a:endParaRPr/>
          </a:p>
        </p:txBody>
      </p:sp>
      <p:sp>
        <p:nvSpPr>
          <p:cNvPr id="845" name="Google Shape;845;p2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60" name="Screenshot 1" descr="The Sirah summary on the map"/>
          <p:cNvPicPr>
            <a:picLocks noChangeAspect="1"/>
          </p:cNvPicPr>
          <p:nvPr/>
        </p:nvPicPr>
        <p:blipFill>
          <a:blip r:embed="rId5"/>
          <a:srcRect l="15278" r="15279"/>
          <a:stretch>
            <a:fillRect/>
          </a:stretch>
        </p:blipFill>
        <p:spPr>
          <a:xfrm>
            <a:off x="12077700" y="3714750"/>
            <a:ext cx="4762500" cy="4286400"/>
          </a:xfrm>
          <a:prstGeom prst="roundRect">
            <a:avLst>
              <a:gd fmla="val 5252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47" name="Google Shape;847;p26"/>
          <p:cNvSpPr txBox="1"/>
          <p:nvPr>
            <p:ph idx="3" type="body"/>
          </p:nvPr>
        </p:nvSpPr>
        <p:spPr>
          <a:xfrm>
            <a:off x="121158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السيرة: 21 لحظة بنصوصها وآياتها</a:t>
            </a:r>
            <a:endParaRPr/>
          </a:p>
        </p:txBody>
      </p:sp>
      <p:sp>
        <p:nvSpPr>
          <p:cNvPr id="848" name="Google Shape;848;p26"/>
          <p:cNvSpPr txBox="1"/>
          <p:nvPr>
            <p:ph idx="5" type="body"/>
          </p:nvPr>
        </p:nvSpPr>
        <p:spPr>
          <a:xfrm>
            <a:off x="676275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بطاقة الشخص: نبذة موثقة وأحداثه</a:t>
            </a:r>
            <a:endParaRPr/>
          </a:p>
        </p:txBody>
      </p:sp>
      <p:sp>
        <p:nvSpPr>
          <p:cNvPr id="849" name="Google Shape;849;p26"/>
          <p:cNvSpPr txBox="1"/>
          <p:nvPr>
            <p:ph idx="7" type="body"/>
          </p:nvPr>
        </p:nvSpPr>
        <p:spPr>
          <a:xfrm>
            <a:off x="1409700" y="8334375"/>
            <a:ext cx="4762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على الجوال: القصة والخريطة معًا</a:t>
            </a:r>
            <a:endParaRPr/>
          </a:p>
        </p:txBody>
      </p:sp>
      <p:pic>
        <p:nvPicPr>
          <p:cNvPr id="850" name="Google Shape;85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61" name="Screenshot 2" descr="A person card"/>
          <p:cNvPicPr>
            <a:picLocks noChangeAspect="1"/>
          </p:cNvPicPr>
          <p:nvPr/>
        </p:nvPicPr>
        <p:blipFill>
          <a:blip r:embed="rId6"/>
          <a:srcRect l="15278" r="15279"/>
          <a:stretch>
            <a:fillRect/>
          </a:stretch>
        </p:blipFill>
        <p:spPr>
          <a:xfrm>
            <a:off x="6743700" y="3714675"/>
            <a:ext cx="4762500" cy="4286400"/>
          </a:xfrm>
          <a:prstGeom prst="roundRect">
            <a:avLst>
              <a:gd fmla="val 5252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9262" name="Screenshot 3" descr="The Journey on a phone"/>
          <p:cNvPicPr>
            <a:picLocks noChangeAspect="1"/>
          </p:cNvPicPr>
          <p:nvPr/>
        </p:nvPicPr>
        <p:blipFill>
          <a:blip r:embed="rId7"/>
          <a:srcRect t="0" b="58410"/>
          <a:stretch>
            <a:fillRect/>
          </a:stretch>
        </p:blipFill>
        <p:spPr>
          <a:xfrm>
            <a:off x="1409700" y="3714750"/>
            <a:ext cx="4762500" cy="4286400"/>
          </a:xfrm>
          <a:prstGeom prst="roundRect">
            <a:avLst>
              <a:gd fmla="val 5252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أربعة عناصر تعمل معًا، بالعربية والإنجليزية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في أماكنها، تُروى خطوة بخطوة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ويذكرها،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ملخص السيرة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21 لحظة بنصوص الدرر، مع السؤال عن كل لحظة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1" name="Google Shape;881;p28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2" name="Google Shape;882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83" name="Google Shape;883;p2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884" name="Google Shape;884;p2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أم بداية؟</a:t>
            </a:r>
            <a:endParaRPr/>
          </a:p>
        </p:txBody>
      </p:sp>
      <p:sp>
        <p:nvSpPr>
          <p:cNvPr id="885" name="Google Shape;885;p2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للمبتدئ الذي يتعرف على الإسلام</a:t>
            </a:r>
            <a:endParaRPr/>
          </a:p>
        </p:txBody>
      </p:sp>
      <p:sp>
        <p:nvSpPr>
          <p:cNvPr id="886" name="Google Shape;886;p2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87" name="Google Shape;887;p28"/>
          <p:cNvSpPr txBox="1"/>
          <p:nvPr>
            <p:ph idx="3" type="body"/>
          </p:nvPr>
        </p:nvSpPr>
        <p:spPr>
          <a:xfrm>
            <a:off x="969645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والبحث</a:t>
            </a:r>
            <a:endParaRPr/>
          </a:p>
        </p:txBody>
      </p:sp>
      <p:sp>
        <p:nvSpPr>
          <p:cNvPr id="888" name="Google Shape;888;p28"/>
          <p:cNvSpPr txBox="1"/>
          <p:nvPr>
            <p:ph idx="4" type="body"/>
          </p:nvPr>
        </p:nvSpPr>
        <p:spPr>
          <a:xfrm>
            <a:off x="969645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مصادر موثوقة، لكنها نصوص طويلة متفرقة</a:t>
            </a:r>
            <a:endParaRPr/>
          </a:p>
        </p:txBody>
      </p:sp>
      <p:sp>
        <p:nvSpPr>
          <p:cNvPr id="889" name="Google Shape;889;p28"/>
          <p:cNvSpPr txBox="1"/>
          <p:nvPr>
            <p:ph idx="5" type="body"/>
          </p:nvPr>
        </p:nvSpPr>
        <p:spPr>
          <a:xfrm>
            <a:off x="1409700" y="3857625"/>
            <a:ext cx="71439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890" name="Google Shape;890;p28"/>
          <p:cNvSpPr txBox="1"/>
          <p:nvPr>
            <p:ph idx="6" type="body"/>
          </p:nvPr>
        </p:nvSpPr>
        <p:spPr>
          <a:xfrm>
            <a:off x="1409700" y="4562475"/>
            <a:ext cx="71439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 نفسها، قصةً على الخريطة مع مساعد يجيب منها</a:t>
            </a:r>
            <a:endParaRPr/>
          </a:p>
        </p:txBody>
      </p:sp>
      <p:sp>
        <p:nvSpPr>
          <p:cNvPr id="891" name="Google Shape;891;p28"/>
          <p:cNvSpPr txBox="1"/>
          <p:nvPr>
            <p:ph idx="7" type="body"/>
          </p:nvPr>
        </p:nvSpPr>
        <p:spPr>
          <a:xfrm>
            <a:off x="969645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عمق وتفصيل كامل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لا ترتيب على الخريطة، والآيات منفصلة عن أحداثها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للمتعلم المتقدم والباحث</a:t>
            </a:r>
            <a:endParaRPr/>
          </a:p>
        </p:txBody>
      </p:sp>
      <p:sp>
        <p:nvSpPr>
          <p:cNvPr id="892" name="Google Shape;892;p28"/>
          <p:cNvSpPr txBox="1"/>
          <p:nvPr>
            <p:ph idx="8" type="body"/>
          </p:nvPr>
        </p:nvSpPr>
        <p:spPr>
          <a:xfrm>
            <a:off x="1409700" y="5905500"/>
            <a:ext cx="7143900" cy="295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يرى الحدث ومكانه وآياته، ويسأل بلغته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يقتصر على ما في المصادر المعتمدة، ولا يفتي</a:t>
            </a:r>
            <a:endParaRPr/>
          </a:p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t/>
            </a:r>
            <a:endParaRPr b="0" sz="2550">
              <a:solidFill>
                <a:srgbClr val="F2F4FF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0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للمبتدئ وغير المسلم والمسلم الجديد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شركاؤنا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