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18288000" cy="10287000"/>
  <p:notesSz cx="6858000" cy="9144000"/>
  <p:embeddedFontLst>
    <p:embeddedFont>
      <p:font typeface="Dubai" panose="020B0503030403030204" pitchFamily="34" charset="-78"/>
      <p:regular r:id="rId12"/>
      <p:bold r:id="rId13"/>
    </p:embeddedFont>
    <p:embeddedFont>
      <p:font typeface="Saudi" panose="020B0604020202020204" charset="-78"/>
      <p:regular r:id="rId14"/>
    </p:embeddedFont>
    <p:embeddedFont>
      <p:font typeface="Saudi Bold" panose="020B0604020202020204" charset="-78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1B0D"/>
    <a:srgbClr val="B49641"/>
    <a:srgbClr val="D9D0C1"/>
    <a:srgbClr val="8C7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9CAD1-092D-844E-5E49-06CA964E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FE49312-5667-D1E2-009A-7F3662950F9A}"/>
              </a:ext>
            </a:extLst>
          </p:cNvPr>
          <p:cNvGrpSpPr/>
          <p:nvPr/>
        </p:nvGrpSpPr>
        <p:grpSpPr>
          <a:xfrm>
            <a:off x="14020800" y="3135202"/>
            <a:ext cx="3886200" cy="1614363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521EE2-3394-B687-3ACD-111302FDD7E3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88FEE2-259E-6C0E-8D12-8D96730ED027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E0A1D7-E856-7DE8-D2A8-894AC262F2E6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4FA50F-9B93-40B1-39DB-B12CBDBC28FF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C80968-EAB7-0361-6F4F-DD1EFB7E7BBD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D968B57-BF9D-DAFC-61FD-883A948D71A3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1AE2BA-9D37-B1FE-9E6F-4A165A57DDA6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BDD302-BC38-754D-0BF8-972AB74B2DCF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F4D2B8-F8A1-7489-9340-3CBDB0856C7E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411C10-4EB7-B0D4-A467-6F5EF777031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2899DA9-1395-09E3-6D27-692F3ADEA690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737A9F-E0CE-5E3F-494E-912C846010E5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BB29F8-3FE1-7679-D00F-18BF5D77AC06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D2449A-897A-054A-DD34-B526B442C1AE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EAC2D6-DEFC-92ED-804F-26B7944E87FE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92DB6AD-1716-1711-8AF1-238BAA0ECB29}"/>
              </a:ext>
            </a:extLst>
          </p:cNvPr>
          <p:cNvGrpSpPr/>
          <p:nvPr/>
        </p:nvGrpSpPr>
        <p:grpSpPr>
          <a:xfrm>
            <a:off x="228599" y="338775"/>
            <a:ext cx="17907001" cy="8162353"/>
            <a:chOff x="1080470" y="635635"/>
            <a:chExt cx="16066749" cy="8162353"/>
          </a:xfrm>
        </p:grpSpPr>
        <p:grpSp>
          <p:nvGrpSpPr>
            <p:cNvPr id="33" name="object 5">
              <a:extLst>
                <a:ext uri="{FF2B5EF4-FFF2-40B4-BE49-F238E27FC236}">
                  <a16:creationId xmlns:a16="http://schemas.microsoft.com/office/drawing/2014/main" id="{1030737D-3662-9D1E-40FF-71D8641D52C0}"/>
                </a:ext>
              </a:extLst>
            </p:cNvPr>
            <p:cNvGrpSpPr/>
            <p:nvPr/>
          </p:nvGrpSpPr>
          <p:grpSpPr>
            <a:xfrm>
              <a:off x="1080470" y="635635"/>
              <a:ext cx="16066749" cy="8162353"/>
              <a:chOff x="1078250" y="691135"/>
              <a:chExt cx="16066749" cy="8162353"/>
            </a:xfrm>
          </p:grpSpPr>
          <p:sp>
            <p:nvSpPr>
              <p:cNvPr id="35" name="object 6">
                <a:extLst>
                  <a:ext uri="{FF2B5EF4-FFF2-40B4-BE49-F238E27FC236}">
                    <a16:creationId xmlns:a16="http://schemas.microsoft.com/office/drawing/2014/main" id="{6B3745E6-8517-AC32-1D47-8C821C52C6E5}"/>
                  </a:ext>
                </a:extLst>
              </p:cNvPr>
              <p:cNvSpPr/>
              <p:nvPr/>
            </p:nvSpPr>
            <p:spPr>
              <a:xfrm>
                <a:off x="1142999" y="8843963"/>
                <a:ext cx="1600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0" h="9525">
                    <a:moveTo>
                      <a:pt x="16001999" y="9524"/>
                    </a:moveTo>
                    <a:lnTo>
                      <a:pt x="0" y="9524"/>
                    </a:lnTo>
                    <a:lnTo>
                      <a:pt x="0" y="0"/>
                    </a:lnTo>
                    <a:lnTo>
                      <a:pt x="16001999" y="0"/>
                    </a:lnTo>
                    <a:lnTo>
                      <a:pt x="16001999" y="9524"/>
                    </a:lnTo>
                    <a:close/>
                  </a:path>
                </a:pathLst>
              </a:custGeom>
              <a:solidFill>
                <a:srgbClr val="FFFFFF">
                  <a:alpha val="12156"/>
                </a:srgbClr>
              </a:solidFill>
            </p:spPr>
            <p:txBody>
              <a:bodyPr wrap="square" lIns="0" tIns="0" rIns="0" bIns="0" rtlCol="0"/>
              <a:lstStyle/>
              <a:p>
                <a:endParaRPr lang="ar-SA" noProof="0" dirty="0"/>
              </a:p>
            </p:txBody>
          </p:sp>
          <p:pic>
            <p:nvPicPr>
              <p:cNvPr id="36" name="object 7">
                <a:extLst>
                  <a:ext uri="{FF2B5EF4-FFF2-40B4-BE49-F238E27FC236}">
                    <a16:creationId xmlns:a16="http://schemas.microsoft.com/office/drawing/2014/main" id="{1ECC4813-C60A-92E3-8464-8810626B10CF}"/>
                  </a:ext>
                </a:extLst>
              </p:cNvPr>
              <p:cNvPicPr/>
              <p:nvPr/>
            </p:nvPicPr>
            <p:blipFill>
              <a:blip r:embed="rId2" cstate="print">
                <a:duotone>
                  <a:prstClr val="black"/>
                  <a:srgbClr val="331B0D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1078250" y="691135"/>
                <a:ext cx="4881038" cy="1251242"/>
              </a:xfrm>
              <a:prstGeom prst="rect">
                <a:avLst/>
              </a:prstGeom>
            </p:spPr>
          </p:pic>
          <p:pic>
            <p:nvPicPr>
              <p:cNvPr id="37" name="object 9">
                <a:extLst>
                  <a:ext uri="{FF2B5EF4-FFF2-40B4-BE49-F238E27FC236}">
                    <a16:creationId xmlns:a16="http://schemas.microsoft.com/office/drawing/2014/main" id="{C075844C-07C7-1359-0BEC-3707307B93A5}"/>
                  </a:ext>
                </a:extLst>
              </p:cNvPr>
              <p:cNvPicPr/>
              <p:nvPr/>
            </p:nvPicPr>
            <p:blipFill>
              <a:blip r:embed="rId3" cstate="print">
                <a:duotone>
                  <a:prstClr val="black"/>
                  <a:srgbClr val="331B0D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13209448" y="691135"/>
                <a:ext cx="2160194" cy="1268893"/>
              </a:xfrm>
              <a:prstGeom prst="rect">
                <a:avLst/>
              </a:prstGeom>
            </p:spPr>
          </p:pic>
        </p:grpSp>
        <p:pic>
          <p:nvPicPr>
            <p:cNvPr id="34" name="object 11">
              <a:extLst>
                <a:ext uri="{FF2B5EF4-FFF2-40B4-BE49-F238E27FC236}">
                  <a16:creationId xmlns:a16="http://schemas.microsoft.com/office/drawing/2014/main" id="{B3C30162-369E-B87B-4094-F00080EFAFB2}"/>
                </a:ext>
              </a:extLst>
            </p:cNvPr>
            <p:cNvPicPr/>
            <p:nvPr/>
          </p:nvPicPr>
          <p:blipFill>
            <a:blip r:embed="rId4" cstate="print">
              <a:duotone>
                <a:prstClr val="black"/>
                <a:srgbClr val="331B0D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5537199" y="818330"/>
              <a:ext cx="1404912" cy="88823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ADA458-37BD-E743-5C55-BE38E43C789B}"/>
              </a:ext>
            </a:extLst>
          </p:cNvPr>
          <p:cNvSpPr txBox="1"/>
          <p:nvPr/>
        </p:nvSpPr>
        <p:spPr>
          <a:xfrm>
            <a:off x="8077200" y="1849006"/>
            <a:ext cx="998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تحدي الذكاء الاصطناعي في خدمة المحتوى الإسلامي ·المسار الثالث: التجارب التفاعلية والرحلة المعرفية للتعريف بالإسلام وتعلمه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B9CE03-2736-C192-2A2C-F37DB5B7184C}"/>
              </a:ext>
            </a:extLst>
          </p:cNvPr>
          <p:cNvSpPr txBox="1"/>
          <p:nvPr/>
        </p:nvSpPr>
        <p:spPr>
          <a:xfrm>
            <a:off x="8382000" y="5081568"/>
            <a:ext cx="9677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3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خريطة تفاعلية مدعومة بالذكاء الاصطناعي، تعرّف الناس بالإسلام من خلال سيرة النبي ﷺ: قصةً متصلة في الزمان والمكان، مرتبطة بنزول القرآن الكريم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0F7F10-3A7C-11BB-067B-68C1CCB3BA54}"/>
              </a:ext>
            </a:extLst>
          </p:cNvPr>
          <p:cNvGrpSpPr/>
          <p:nvPr/>
        </p:nvGrpSpPr>
        <p:grpSpPr>
          <a:xfrm>
            <a:off x="11163300" y="7277100"/>
            <a:ext cx="3826095" cy="457200"/>
            <a:chOff x="11277600" y="7277100"/>
            <a:chExt cx="3597495" cy="457200"/>
          </a:xfrm>
        </p:grpSpPr>
        <p:sp>
          <p:nvSpPr>
            <p:cNvPr id="25" name="TextBox 3">
              <a:extLst>
                <a:ext uri="{FF2B5EF4-FFF2-40B4-BE49-F238E27FC236}">
                  <a16:creationId xmlns:a16="http://schemas.microsoft.com/office/drawing/2014/main" id="{9AF5B30A-13AF-4636-87D3-FF0AB6BC2967}"/>
                </a:ext>
              </a:extLst>
            </p:cNvPr>
            <p:cNvSpPr txBox="1"/>
            <p:nvPr/>
          </p:nvSpPr>
          <p:spPr>
            <a:xfrm>
              <a:off x="11426112" y="7369021"/>
              <a:ext cx="3300471" cy="32316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  <a:spcBef>
                  <a:spcPct val="0"/>
                </a:spcBef>
              </a:pPr>
              <a:r>
                <a:rPr lang="ar-SA" sz="2400" b="1" noProof="0" dirty="0">
                  <a:solidFill>
                    <a:srgbClr val="B49641"/>
                  </a:solidFill>
                  <a:latin typeface="Saudi Bold" panose="020B0804010101010102" pitchFamily="34" charset="-78"/>
                  <a:ea typeface="Open Sauce Bold"/>
                  <a:cs typeface="Saudi Bold" panose="020B0804010101010102" pitchFamily="34" charset="-78"/>
                  <a:sym typeface="Open Sauce Bold"/>
                </a:rPr>
                <a:t>مساعد ذكي يجيب من المصادر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9EA13C9-5866-BE6C-850F-1B712FCB6A2D}"/>
                </a:ext>
              </a:extLst>
            </p:cNvPr>
            <p:cNvSpPr/>
            <p:nvPr/>
          </p:nvSpPr>
          <p:spPr>
            <a:xfrm>
              <a:off x="11277600" y="7277100"/>
              <a:ext cx="3597495" cy="457200"/>
            </a:xfrm>
            <a:prstGeom prst="rect">
              <a:avLst/>
            </a:prstGeom>
            <a:noFill/>
            <a:ln>
              <a:solidFill>
                <a:srgbClr val="B496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B4964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2056FB-A4B9-AFDC-D599-74F68CE48053}"/>
              </a:ext>
            </a:extLst>
          </p:cNvPr>
          <p:cNvGrpSpPr/>
          <p:nvPr/>
        </p:nvGrpSpPr>
        <p:grpSpPr>
          <a:xfrm>
            <a:off x="8763001" y="7277100"/>
            <a:ext cx="2133600" cy="457200"/>
            <a:chOff x="8763001" y="7277100"/>
            <a:chExt cx="2133600" cy="457200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19483339-351B-0B77-B808-558037055320}"/>
                </a:ext>
              </a:extLst>
            </p:cNvPr>
            <p:cNvSpPr txBox="1"/>
            <p:nvPr/>
          </p:nvSpPr>
          <p:spPr>
            <a:xfrm>
              <a:off x="8915401" y="7369021"/>
              <a:ext cx="1828800" cy="32316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  <a:spcBef>
                  <a:spcPct val="0"/>
                </a:spcBef>
              </a:pPr>
              <a:r>
                <a:rPr lang="ar-SA" sz="2400" b="1" noProof="0" dirty="0">
                  <a:solidFill>
                    <a:srgbClr val="331B0D"/>
                  </a:solidFill>
                  <a:latin typeface="Saudi" panose="020B0504010101010102" pitchFamily="34" charset="-78"/>
                  <a:ea typeface="Open Sauce Bold"/>
                  <a:cs typeface="Saudi" panose="020B0504010101010102" pitchFamily="34" charset="-78"/>
                  <a:sym typeface="Open Sauce Bold"/>
                </a:rPr>
                <a:t>بالعربية والإنجليزية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BE3365-2FA1-9B0F-532D-72829CDEC3C7}"/>
                </a:ext>
              </a:extLst>
            </p:cNvPr>
            <p:cNvSpPr/>
            <p:nvPr/>
          </p:nvSpPr>
          <p:spPr>
            <a:xfrm>
              <a:off x="8763001" y="7277100"/>
              <a:ext cx="2133600" cy="457200"/>
            </a:xfrm>
            <a:prstGeom prst="rect">
              <a:avLst/>
            </a:prstGeom>
            <a:noFill/>
            <a:ln>
              <a:solidFill>
                <a:srgbClr val="331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8C7753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9614949-015F-C97F-A013-57DF9468D193}"/>
              </a:ext>
            </a:extLst>
          </p:cNvPr>
          <p:cNvGrpSpPr/>
          <p:nvPr/>
        </p:nvGrpSpPr>
        <p:grpSpPr>
          <a:xfrm>
            <a:off x="15256094" y="7277100"/>
            <a:ext cx="2803306" cy="457200"/>
            <a:chOff x="15256094" y="7277100"/>
            <a:chExt cx="2803306" cy="457200"/>
          </a:xfrm>
        </p:grpSpPr>
        <p:sp>
          <p:nvSpPr>
            <p:cNvPr id="28" name="TextBox 3">
              <a:extLst>
                <a:ext uri="{FF2B5EF4-FFF2-40B4-BE49-F238E27FC236}">
                  <a16:creationId xmlns:a16="http://schemas.microsoft.com/office/drawing/2014/main" id="{67FEBDE8-6416-E2EE-5968-9B43BBC6B4D6}"/>
                </a:ext>
              </a:extLst>
            </p:cNvPr>
            <p:cNvSpPr txBox="1"/>
            <p:nvPr/>
          </p:nvSpPr>
          <p:spPr>
            <a:xfrm>
              <a:off x="15400447" y="7369021"/>
              <a:ext cx="2514600" cy="323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  <a:spcBef>
                  <a:spcPct val="0"/>
                </a:spcBef>
              </a:pPr>
              <a:r>
                <a:rPr lang="ar-SA" sz="2400" b="1" noProof="0" dirty="0">
                  <a:solidFill>
                    <a:srgbClr val="331B0D"/>
                  </a:solidFill>
                  <a:latin typeface="Saudi" panose="020B0504010101010102" pitchFamily="34" charset="-78"/>
                  <a:ea typeface="Open Sauce Bold"/>
                  <a:cs typeface="Saudi" panose="020B0504010101010102" pitchFamily="34" charset="-78"/>
                  <a:sym typeface="Open Sauce Bold"/>
                </a:rPr>
                <a:t>خريطة وخط زمني للسيرة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F6ADDCC-D39D-EF82-9197-F2FEFCF01D24}"/>
                </a:ext>
              </a:extLst>
            </p:cNvPr>
            <p:cNvSpPr/>
            <p:nvPr/>
          </p:nvSpPr>
          <p:spPr>
            <a:xfrm>
              <a:off x="15256094" y="7277100"/>
              <a:ext cx="2803306" cy="457200"/>
            </a:xfrm>
            <a:prstGeom prst="rect">
              <a:avLst/>
            </a:prstGeom>
            <a:noFill/>
            <a:ln>
              <a:solidFill>
                <a:srgbClr val="331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8C7753"/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5E4A9C6-1AC0-3E92-CD51-72F261E96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317" y="1964506"/>
            <a:ext cx="8631317" cy="647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1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C43BC17-A0C0-91A1-6FD6-58BFE982E7ED}"/>
              </a:ext>
            </a:extLst>
          </p:cNvPr>
          <p:cNvSpPr txBox="1"/>
          <p:nvPr/>
        </p:nvSpPr>
        <p:spPr>
          <a:xfrm>
            <a:off x="7315200" y="1638300"/>
            <a:ext cx="106857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المشكلة ومزايا بداية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FD8282-876D-45B4-3B7F-2E9A11C2F8A0}"/>
              </a:ext>
            </a:extLst>
          </p:cNvPr>
          <p:cNvSpPr txBox="1"/>
          <p:nvPr/>
        </p:nvSpPr>
        <p:spPr>
          <a:xfrm>
            <a:off x="8247335" y="5121330"/>
            <a:ext cx="9753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24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لماذا السيرة النبوية</a:t>
            </a:r>
          </a:p>
          <a:p>
            <a:pPr algn="r"/>
            <a:r>
              <a:rPr lang="ar-SA" sz="24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حياة النبي ﷺ من أوضح الطرق لفهم الإسلام، وكثير من آيات القرآن نزلت في مواقف من سيرته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DF310A-F462-2D1C-6830-D7D067B96528}"/>
              </a:ext>
            </a:extLst>
          </p:cNvPr>
          <p:cNvSpPr txBox="1"/>
          <p:nvPr/>
        </p:nvSpPr>
        <p:spPr>
          <a:xfrm>
            <a:off x="7315200" y="2027835"/>
            <a:ext cx="106857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بداية تمنح من يتعرف على الإسلام مدخلًا واضحًا وموثوقًا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7712719-3AA9-44C7-67AB-42B21A1ABD13}"/>
              </a:ext>
            </a:extLst>
          </p:cNvPr>
          <p:cNvSpPr/>
          <p:nvPr/>
        </p:nvSpPr>
        <p:spPr>
          <a:xfrm>
            <a:off x="533399" y="3168322"/>
            <a:ext cx="17467536" cy="1143000"/>
          </a:xfrm>
          <a:custGeom>
            <a:avLst/>
            <a:gdLst>
              <a:gd name="csX0" fmla="*/ 855816 w 17467536"/>
              <a:gd name="csY0" fmla="*/ 0 h 1143000"/>
              <a:gd name="csX1" fmla="*/ 17467536 w 17467536"/>
              <a:gd name="csY1" fmla="*/ 0 h 1143000"/>
              <a:gd name="csX2" fmla="*/ 17467536 w 17467536"/>
              <a:gd name="csY2" fmla="*/ 1143000 h 1143000"/>
              <a:gd name="csX3" fmla="*/ 0 w 17467536"/>
              <a:gd name="csY3" fmla="*/ 1143000 h 1143000"/>
              <a:gd name="csX4" fmla="*/ 0 w 17467536"/>
              <a:gd name="csY4" fmla="*/ 755978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67536" h="1143000">
                <a:moveTo>
                  <a:pt x="855816" y="0"/>
                </a:moveTo>
                <a:lnTo>
                  <a:pt x="17467536" y="0"/>
                </a:lnTo>
                <a:lnTo>
                  <a:pt x="17467536" y="1143000"/>
                </a:lnTo>
                <a:lnTo>
                  <a:pt x="0" y="1143000"/>
                </a:lnTo>
                <a:lnTo>
                  <a:pt x="0" y="755978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7B0CA9-6C6D-7E2C-BE9B-3EF693C0ED11}"/>
              </a:ext>
            </a:extLst>
          </p:cNvPr>
          <p:cNvSpPr/>
          <p:nvPr/>
        </p:nvSpPr>
        <p:spPr>
          <a:xfrm>
            <a:off x="17915047" y="3168322"/>
            <a:ext cx="85888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AC2555-4DF6-2841-17AA-F6B489717E90}"/>
              </a:ext>
            </a:extLst>
          </p:cNvPr>
          <p:cNvSpPr txBox="1"/>
          <p:nvPr/>
        </p:nvSpPr>
        <p:spPr>
          <a:xfrm>
            <a:off x="3573353" y="3491993"/>
            <a:ext cx="141812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3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المشكلة   </a:t>
            </a: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 </a:t>
            </a:r>
            <a:r>
              <a:rPr lang="ar-SA" sz="24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السيرة موزعة بين مصادر كثيرة، فيصعب على المبتدئ ترتيب أحداثها، وفهم سياق آياتها، ومعرفة الموثوق منها</a:t>
            </a:r>
          </a:p>
          <a:p>
            <a:pPr algn="r"/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84BE5F8-D467-0E95-F3E9-A45D243C3FFC}"/>
              </a:ext>
            </a:extLst>
          </p:cNvPr>
          <p:cNvSpPr/>
          <p:nvPr/>
        </p:nvSpPr>
        <p:spPr>
          <a:xfrm>
            <a:off x="7167860" y="4965328"/>
            <a:ext cx="85888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B257F1-51D8-7040-90B2-3B19FFBB23D0}"/>
              </a:ext>
            </a:extLst>
          </p:cNvPr>
          <p:cNvSpPr txBox="1"/>
          <p:nvPr/>
        </p:nvSpPr>
        <p:spPr>
          <a:xfrm>
            <a:off x="533400" y="5356956"/>
            <a:ext cx="64622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331B0D"/>
                </a:solidFill>
              </a:rPr>
              <a:t>﴿</a:t>
            </a:r>
            <a:r>
              <a:rPr lang="ar-SA" sz="3200" b="1" dirty="0">
                <a:solidFill>
                  <a:srgbClr val="331B0D"/>
                </a:solidFill>
                <a:latin typeface="Saudi" panose="020B0604020202020204" charset="-78"/>
                <a:cs typeface="Saudi" panose="020B0604020202020204" charset="-78"/>
              </a:rPr>
              <a:t>لَقَدْ كَانَ لَكُمْ فِي رَسُولِ اللَّهِ أُسْوَةٌ حَسَنَةٌ</a:t>
            </a:r>
            <a:r>
              <a:rPr lang="en-US" sz="3200" dirty="0">
                <a:solidFill>
                  <a:srgbClr val="331B0D"/>
                </a:solidFill>
              </a:rPr>
              <a:t>﴾</a:t>
            </a:r>
            <a:endParaRPr lang="ar-SA" sz="3200" b="1" dirty="0">
              <a:solidFill>
                <a:srgbClr val="331B0D"/>
              </a:solidFill>
              <a:latin typeface="Saudi" panose="020B0604020202020204" charset="-78"/>
              <a:cs typeface="Saudi" panose="020B0604020202020204" charset="-78"/>
            </a:endParaRPr>
          </a:p>
          <a:p>
            <a:endParaRPr lang="en-US" dirty="0">
              <a:solidFill>
                <a:srgbClr val="331B0D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2A8F2-2CC4-6257-DC81-8618416A8F55}"/>
              </a:ext>
            </a:extLst>
          </p:cNvPr>
          <p:cNvSpPr txBox="1"/>
          <p:nvPr/>
        </p:nvSpPr>
        <p:spPr>
          <a:xfrm>
            <a:off x="2466597" y="4763029"/>
            <a:ext cx="2595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B49641"/>
                </a:solidFill>
              </a:rPr>
              <a:t>﴿</a:t>
            </a:r>
            <a:r>
              <a:rPr lang="en-US" sz="2800" dirty="0">
                <a:solidFill>
                  <a:srgbClr val="B49641"/>
                </a:solidFill>
                <a:latin typeface="Saudi" panose="020B0604020202020204" charset="-78"/>
                <a:cs typeface="Saudi" panose="020B0604020202020204" charset="-78"/>
              </a:rPr>
              <a:t>﷽</a:t>
            </a:r>
            <a:r>
              <a:rPr lang="en-US" sz="2800" dirty="0">
                <a:solidFill>
                  <a:srgbClr val="B49641"/>
                </a:solidFill>
              </a:rPr>
              <a:t>﴾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F8D542-57A6-FD4D-059E-E3DA8305083C}"/>
              </a:ext>
            </a:extLst>
          </p:cNvPr>
          <p:cNvSpPr txBox="1"/>
          <p:nvPr/>
        </p:nvSpPr>
        <p:spPr>
          <a:xfrm>
            <a:off x="2644627" y="5950883"/>
            <a:ext cx="2313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1B0D"/>
                </a:solidFill>
              </a:rPr>
              <a:t>﴿ </a:t>
            </a:r>
            <a:r>
              <a:rPr lang="en-US" b="1" dirty="0" err="1">
                <a:solidFill>
                  <a:srgbClr val="331B0D"/>
                </a:solidFill>
              </a:rPr>
              <a:t>سُورَةُ</a:t>
            </a:r>
            <a:r>
              <a:rPr lang="en-US" b="1" dirty="0">
                <a:solidFill>
                  <a:srgbClr val="331B0D"/>
                </a:solidFill>
              </a:rPr>
              <a:t> </a:t>
            </a:r>
            <a:r>
              <a:rPr lang="en-US" b="1" dirty="0" err="1">
                <a:solidFill>
                  <a:srgbClr val="331B0D"/>
                </a:solidFill>
              </a:rPr>
              <a:t>الأَحْزَابِ</a:t>
            </a:r>
            <a:r>
              <a:rPr lang="en-US" b="1" dirty="0">
                <a:solidFill>
                  <a:srgbClr val="331B0D"/>
                </a:solidFill>
              </a:rPr>
              <a:t>، </a:t>
            </a:r>
            <a:r>
              <a:rPr lang="en-US" b="1" dirty="0" err="1">
                <a:solidFill>
                  <a:srgbClr val="331B0D"/>
                </a:solidFill>
              </a:rPr>
              <a:t>الآيَةُ</a:t>
            </a:r>
            <a:r>
              <a:rPr lang="en-US" b="1" dirty="0">
                <a:solidFill>
                  <a:srgbClr val="331B0D"/>
                </a:solidFill>
              </a:rPr>
              <a:t> ٢١ ﴾</a:t>
            </a:r>
          </a:p>
        </p:txBody>
      </p:sp>
      <p:sp>
        <p:nvSpPr>
          <p:cNvPr id="301" name="Shape 301"/>
          <p:cNvSpPr/>
          <p:nvPr/>
        </p:nvSpPr>
        <p:spPr>
          <a:xfrm>
            <a:off x="12605918" y="6812280"/>
            <a:ext cx="5394960" cy="210312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TextBox 302"/>
          <p:cNvSpPr txBox="1"/>
          <p:nvPr/>
        </p:nvSpPr>
        <p:spPr>
          <a:xfrm>
            <a:off x="12834518" y="7040880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قصة مرتبة في الزمان والمكان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تجمع الأسماء والأماكن والأحداث، وترتبها في قصة واحدة متسلسلة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b="1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ما يستفيده المتعلم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604020202020204" charset="-78"/>
                <a:cs typeface="Saudi" panose="020B0604020202020204" charset="-78"/>
              </a:rPr>
              <a:t>يفهم تسلسل السيرة دون تشتت</a:t>
            </a:r>
          </a:p>
        </p:txBody>
      </p:sp>
      <p:sp>
        <p:nvSpPr>
          <p:cNvPr id="303" name="Shape 303"/>
          <p:cNvSpPr/>
          <p:nvPr/>
        </p:nvSpPr>
        <p:spPr>
          <a:xfrm>
            <a:off x="6570878" y="6812280"/>
            <a:ext cx="5394960" cy="210312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TextBox 304"/>
          <p:cNvSpPr txBox="1"/>
          <p:nvPr/>
        </p:nvSpPr>
        <p:spPr>
          <a:xfrm>
            <a:off x="6799478" y="7040880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السور في مراحلها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تربط السور بمراحلها كما تذكر المصادر، وتعرض ما جرى وقتها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b="1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ما يستفيده المتعلم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604020202020204" charset="-78"/>
                <a:cs typeface="Saudi" panose="020B0604020202020204" charset="-78"/>
              </a:rPr>
              <a:t>يقرأ الآيات وهو يعرف سياق نزولها</a:t>
            </a:r>
          </a:p>
        </p:txBody>
      </p:sp>
      <p:sp>
        <p:nvSpPr>
          <p:cNvPr id="305" name="Shape 305"/>
          <p:cNvSpPr/>
          <p:nvPr/>
        </p:nvSpPr>
        <p:spPr>
          <a:xfrm>
            <a:off x="535838" y="6812280"/>
            <a:ext cx="5394960" cy="210312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TextBox 306"/>
          <p:cNvSpPr txBox="1"/>
          <p:nvPr/>
        </p:nvSpPr>
        <p:spPr>
          <a:xfrm>
            <a:off x="764438" y="7040880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مصدر واضح لكل معلومة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تجمع المعلومات من المصادر المعتمدة، وتذكر مصدر كل معلومة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b="1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ما يستفيده المتعلم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604020202020204" charset="-78"/>
                <a:cs typeface="Saudi" panose="020B0604020202020204" charset="-78"/>
              </a:rPr>
              <a:t>يثق بما يتعلمه ويرجع إلى المصدر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المستفيد وحالة الاستخدام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لمن نبني بداية، وكيف يستخدمها</a:t>
            </a:r>
          </a:p>
        </p:txBody>
      </p:sp>
      <p:sp>
        <p:nvSpPr>
          <p:cNvPr id="203" name="Shape 203"/>
          <p:cNvSpPr/>
          <p:nvPr/>
        </p:nvSpPr>
        <p:spPr>
          <a:xfrm>
            <a:off x="9588398" y="3063240"/>
            <a:ext cx="8412480" cy="17830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4"/>
          <p:cNvSpPr txBox="1"/>
          <p:nvPr/>
        </p:nvSpPr>
        <p:spPr>
          <a:xfrm>
            <a:off x="9816998" y="3291840"/>
            <a:ext cx="7955280" cy="1325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الفئة الأولى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المهتمون بالتعرف على الإسلام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من غير المسلمين، يريدون فهم الإسلام من خلال حياة النبي ﷺ بلغة واضحة ومحترمة</a:t>
            </a:r>
          </a:p>
        </p:txBody>
      </p:sp>
      <p:sp>
        <p:nvSpPr>
          <p:cNvPr id="205" name="Shape 205"/>
          <p:cNvSpPr/>
          <p:nvPr/>
        </p:nvSpPr>
        <p:spPr>
          <a:xfrm>
            <a:off x="533095" y="3063240"/>
            <a:ext cx="8412480" cy="17830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6"/>
          <p:cNvSpPr txBox="1"/>
          <p:nvPr/>
        </p:nvSpPr>
        <p:spPr>
          <a:xfrm>
            <a:off x="761695" y="3291840"/>
            <a:ext cx="7955280" cy="1325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الفئة الثانية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المسلمون الجدد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يريدون تعلّم السيرة خطوة بخطوة، وفهم القرآن الذي يقرؤونه في سياق نزوله</a:t>
            </a:r>
          </a:p>
        </p:txBody>
      </p:sp>
      <p:sp>
        <p:nvSpPr>
          <p:cNvPr id="207" name="Band 207"/>
          <p:cNvSpPr/>
          <p:nvPr/>
        </p:nvSpPr>
        <p:spPr>
          <a:xfrm>
            <a:off x="533095" y="5212080"/>
            <a:ext cx="17467783" cy="1371600"/>
          </a:xfrm>
          <a:custGeom>
            <a:avLst/>
            <a:gdLst/>
            <a:ahLst/>
            <a:cxnLst/>
            <a:rect l="l" t="t" r="r" b="b"/>
            <a:pathLst>
              <a:path w="17467783" h="1371600">
                <a:moveTo>
                  <a:pt x="855816" y="0"/>
                </a:moveTo>
                <a:lnTo>
                  <a:pt x="17467783" y="0"/>
                </a:lnTo>
                <a:lnTo>
                  <a:pt x="17467783" y="1371600"/>
                </a:lnTo>
                <a:lnTo>
                  <a:pt x="0" y="1371600"/>
                </a:lnTo>
                <a:lnTo>
                  <a:pt x="0" y="907173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8" name="Shape 208"/>
          <p:cNvSpPr/>
          <p:nvPr/>
        </p:nvSpPr>
        <p:spPr>
          <a:xfrm>
            <a:off x="17914925" y="5212080"/>
            <a:ext cx="85954" cy="13716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9"/>
          <p:cNvSpPr txBox="1"/>
          <p:nvPr/>
        </p:nvSpPr>
        <p:spPr>
          <a:xfrm>
            <a:off x="1356055" y="5212080"/>
            <a:ext cx="16324783" cy="137160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3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مثال على الاستخدام   </a:t>
            </a:r>
            <a:r>
              <a:rPr lang="ar-SA" sz="24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يختار المستخدم مرحلة الهجرة، فيرى طريقها على الخريطة وبطاقة الحدث والسور التي نزلت وقتها، ثم يسأل: لماذا هاجر النبي ﷺ؟ فيجيبه المساعد مع ذكر المصدر</a:t>
            </a:r>
          </a:p>
        </p:txBody>
      </p:sp>
      <p:sp>
        <p:nvSpPr>
          <p:cNvPr id="210" name="Shape 210"/>
          <p:cNvSpPr/>
          <p:nvPr/>
        </p:nvSpPr>
        <p:spPr>
          <a:xfrm>
            <a:off x="17914925" y="6995160"/>
            <a:ext cx="85954" cy="16002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1"/>
          <p:cNvSpPr txBox="1"/>
          <p:nvPr/>
        </p:nvSpPr>
        <p:spPr>
          <a:xfrm>
            <a:off x="533095" y="6995160"/>
            <a:ext cx="17147743" cy="1600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400" b="1" noProof="0" dirty="0">
                <a:solidFill>
                  <a:srgbClr val="B49641"/>
                </a:solidFill>
                <a:latin typeface="Saudi Bold" panose="020B0604020202020204" charset="-78"/>
                <a:cs typeface="Saudi Bold" panose="020B0604020202020204" charset="-78"/>
              </a:rPr>
              <a:t>كيف نقيس النجاح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يعالج مشروعنا صعوبة فهم السيرة لمن يتعرف على الإسلام، ويُقاس نجاحه بتحسّن فهم المستخدمين في اختبار قبل الاستخدام وبعده، وبصحة الإجابات ووجود مصدر لكل منها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533095" y="8732520"/>
            <a:ext cx="17147743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000" noProof="0" dirty="0">
                <a:solidFill>
                  <a:srgbClr val="B49641"/>
                </a:solidFill>
                <a:latin typeface="Saudi Bold" panose="020B0604020202020204" charset="-78"/>
                <a:cs typeface="Saudi Bold" panose="020B0604020202020204" charset="-78"/>
              </a:rPr>
              <a:t>يختار المستخدم مستواه بنفسه، ولا تحاول الخريطة معرفة ديانته أو أي معلومة شخصية حساسة عنه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الحل المقترح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خريطة تفاعلية تروي السيرة في الزمان والمكان</a:t>
            </a:r>
          </a:p>
        </p:txBody>
      </p:sp>
      <p:sp>
        <p:nvSpPr>
          <p:cNvPr id="203" name="Shape 203"/>
          <p:cNvSpPr/>
          <p:nvPr/>
        </p:nvSpPr>
        <p:spPr>
          <a:xfrm>
            <a:off x="17433950" y="2944368"/>
            <a:ext cx="548640" cy="548640"/>
          </a:xfrm>
          <a:prstGeom prst="ellipse">
            <a:avLst/>
          </a:prstGeom>
          <a:noFill/>
          <a:ln>
            <a:solidFill>
              <a:srgbClr val="B496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4"/>
          <p:cNvSpPr txBox="1"/>
          <p:nvPr/>
        </p:nvSpPr>
        <p:spPr>
          <a:xfrm>
            <a:off x="17433950" y="2944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ctr" rtl="1">
              <a:spcBef>
                <a:spcPct val="0"/>
              </a:spcBef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١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7223760" y="2907792"/>
            <a:ext cx="9999878" cy="8686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شريط زمني للسيرة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ينتقل المستخدم بين مراحل السيرة، من العهد المكي إلى العهد المدني</a:t>
            </a:r>
          </a:p>
        </p:txBody>
      </p:sp>
      <p:sp>
        <p:nvSpPr>
          <p:cNvPr id="206" name="Shape 206"/>
          <p:cNvSpPr/>
          <p:nvPr/>
        </p:nvSpPr>
        <p:spPr>
          <a:xfrm>
            <a:off x="17433950" y="3877056"/>
            <a:ext cx="548640" cy="548640"/>
          </a:xfrm>
          <a:prstGeom prst="ellipse">
            <a:avLst/>
          </a:prstGeom>
          <a:noFill/>
          <a:ln>
            <a:solidFill>
              <a:srgbClr val="B496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7"/>
          <p:cNvSpPr txBox="1"/>
          <p:nvPr/>
        </p:nvSpPr>
        <p:spPr>
          <a:xfrm>
            <a:off x="17433950" y="387705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ctr" rtl="1">
              <a:spcBef>
                <a:spcPct val="0"/>
              </a:spcBef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٢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7223760" y="3840480"/>
            <a:ext cx="9999878" cy="8686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الأحداث في أماكنها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تظهر أحداث كل مرحلة على الخريطة، مع مسارات مثل طريق الهجرة</a:t>
            </a:r>
          </a:p>
        </p:txBody>
      </p:sp>
      <p:sp>
        <p:nvSpPr>
          <p:cNvPr id="209" name="Shape 209"/>
          <p:cNvSpPr/>
          <p:nvPr/>
        </p:nvSpPr>
        <p:spPr>
          <a:xfrm>
            <a:off x="17433950" y="4809744"/>
            <a:ext cx="548640" cy="548640"/>
          </a:xfrm>
          <a:prstGeom prst="ellipse">
            <a:avLst/>
          </a:prstGeom>
          <a:noFill/>
          <a:ln>
            <a:solidFill>
              <a:srgbClr val="B496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10"/>
          <p:cNvSpPr txBox="1"/>
          <p:nvPr/>
        </p:nvSpPr>
        <p:spPr>
          <a:xfrm>
            <a:off x="17433950" y="48097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ctr" rtl="1">
              <a:spcBef>
                <a:spcPct val="0"/>
              </a:spcBef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٣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7223760" y="4773168"/>
            <a:ext cx="9999878" cy="8686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بطاقة لكل حدث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ماذا حدث، ومتى وأين، ومن شارك فيه، والسور التي نزلت وقتها بحسب المصادر</a:t>
            </a:r>
          </a:p>
        </p:txBody>
      </p:sp>
      <p:sp>
        <p:nvSpPr>
          <p:cNvPr id="212" name="Shape 212"/>
          <p:cNvSpPr/>
          <p:nvPr/>
        </p:nvSpPr>
        <p:spPr>
          <a:xfrm>
            <a:off x="17433950" y="5742432"/>
            <a:ext cx="548640" cy="548640"/>
          </a:xfrm>
          <a:prstGeom prst="ellipse">
            <a:avLst/>
          </a:prstGeom>
          <a:noFill/>
          <a:ln>
            <a:solidFill>
              <a:srgbClr val="B496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TextBox 213"/>
          <p:cNvSpPr txBox="1"/>
          <p:nvPr/>
        </p:nvSpPr>
        <p:spPr>
          <a:xfrm>
            <a:off x="17433950" y="5742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ctr" rtl="1">
              <a:spcBef>
                <a:spcPct val="0"/>
              </a:spcBef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٤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7223760" y="5705856"/>
            <a:ext cx="9999878" cy="8686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القصة خطوة بخطوة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تروي الخريطة السيرة بالترتيب، من بداية الوحي إلى وفاة النبي ﷺ</a:t>
            </a:r>
          </a:p>
        </p:txBody>
      </p:sp>
      <p:sp>
        <p:nvSpPr>
          <p:cNvPr id="215" name="Shape 215"/>
          <p:cNvSpPr/>
          <p:nvPr/>
        </p:nvSpPr>
        <p:spPr>
          <a:xfrm>
            <a:off x="17433950" y="6675120"/>
            <a:ext cx="548640" cy="548640"/>
          </a:xfrm>
          <a:prstGeom prst="ellipse">
            <a:avLst/>
          </a:prstGeom>
          <a:noFill/>
          <a:ln>
            <a:solidFill>
              <a:srgbClr val="B496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6"/>
          <p:cNvSpPr txBox="1"/>
          <p:nvPr/>
        </p:nvSpPr>
        <p:spPr>
          <a:xfrm>
            <a:off x="17433950" y="6675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ctr" rtl="1">
              <a:spcBef>
                <a:spcPct val="0"/>
              </a:spcBef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٥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7223760" y="6638544"/>
            <a:ext cx="9999878" cy="8686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اسأل الخريطة</a:t>
            </a: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   بالذكاء الاصطناعي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مساعد ذكي يجيب من المصادر، ويُظهر الجواب على الخريطة </a:t>
            </a:r>
          </a:p>
        </p:txBody>
      </p:sp>
      <p:sp>
        <p:nvSpPr>
          <p:cNvPr id="401" name="Band 401"/>
          <p:cNvSpPr/>
          <p:nvPr/>
        </p:nvSpPr>
        <p:spPr>
          <a:xfrm>
            <a:off x="533095" y="7818120"/>
            <a:ext cx="17467783" cy="1143000"/>
          </a:xfrm>
          <a:custGeom>
            <a:avLst/>
            <a:gdLst/>
            <a:ahLst/>
            <a:cxnLst/>
            <a:rect l="l" t="t" r="r" b="b"/>
            <a:pathLst>
              <a:path w="17467783" h="1143000">
                <a:moveTo>
                  <a:pt x="855816" y="0"/>
                </a:moveTo>
                <a:lnTo>
                  <a:pt x="17467783" y="0"/>
                </a:lnTo>
                <a:lnTo>
                  <a:pt x="17467783" y="1143000"/>
                </a:lnTo>
                <a:lnTo>
                  <a:pt x="0" y="1143000"/>
                </a:lnTo>
                <a:lnTo>
                  <a:pt x="0" y="755978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2" name="Shape 402"/>
          <p:cNvSpPr/>
          <p:nvPr/>
        </p:nvSpPr>
        <p:spPr>
          <a:xfrm>
            <a:off x="17914925" y="7818120"/>
            <a:ext cx="85954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TextBox 403"/>
          <p:cNvSpPr txBox="1"/>
          <p:nvPr/>
        </p:nvSpPr>
        <p:spPr>
          <a:xfrm>
            <a:off x="1356055" y="7818120"/>
            <a:ext cx="16324783" cy="114300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3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النطاق   </a:t>
            </a:r>
            <a:r>
              <a:rPr lang="ar-SA" sz="24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السيرة النبوية من بداية الوحي إلى وفاة النبي ﷺ، بالعربية والإنجليزية، مع إمكانية إضافة لغات أخرى لاحقًا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EE67D-9A92-07A0-FE6C-21738CE02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44" y="1814533"/>
            <a:ext cx="76962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ملاءمة توظيف الذكاء الاصطناعي والقيمة التي يضيفها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واحد: من المستخدم إلى الخريطة</a:t>
            </a:r>
          </a:p>
        </p:txBody>
      </p:sp>
      <p:sp>
        <p:nvSpPr>
          <p:cNvPr id="203" name="Shape 203"/>
          <p:cNvSpPr/>
          <p:nvPr/>
        </p:nvSpPr>
        <p:spPr>
          <a:xfrm>
            <a:off x="14946234" y="3017520"/>
            <a:ext cx="3054645" cy="182880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4"/>
          <p:cNvSpPr txBox="1"/>
          <p:nvPr/>
        </p:nvSpPr>
        <p:spPr>
          <a:xfrm>
            <a:off x="15129114" y="3200400"/>
            <a:ext cx="2688885" cy="14630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المستخدم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يسأل بالعربية أو الإنجليزية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لماذا هاجر النبي ﷺ إلى المدينة؟</a:t>
            </a:r>
          </a:p>
        </p:txBody>
      </p:sp>
      <p:sp>
        <p:nvSpPr>
          <p:cNvPr id="205" name="Shape 205"/>
          <p:cNvSpPr/>
          <p:nvPr/>
        </p:nvSpPr>
        <p:spPr>
          <a:xfrm>
            <a:off x="14489034" y="3785616"/>
            <a:ext cx="365760" cy="292608"/>
          </a:xfrm>
          <a:prstGeom prst="leftArrow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Shape 206"/>
          <p:cNvSpPr/>
          <p:nvPr/>
        </p:nvSpPr>
        <p:spPr>
          <a:xfrm>
            <a:off x="11342949" y="3017520"/>
            <a:ext cx="3054645" cy="1828800"/>
          </a:xfrm>
          <a:prstGeom prst="rect">
            <a:avLst/>
          </a:pr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7"/>
          <p:cNvSpPr txBox="1"/>
          <p:nvPr/>
        </p:nvSpPr>
        <p:spPr>
          <a:xfrm>
            <a:off x="11525829" y="3200400"/>
            <a:ext cx="2688885" cy="14630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ذكاء اصطناعي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يفهم السؤال ويحدد الحدث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الحدث المرتبط: الهجرة النبوية</a:t>
            </a:r>
          </a:p>
        </p:txBody>
      </p:sp>
      <p:sp>
        <p:nvSpPr>
          <p:cNvPr id="208" name="Shape 208"/>
          <p:cNvSpPr/>
          <p:nvPr/>
        </p:nvSpPr>
        <p:spPr>
          <a:xfrm>
            <a:off x="10885749" y="3785616"/>
            <a:ext cx="365760" cy="292608"/>
          </a:xfrm>
          <a:prstGeom prst="leftArrow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Shape 209"/>
          <p:cNvSpPr/>
          <p:nvPr/>
        </p:nvSpPr>
        <p:spPr>
          <a:xfrm>
            <a:off x="7739664" y="3017520"/>
            <a:ext cx="3054645" cy="1828800"/>
          </a:xfrm>
          <a:prstGeom prst="rect">
            <a:avLst/>
          </a:pr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10"/>
          <p:cNvSpPr txBox="1"/>
          <p:nvPr/>
        </p:nvSpPr>
        <p:spPr>
          <a:xfrm>
            <a:off x="7922544" y="3200400"/>
            <a:ext cx="2688885" cy="14630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ذكاء اصطناعي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يبحث في المصادر المعتمدة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نصوص عن الهجرة من الدرر السنية</a:t>
            </a:r>
          </a:p>
        </p:txBody>
      </p:sp>
      <p:sp>
        <p:nvSpPr>
          <p:cNvPr id="211" name="Shape 211"/>
          <p:cNvSpPr/>
          <p:nvPr/>
        </p:nvSpPr>
        <p:spPr>
          <a:xfrm>
            <a:off x="7282464" y="3785616"/>
            <a:ext cx="365760" cy="292608"/>
          </a:xfrm>
          <a:prstGeom prst="leftArrow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Shape 212"/>
          <p:cNvSpPr/>
          <p:nvPr/>
        </p:nvSpPr>
        <p:spPr>
          <a:xfrm>
            <a:off x="4136380" y="3017520"/>
            <a:ext cx="3054645" cy="1828800"/>
          </a:xfrm>
          <a:prstGeom prst="rect">
            <a:avLst/>
          </a:pr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TextBox 213"/>
          <p:cNvSpPr txBox="1"/>
          <p:nvPr/>
        </p:nvSpPr>
        <p:spPr>
          <a:xfrm>
            <a:off x="4319260" y="3200400"/>
            <a:ext cx="2688885" cy="14630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ذكاء اصطناعي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يكتب إجابة مختصرة بمصدرها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الإجابة ومعها اسم المصدر</a:t>
            </a:r>
          </a:p>
        </p:txBody>
      </p:sp>
      <p:sp>
        <p:nvSpPr>
          <p:cNvPr id="214" name="Shape 214"/>
          <p:cNvSpPr/>
          <p:nvPr/>
        </p:nvSpPr>
        <p:spPr>
          <a:xfrm>
            <a:off x="3679180" y="3785616"/>
            <a:ext cx="365760" cy="292608"/>
          </a:xfrm>
          <a:prstGeom prst="leftArrow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Shape 215"/>
          <p:cNvSpPr/>
          <p:nvPr/>
        </p:nvSpPr>
        <p:spPr>
          <a:xfrm>
            <a:off x="533095" y="3017520"/>
            <a:ext cx="3054645" cy="182880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6"/>
          <p:cNvSpPr txBox="1"/>
          <p:nvPr/>
        </p:nvSpPr>
        <p:spPr>
          <a:xfrm>
            <a:off x="715975" y="3200400"/>
            <a:ext cx="2688885" cy="14630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المستخدم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يرى الجواب على الخريطة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يظهر طريق الهجرة من مكة إلى المدينة</a:t>
            </a:r>
          </a:p>
        </p:txBody>
      </p:sp>
      <p:sp>
        <p:nvSpPr>
          <p:cNvPr id="217" name="Shape 217"/>
          <p:cNvSpPr/>
          <p:nvPr/>
        </p:nvSpPr>
        <p:spPr>
          <a:xfrm>
            <a:off x="12605918" y="5257800"/>
            <a:ext cx="5394960" cy="20116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TextBox 218"/>
          <p:cNvSpPr txBox="1"/>
          <p:nvPr/>
        </p:nvSpPr>
        <p:spPr>
          <a:xfrm>
            <a:off x="12834518" y="548640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القيمة التي يضيفها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الجواب وموضعه في خطوة واحدة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يسأل المتعلم بلغته، فيصل إلى الجواب ومكانه على الخريطة مباشرة، بدل البحث بين الأحداث والكتب</a:t>
            </a:r>
          </a:p>
        </p:txBody>
      </p:sp>
      <p:sp>
        <p:nvSpPr>
          <p:cNvPr id="219" name="Shape 219"/>
          <p:cNvSpPr/>
          <p:nvPr/>
        </p:nvSpPr>
        <p:spPr>
          <a:xfrm>
            <a:off x="6570878" y="5257800"/>
            <a:ext cx="5394960" cy="20116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20"/>
          <p:cNvSpPr txBox="1"/>
          <p:nvPr/>
        </p:nvSpPr>
        <p:spPr>
          <a:xfrm>
            <a:off x="6799478" y="548640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ذكاء اصطناعي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تبسيط الشرح وترجمته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يشرح الحدث بلغة بسيطة تناسب المبتدئ، ويترجمه إلى الإنجليزية بقائمة مصطلحات معتمدة، ثم يراجعه الفريق</a:t>
            </a:r>
          </a:p>
        </p:txBody>
      </p:sp>
      <p:sp>
        <p:nvSpPr>
          <p:cNvPr id="221" name="Shape 221"/>
          <p:cNvSpPr/>
          <p:nvPr/>
        </p:nvSpPr>
        <p:spPr>
          <a:xfrm>
            <a:off x="535838" y="5257800"/>
            <a:ext cx="5394960" cy="20116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TextBox 222"/>
          <p:cNvSpPr txBox="1"/>
          <p:nvPr/>
        </p:nvSpPr>
        <p:spPr>
          <a:xfrm>
            <a:off x="764438" y="548640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حدود المساعد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عند التعذر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إن لم يفهم السؤال طلب توضيحه، وإن لم يجد مصدرًا اعتذر ووجّه السائل إلى جهة إفتاء رسمية أو أقرب مركز إسلامي</a:t>
            </a:r>
          </a:p>
        </p:txBody>
      </p:sp>
      <p:sp>
        <p:nvSpPr>
          <p:cNvPr id="223" name="Band 223"/>
          <p:cNvSpPr/>
          <p:nvPr/>
        </p:nvSpPr>
        <p:spPr>
          <a:xfrm>
            <a:off x="533095" y="7680960"/>
            <a:ext cx="17467783" cy="1051560"/>
          </a:xfrm>
          <a:custGeom>
            <a:avLst/>
            <a:gdLst/>
            <a:ahLst/>
            <a:cxnLst/>
            <a:rect l="l" t="t" r="r" b="b"/>
            <a:pathLst>
              <a:path w="17467783" h="1051560">
                <a:moveTo>
                  <a:pt x="787350" y="0"/>
                </a:moveTo>
                <a:lnTo>
                  <a:pt x="17467783" y="0"/>
                </a:lnTo>
                <a:lnTo>
                  <a:pt x="17467783" y="1051560"/>
                </a:lnTo>
                <a:lnTo>
                  <a:pt x="0" y="1051560"/>
                </a:lnTo>
                <a:lnTo>
                  <a:pt x="0" y="695499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4" name="Shape 224"/>
          <p:cNvSpPr/>
          <p:nvPr/>
        </p:nvSpPr>
        <p:spPr>
          <a:xfrm>
            <a:off x="17914925" y="7680960"/>
            <a:ext cx="85954" cy="105156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TextBox 225"/>
          <p:cNvSpPr txBox="1"/>
          <p:nvPr/>
        </p:nvSpPr>
        <p:spPr>
          <a:xfrm>
            <a:off x="1356055" y="7680960"/>
            <a:ext cx="16324783" cy="10515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3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قاعدة أساسية   </a:t>
            </a:r>
            <a:r>
              <a:rPr lang="ar-SA" sz="22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الذكاء الاصطناعي لا يؤلف أي معلومة، بل يجيب من نصوص المصادر فقط، ونقيس فائدته بمقارنة إجاباته مع المصادر وبدونها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خطة الموثوقية والسلامة العلمية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كل معلومة لها مصدر معتمد نذكره بوضوح</a:t>
            </a:r>
          </a:p>
        </p:txBody>
      </p:sp>
      <p:sp>
        <p:nvSpPr>
          <p:cNvPr id="203" name="Shape 203"/>
          <p:cNvSpPr/>
          <p:nvPr/>
        </p:nvSpPr>
        <p:spPr>
          <a:xfrm>
            <a:off x="12605918" y="3063240"/>
            <a:ext cx="5394960" cy="15544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4"/>
          <p:cNvSpPr txBox="1"/>
          <p:nvPr/>
        </p:nvSpPr>
        <p:spPr>
          <a:xfrm>
            <a:off x="12834518" y="32918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مصادر معتمدة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صحيح البخاري، والدرر السنية، والرحيق المختوم مرجعًا مساعدًا</a:t>
            </a:r>
          </a:p>
        </p:txBody>
      </p:sp>
      <p:sp>
        <p:nvSpPr>
          <p:cNvPr id="205" name="Shape 205"/>
          <p:cNvSpPr/>
          <p:nvPr/>
        </p:nvSpPr>
        <p:spPr>
          <a:xfrm>
            <a:off x="6570878" y="3063240"/>
            <a:ext cx="5394960" cy="15544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6"/>
          <p:cNvSpPr txBox="1"/>
          <p:nvPr/>
        </p:nvSpPr>
        <p:spPr>
          <a:xfrm>
            <a:off x="6799478" y="32918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القرآن الكريم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النص من مصحف مجمع الملك فهد، والمعاني من ترجماته، ولا نترجم الآيات آليًا</a:t>
            </a:r>
          </a:p>
        </p:txBody>
      </p:sp>
      <p:sp>
        <p:nvSpPr>
          <p:cNvPr id="207" name="Shape 207"/>
          <p:cNvSpPr/>
          <p:nvPr/>
        </p:nvSpPr>
        <p:spPr>
          <a:xfrm>
            <a:off x="535838" y="3063240"/>
            <a:ext cx="5394960" cy="15544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TextBox 208"/>
          <p:cNvSpPr txBox="1"/>
          <p:nvPr/>
        </p:nvSpPr>
        <p:spPr>
          <a:xfrm>
            <a:off x="764438" y="32918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نعرض الثابت فقط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لا نضيف إلا ما ثبت مع درجته، بعد مراجعة مسؤول المحتوى في الفريق</a:t>
            </a:r>
          </a:p>
        </p:txBody>
      </p:sp>
      <p:sp>
        <p:nvSpPr>
          <p:cNvPr id="209" name="Shape 209"/>
          <p:cNvSpPr/>
          <p:nvPr/>
        </p:nvSpPr>
        <p:spPr>
          <a:xfrm>
            <a:off x="12605918" y="4892040"/>
            <a:ext cx="5394960" cy="15544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10"/>
          <p:cNvSpPr txBox="1"/>
          <p:nvPr/>
        </p:nvSpPr>
        <p:spPr>
          <a:xfrm>
            <a:off x="12834518" y="51206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لغة تناسب المبتدئ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نشرح بلغة بسيطة ومحترمة تناسب من يتعرف على الإسلام لأول مرة</a:t>
            </a:r>
          </a:p>
        </p:txBody>
      </p:sp>
      <p:sp>
        <p:nvSpPr>
          <p:cNvPr id="211" name="Shape 211"/>
          <p:cNvSpPr/>
          <p:nvPr/>
        </p:nvSpPr>
        <p:spPr>
          <a:xfrm>
            <a:off x="6570878" y="4892040"/>
            <a:ext cx="5394960" cy="15544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2"/>
          <p:cNvSpPr txBox="1"/>
          <p:nvPr/>
        </p:nvSpPr>
        <p:spPr>
          <a:xfrm>
            <a:off x="6799478" y="51206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حدود الإجابة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لا نقدّم فتوى، بل نوجّه السائل إلى الرئاسة العامة للبحوث العلمية والإفتاء</a:t>
            </a:r>
          </a:p>
        </p:txBody>
      </p:sp>
      <p:sp>
        <p:nvSpPr>
          <p:cNvPr id="213" name="Shape 213"/>
          <p:cNvSpPr/>
          <p:nvPr/>
        </p:nvSpPr>
        <p:spPr>
          <a:xfrm>
            <a:off x="535838" y="4892040"/>
            <a:ext cx="5394960" cy="15544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TextBox 214"/>
          <p:cNvSpPr txBox="1"/>
          <p:nvPr/>
        </p:nvSpPr>
        <p:spPr>
          <a:xfrm>
            <a:off x="764438" y="512064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الأدب مع النبي ﷺ وصحابته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نصلي على النبي ﷺ عند ذكره، ونترضى عن الصحابة، ولا نصوّرهم بأي شكل</a:t>
            </a:r>
          </a:p>
        </p:txBody>
      </p:sp>
      <p:sp>
        <p:nvSpPr>
          <p:cNvPr id="401" name="Shape 401"/>
          <p:cNvSpPr/>
          <p:nvPr/>
        </p:nvSpPr>
        <p:spPr>
          <a:xfrm>
            <a:off x="533095" y="6629400"/>
            <a:ext cx="17467783" cy="2194560"/>
          </a:xfrm>
          <a:custGeom>
            <a:avLst/>
            <a:gdLst/>
            <a:ahLst/>
            <a:cxnLst/>
            <a:rect l="l" t="t" r="r" b="b"/>
            <a:pathLst>
              <a:path w="17467783" h="2194560">
                <a:moveTo>
                  <a:pt x="855816" y="0"/>
                </a:moveTo>
                <a:lnTo>
                  <a:pt x="17467783" y="0"/>
                </a:lnTo>
                <a:lnTo>
                  <a:pt x="17467783" y="2194560"/>
                </a:lnTo>
                <a:lnTo>
                  <a:pt x="0" y="2194560"/>
                </a:lnTo>
                <a:lnTo>
                  <a:pt x="0" y="1451477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2" name="Shape 402"/>
          <p:cNvSpPr/>
          <p:nvPr/>
        </p:nvSpPr>
        <p:spPr>
          <a:xfrm>
            <a:off x="17914925" y="6629400"/>
            <a:ext cx="85954" cy="219456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Shape 403"/>
          <p:cNvSpPr txBox="1"/>
          <p:nvPr/>
        </p:nvSpPr>
        <p:spPr>
          <a:xfrm>
            <a:off x="1356055" y="6812280"/>
            <a:ext cx="16324783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8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مستويات المحتوى</a:t>
            </a:r>
          </a:p>
        </p:txBody>
      </p:sp>
      <p:sp>
        <p:nvSpPr>
          <p:cNvPr id="404" name="Shape 404"/>
          <p:cNvSpPr txBox="1"/>
          <p:nvPr/>
        </p:nvSpPr>
        <p:spPr>
          <a:xfrm>
            <a:off x="13934108" y="7406640"/>
            <a:ext cx="374673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(أ) معلومات ثابتة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إجابة مباشرة مع ذكر المصدر</a:t>
            </a:r>
          </a:p>
        </p:txBody>
      </p:sp>
      <p:sp>
        <p:nvSpPr>
          <p:cNvPr id="405" name="Shape 405"/>
          <p:cNvSpPr/>
          <p:nvPr/>
        </p:nvSpPr>
        <p:spPr>
          <a:xfrm>
            <a:off x="13668154" y="7406640"/>
            <a:ext cx="85954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Shape 406"/>
          <p:cNvSpPr txBox="1"/>
          <p:nvPr/>
        </p:nvSpPr>
        <p:spPr>
          <a:xfrm>
            <a:off x="9741424" y="7406640"/>
            <a:ext cx="374673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(ب) شرح وتعريف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من المصادر المعتمدة مع المرجع، دون قطع</a:t>
            </a:r>
          </a:p>
        </p:txBody>
      </p:sp>
      <p:sp>
        <p:nvSpPr>
          <p:cNvPr id="407" name="Shape 407"/>
          <p:cNvSpPr/>
          <p:nvPr/>
        </p:nvSpPr>
        <p:spPr>
          <a:xfrm>
            <a:off x="9475470" y="7406640"/>
            <a:ext cx="85954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Shape 408"/>
          <p:cNvSpPr txBox="1"/>
          <p:nvPr/>
        </p:nvSpPr>
        <p:spPr>
          <a:xfrm>
            <a:off x="5548740" y="7406640"/>
            <a:ext cx="374673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(ج) مسائل خلافية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نعرض الثابت، ونبيّن الخلاف، ونحيل للمختص</a:t>
            </a:r>
          </a:p>
        </p:txBody>
      </p:sp>
      <p:sp>
        <p:nvSpPr>
          <p:cNvPr id="409" name="Shape 409"/>
          <p:cNvSpPr/>
          <p:nvPr/>
        </p:nvSpPr>
        <p:spPr>
          <a:xfrm>
            <a:off x="5282786" y="7406640"/>
            <a:ext cx="85954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Shape 410"/>
          <p:cNvSpPr txBox="1"/>
          <p:nvPr/>
        </p:nvSpPr>
        <p:spPr>
          <a:xfrm>
            <a:off x="1356056" y="7406640"/>
            <a:ext cx="3746730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(د) فتوى أو حالة شخصية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لا نقدّم حكمًا، ونحيل إلى جهة إفتاء رسمية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خطة الاختبار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نختبر الإجابات قبل أن تصل إلى المستخدم</a:t>
            </a:r>
          </a:p>
        </p:txBody>
      </p:sp>
      <p:sp>
        <p:nvSpPr>
          <p:cNvPr id="203" name="Band 203"/>
          <p:cNvSpPr/>
          <p:nvPr/>
        </p:nvSpPr>
        <p:spPr>
          <a:xfrm>
            <a:off x="533095" y="3017520"/>
            <a:ext cx="17467783" cy="594360"/>
          </a:xfrm>
          <a:custGeom>
            <a:avLst/>
            <a:gdLst/>
            <a:ahLst/>
            <a:cxnLst/>
            <a:rect l="l" t="t" r="r" b="b"/>
            <a:pathLst>
              <a:path w="17467783" h="594360">
                <a:moveTo>
                  <a:pt x="445024" y="0"/>
                </a:moveTo>
                <a:lnTo>
                  <a:pt x="17467783" y="0"/>
                </a:lnTo>
                <a:lnTo>
                  <a:pt x="17467783" y="594360"/>
                </a:lnTo>
                <a:lnTo>
                  <a:pt x="0" y="594360"/>
                </a:lnTo>
                <a:lnTo>
                  <a:pt x="0" y="393108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17914925" y="3017520"/>
            <a:ext cx="85954" cy="59436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5"/>
          <p:cNvSpPr txBox="1"/>
          <p:nvPr/>
        </p:nvSpPr>
        <p:spPr>
          <a:xfrm>
            <a:off x="14068958" y="3017520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نوع السؤال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8033918" y="3017520"/>
            <a:ext cx="5623560" cy="5943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مثال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624535" y="3017520"/>
            <a:ext cx="6997903" cy="5943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ما نتوقعه من الخريطة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14068958" y="361188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عن حدث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8033918" y="361188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متى كانت غزوة بدر؟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624535" y="361188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إجابة واضحة مع المصدر وموقع الحدث على الخريطة</a:t>
            </a:r>
          </a:p>
        </p:txBody>
      </p:sp>
      <p:sp>
        <p:nvSpPr>
          <p:cNvPr id="211" name="Shape 211"/>
          <p:cNvSpPr/>
          <p:nvPr/>
        </p:nvSpPr>
        <p:spPr>
          <a:xfrm>
            <a:off x="533095" y="415503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2"/>
          <p:cNvSpPr txBox="1"/>
          <p:nvPr/>
        </p:nvSpPr>
        <p:spPr>
          <a:xfrm>
            <a:off x="14068958" y="416052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عن سورة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8033918" y="416052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متى نزلت سورة الأنفال؟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624535" y="416052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بيان المرحلة التي نزلت فيها وما جرى وقتها، مع المصدر</a:t>
            </a:r>
          </a:p>
        </p:txBody>
      </p:sp>
      <p:sp>
        <p:nvSpPr>
          <p:cNvPr id="215" name="Shape 215"/>
          <p:cNvSpPr/>
          <p:nvPr/>
        </p:nvSpPr>
        <p:spPr>
          <a:xfrm>
            <a:off x="533095" y="470367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6"/>
          <p:cNvSpPr txBox="1"/>
          <p:nvPr/>
        </p:nvSpPr>
        <p:spPr>
          <a:xfrm>
            <a:off x="14068958" y="470916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عن صحابي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8033918" y="470916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من هو أبو بكر الصديق رضي الله عنه؟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624535" y="470916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تعريف مختصر به وبالأحداث التي شارك فيها، مع المصدر</a:t>
            </a:r>
          </a:p>
        </p:txBody>
      </p:sp>
      <p:sp>
        <p:nvSpPr>
          <p:cNvPr id="219" name="Shape 219"/>
          <p:cNvSpPr/>
          <p:nvPr/>
        </p:nvSpPr>
        <p:spPr>
          <a:xfrm>
            <a:off x="533095" y="525231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20"/>
          <p:cNvSpPr txBox="1"/>
          <p:nvPr/>
        </p:nvSpPr>
        <p:spPr>
          <a:xfrm>
            <a:off x="14068958" y="52578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بالإنجليزية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8033918" y="525780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0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Why did the Prophet ﷺ migrate to Madinah?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624535" y="525780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إجابة بالإنجليزية من المصادر نفسها وبالمصطلحات المعتمدة</a:t>
            </a:r>
          </a:p>
        </p:txBody>
      </p:sp>
      <p:sp>
        <p:nvSpPr>
          <p:cNvPr id="223" name="Shape 223"/>
          <p:cNvSpPr/>
          <p:nvPr/>
        </p:nvSpPr>
        <p:spPr>
          <a:xfrm>
            <a:off x="533095" y="580095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TextBox 224"/>
          <p:cNvSpPr txBox="1"/>
          <p:nvPr/>
        </p:nvSpPr>
        <p:spPr>
          <a:xfrm>
            <a:off x="14068958" y="580644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بلا مصدر كافٍ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8033918" y="580644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سؤال عن تفاصيل لا تذكرها المصادر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624535" y="580644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الاعتذار عن الإجابة، وتوجيه السائل إلى أقرب مركز إسلامي</a:t>
            </a:r>
          </a:p>
        </p:txBody>
      </p:sp>
      <p:sp>
        <p:nvSpPr>
          <p:cNvPr id="227" name="Shape 227"/>
          <p:cNvSpPr/>
          <p:nvPr/>
        </p:nvSpPr>
        <p:spPr>
          <a:xfrm>
            <a:off x="533095" y="634959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TextBox 228"/>
          <p:cNvSpPr txBox="1"/>
          <p:nvPr/>
        </p:nvSpPr>
        <p:spPr>
          <a:xfrm>
            <a:off x="14068958" y="635508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سؤال خارج النطاق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8033918" y="635508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طلب فتوى أو حكم فقهي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624535" y="635508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الاعتذار، وتوجيه السائل إلى جهة إفتاء رسمية</a:t>
            </a:r>
          </a:p>
        </p:txBody>
      </p:sp>
      <p:sp>
        <p:nvSpPr>
          <p:cNvPr id="231" name="Shape 231"/>
          <p:cNvSpPr/>
          <p:nvPr/>
        </p:nvSpPr>
        <p:spPr>
          <a:xfrm>
            <a:off x="533095" y="689823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TextBox 232"/>
          <p:cNvSpPr txBox="1"/>
          <p:nvPr/>
        </p:nvSpPr>
        <p:spPr>
          <a:xfrm>
            <a:off x="533095" y="7040880"/>
            <a:ext cx="17467783" cy="4114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604020202020204" charset="-78"/>
                <a:cs typeface="Saudi Bold" panose="020B0604020202020204" charset="-78"/>
              </a:rPr>
              <a:t>ما نقيسه في كل إجابة</a:t>
            </a:r>
          </a:p>
        </p:txBody>
      </p:sp>
      <p:sp>
        <p:nvSpPr>
          <p:cNvPr id="233" name="Shape 233"/>
          <p:cNvSpPr/>
          <p:nvPr/>
        </p:nvSpPr>
        <p:spPr>
          <a:xfrm>
            <a:off x="14726778" y="7543800"/>
            <a:ext cx="3274101" cy="13258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TextBox 234"/>
          <p:cNvSpPr txBox="1"/>
          <p:nvPr/>
        </p:nvSpPr>
        <p:spPr>
          <a:xfrm>
            <a:off x="14909658" y="7726680"/>
            <a:ext cx="2908341" cy="9601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صحة الإجابة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تطابق ما في المصادر المعتمدة</a:t>
            </a:r>
          </a:p>
        </p:txBody>
      </p:sp>
      <p:sp>
        <p:nvSpPr>
          <p:cNvPr id="235" name="Shape 235"/>
          <p:cNvSpPr/>
          <p:nvPr/>
        </p:nvSpPr>
        <p:spPr>
          <a:xfrm>
            <a:off x="11178357" y="7543800"/>
            <a:ext cx="3274101" cy="13258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6"/>
          <p:cNvSpPr txBox="1"/>
          <p:nvPr/>
        </p:nvSpPr>
        <p:spPr>
          <a:xfrm>
            <a:off x="11361237" y="7726680"/>
            <a:ext cx="2908341" cy="9601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ذكر المصدر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لكل إجابة مصدر واضح يمكن الرجوع إليه</a:t>
            </a:r>
          </a:p>
        </p:txBody>
      </p:sp>
      <p:sp>
        <p:nvSpPr>
          <p:cNvPr id="237" name="Shape 237"/>
          <p:cNvSpPr/>
          <p:nvPr/>
        </p:nvSpPr>
        <p:spPr>
          <a:xfrm>
            <a:off x="7629936" y="7543800"/>
            <a:ext cx="3274101" cy="13258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8"/>
          <p:cNvSpPr txBox="1"/>
          <p:nvPr/>
        </p:nvSpPr>
        <p:spPr>
          <a:xfrm>
            <a:off x="7812816" y="7726680"/>
            <a:ext cx="2908341" cy="9601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الاعتذار في موضعه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عند غياب المصدر أو خروج السؤال عن النطاق</a:t>
            </a:r>
          </a:p>
        </p:txBody>
      </p:sp>
      <p:sp>
        <p:nvSpPr>
          <p:cNvPr id="239" name="Shape 239"/>
          <p:cNvSpPr/>
          <p:nvPr/>
        </p:nvSpPr>
        <p:spPr>
          <a:xfrm>
            <a:off x="4081516" y="7543800"/>
            <a:ext cx="3274101" cy="13258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TextBox 240"/>
          <p:cNvSpPr txBox="1"/>
          <p:nvPr/>
        </p:nvSpPr>
        <p:spPr>
          <a:xfrm>
            <a:off x="4264396" y="7726680"/>
            <a:ext cx="2908341" cy="9601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ثبات الإجابة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السؤال نفسه يعطي الإجابة نفسها عند تكراره</a:t>
            </a:r>
          </a:p>
        </p:txBody>
      </p:sp>
      <p:sp>
        <p:nvSpPr>
          <p:cNvPr id="241" name="Shape 241"/>
          <p:cNvSpPr/>
          <p:nvPr/>
        </p:nvSpPr>
        <p:spPr>
          <a:xfrm>
            <a:off x="533095" y="7543800"/>
            <a:ext cx="3274101" cy="132588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2"/>
          <p:cNvSpPr txBox="1"/>
          <p:nvPr/>
        </p:nvSpPr>
        <p:spPr>
          <a:xfrm>
            <a:off x="715975" y="7726680"/>
            <a:ext cx="2908341" cy="9601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سرعة الإجابة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تصل الإجابة خلال ثوانٍ قليلة من السؤال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قابلية التنفيذ خلال مدة التحدي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خطة واضحة لأيام التحدي الثلاثة</a:t>
            </a:r>
          </a:p>
        </p:txBody>
      </p:sp>
      <p:sp>
        <p:nvSpPr>
          <p:cNvPr id="203" name="Shape 203"/>
          <p:cNvSpPr/>
          <p:nvPr/>
        </p:nvSpPr>
        <p:spPr>
          <a:xfrm>
            <a:off x="12605918" y="3063240"/>
            <a:ext cx="5394960" cy="310896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4"/>
          <p:cNvSpPr txBox="1"/>
          <p:nvPr/>
        </p:nvSpPr>
        <p:spPr>
          <a:xfrm>
            <a:off x="12834518" y="329184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اليوم الأول · الأحد 4 أكتوبر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جمع المحتوى وبناء الخريطة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جمع المصادر والأحداث وأماكنها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مراجعة المحتوى قبل إدخاله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بناء الخريطة والخط الزمني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النتيجة في نهاية اليوم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خريطة وخط زمني بالأحداث الكبرى</a:t>
            </a:r>
          </a:p>
        </p:txBody>
      </p:sp>
      <p:sp>
        <p:nvSpPr>
          <p:cNvPr id="205" name="Shape 205"/>
          <p:cNvSpPr/>
          <p:nvPr/>
        </p:nvSpPr>
        <p:spPr>
          <a:xfrm>
            <a:off x="6570878" y="3063240"/>
            <a:ext cx="5394960" cy="310896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6"/>
          <p:cNvSpPr txBox="1"/>
          <p:nvPr/>
        </p:nvSpPr>
        <p:spPr>
          <a:xfrm>
            <a:off x="6799478" y="329184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اليوم الثاني · الاثنين 5 أكتوبر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البطاقات والمساعد الذكي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بطاقات الأحداث والقصة خطوة بخطوة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المساعد الذكي وربطه بالخريطة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ترجمة كل بطاقة بعد إنجازها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النتيجة في نهاية اليوم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خريطة كاملة مع مساعد ذكي</a:t>
            </a:r>
          </a:p>
        </p:txBody>
      </p:sp>
      <p:sp>
        <p:nvSpPr>
          <p:cNvPr id="207" name="Shape 207"/>
          <p:cNvSpPr/>
          <p:nvPr/>
        </p:nvSpPr>
        <p:spPr>
          <a:xfrm>
            <a:off x="535838" y="3063240"/>
            <a:ext cx="5394960" cy="310896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TextBox 208"/>
          <p:cNvSpPr txBox="1"/>
          <p:nvPr/>
        </p:nvSpPr>
        <p:spPr>
          <a:xfrm>
            <a:off x="764438" y="329184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اليوم الثالث · الثلاثاء 6 أكتوبر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ar-SA" sz="24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المراجعة والاختبار والتسليم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مراجعة الترجمة وإكمالها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الاختبار وإصلاح الأخطاء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النشر والفيديو والعرض التقديمي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النتيجة في نهاية اليوم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منتج كامل يعمل ومسلّم في موعده</a:t>
            </a:r>
          </a:p>
        </p:txBody>
      </p:sp>
      <p:sp>
        <p:nvSpPr>
          <p:cNvPr id="209" name="Band 209"/>
          <p:cNvSpPr/>
          <p:nvPr/>
        </p:nvSpPr>
        <p:spPr>
          <a:xfrm>
            <a:off x="533095" y="6629400"/>
            <a:ext cx="17467783" cy="2194560"/>
          </a:xfrm>
          <a:custGeom>
            <a:avLst/>
            <a:gdLst/>
            <a:ahLst/>
            <a:cxnLst/>
            <a:rect l="l" t="t" r="r" b="b"/>
            <a:pathLst>
              <a:path w="17467783" h="2194560">
                <a:moveTo>
                  <a:pt x="855816" y="0"/>
                </a:moveTo>
                <a:lnTo>
                  <a:pt x="17467783" y="0"/>
                </a:lnTo>
                <a:lnTo>
                  <a:pt x="17467783" y="2194560"/>
                </a:lnTo>
                <a:lnTo>
                  <a:pt x="0" y="2194560"/>
                </a:lnTo>
                <a:lnTo>
                  <a:pt x="0" y="1451477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7914925" y="6629400"/>
            <a:ext cx="85954" cy="219456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1"/>
          <p:cNvSpPr txBox="1"/>
          <p:nvPr/>
        </p:nvSpPr>
        <p:spPr>
          <a:xfrm>
            <a:off x="1356055" y="6812280"/>
            <a:ext cx="16324783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8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خطط بديلة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2544044" y="7406640"/>
            <a:ext cx="5136794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إذا ضاق الوقت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نكمل الأحداث الكبرى أولًا، ونضيف البقية بعد التحدي</a:t>
            </a:r>
          </a:p>
        </p:txBody>
      </p:sp>
      <p:sp>
        <p:nvSpPr>
          <p:cNvPr id="213" name="Shape 213"/>
          <p:cNvSpPr/>
          <p:nvPr/>
        </p:nvSpPr>
        <p:spPr>
          <a:xfrm>
            <a:off x="12272467" y="7406640"/>
            <a:ext cx="85954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TextBox 214"/>
          <p:cNvSpPr txBox="1"/>
          <p:nvPr/>
        </p:nvSpPr>
        <p:spPr>
          <a:xfrm>
            <a:off x="6950050" y="7406640"/>
            <a:ext cx="5136794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إذا تعطل المساعد الذكي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ننتقل إلى نموذج ذكاء اصطناعي بديل، وتبقى الخريطة والمعلومات الموثقة متاحة</a:t>
            </a:r>
          </a:p>
        </p:txBody>
      </p:sp>
      <p:sp>
        <p:nvSpPr>
          <p:cNvPr id="215" name="Shape 215"/>
          <p:cNvSpPr/>
          <p:nvPr/>
        </p:nvSpPr>
        <p:spPr>
          <a:xfrm>
            <a:off x="6678473" y="7406640"/>
            <a:ext cx="85954" cy="1143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6"/>
          <p:cNvSpPr txBox="1"/>
          <p:nvPr/>
        </p:nvSpPr>
        <p:spPr>
          <a:xfrm>
            <a:off x="1356055" y="7406640"/>
            <a:ext cx="5136794" cy="123444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إذا توقفت الاستضافة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نختبر الرابط قبل التحكيم، ونجهز استضافة بديلة عند الحاجة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الأصالة والقيمة المضافة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ما الذي تضيفه بداية لمن يتعرف على السيرة</a:t>
            </a:r>
          </a:p>
        </p:txBody>
      </p:sp>
      <p:sp>
        <p:nvSpPr>
          <p:cNvPr id="203" name="Band 203"/>
          <p:cNvSpPr/>
          <p:nvPr/>
        </p:nvSpPr>
        <p:spPr>
          <a:xfrm>
            <a:off x="533095" y="3017520"/>
            <a:ext cx="17467783" cy="594360"/>
          </a:xfrm>
          <a:custGeom>
            <a:avLst/>
            <a:gdLst/>
            <a:ahLst/>
            <a:cxnLst/>
            <a:rect l="l" t="t" r="r" b="b"/>
            <a:pathLst>
              <a:path w="17467783" h="594360">
                <a:moveTo>
                  <a:pt x="445024" y="0"/>
                </a:moveTo>
                <a:lnTo>
                  <a:pt x="17467783" y="0"/>
                </a:lnTo>
                <a:lnTo>
                  <a:pt x="17467783" y="594360"/>
                </a:lnTo>
                <a:lnTo>
                  <a:pt x="0" y="594360"/>
                </a:lnTo>
                <a:lnTo>
                  <a:pt x="0" y="393108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17914925" y="3017520"/>
            <a:ext cx="85954" cy="59436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5"/>
          <p:cNvSpPr txBox="1"/>
          <p:nvPr/>
        </p:nvSpPr>
        <p:spPr>
          <a:xfrm>
            <a:off x="8033918" y="3017520"/>
            <a:ext cx="5989320" cy="5943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كيف تقدّمها بداية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624535" y="3017520"/>
            <a:ext cx="6997903" cy="5943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أثرها على المتعلم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14434718" y="361188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العرض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8033918" y="361188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السيرة قصة على خريطة وشريط زمني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624535" y="361188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يرى تسلسل الأحداث بوضوح</a:t>
            </a:r>
          </a:p>
        </p:txBody>
      </p:sp>
      <p:sp>
        <p:nvSpPr>
          <p:cNvPr id="210" name="Shape 210"/>
          <p:cNvSpPr/>
          <p:nvPr/>
        </p:nvSpPr>
        <p:spPr>
          <a:xfrm>
            <a:off x="533095" y="415503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1"/>
          <p:cNvSpPr txBox="1"/>
          <p:nvPr/>
        </p:nvSpPr>
        <p:spPr>
          <a:xfrm>
            <a:off x="14434718" y="416052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المكان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8033918" y="416052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كل حدث في موقعه على الخريطة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624535" y="416052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يربط الأماكن بالأحداث ويتخيلها</a:t>
            </a:r>
          </a:p>
        </p:txBody>
      </p:sp>
      <p:sp>
        <p:nvSpPr>
          <p:cNvPr id="214" name="Shape 214"/>
          <p:cNvSpPr/>
          <p:nvPr/>
        </p:nvSpPr>
        <p:spPr>
          <a:xfrm>
            <a:off x="533095" y="470367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TextBox 215"/>
          <p:cNvSpPr txBox="1"/>
          <p:nvPr/>
        </p:nvSpPr>
        <p:spPr>
          <a:xfrm>
            <a:off x="14434718" y="47091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القرآن والسيرة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8033918" y="470916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السور مربوطة بمراحلها بحسب المصادر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624535" y="470916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يفهم سياق نزول الآيات</a:t>
            </a:r>
          </a:p>
        </p:txBody>
      </p:sp>
      <p:sp>
        <p:nvSpPr>
          <p:cNvPr id="218" name="Shape 218"/>
          <p:cNvSpPr/>
          <p:nvPr/>
        </p:nvSpPr>
        <p:spPr>
          <a:xfrm>
            <a:off x="533095" y="525231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9"/>
          <p:cNvSpPr txBox="1"/>
          <p:nvPr/>
        </p:nvSpPr>
        <p:spPr>
          <a:xfrm>
            <a:off x="14434718" y="52578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الأسئلة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8033918" y="525780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مساعد يجيب من المصادر ويذكرها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624535" y="525780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يجد جواب سؤاله بسهولة</a:t>
            </a:r>
          </a:p>
        </p:txBody>
      </p:sp>
      <p:sp>
        <p:nvSpPr>
          <p:cNvPr id="222" name="Shape 222"/>
          <p:cNvSpPr/>
          <p:nvPr/>
        </p:nvSpPr>
        <p:spPr>
          <a:xfrm>
            <a:off x="533095" y="580095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Box 223"/>
          <p:cNvSpPr txBox="1"/>
          <p:nvPr/>
        </p:nvSpPr>
        <p:spPr>
          <a:xfrm>
            <a:off x="14434718" y="58064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اللغة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8033918" y="580644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العربية والإنجليزية بمصطلحات مراجعة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624535" y="5806440"/>
            <a:ext cx="6997903" cy="54864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يتعلم باللغة التي يفهمها</a:t>
            </a:r>
          </a:p>
        </p:txBody>
      </p:sp>
      <p:sp>
        <p:nvSpPr>
          <p:cNvPr id="226" name="Shape 226"/>
          <p:cNvSpPr/>
          <p:nvPr/>
        </p:nvSpPr>
        <p:spPr>
          <a:xfrm>
            <a:off x="533095" y="6349594"/>
            <a:ext cx="17467783" cy="10973"/>
          </a:xfrm>
          <a:prstGeom prst="rect">
            <a:avLst/>
          </a:prstGeom>
          <a:solidFill>
            <a:srgbClr val="8C775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Band 227"/>
          <p:cNvSpPr/>
          <p:nvPr/>
        </p:nvSpPr>
        <p:spPr>
          <a:xfrm>
            <a:off x="533095" y="6675120"/>
            <a:ext cx="17467783" cy="914400"/>
          </a:xfrm>
          <a:custGeom>
            <a:avLst/>
            <a:gdLst/>
            <a:ahLst/>
            <a:cxnLst/>
            <a:rect l="l" t="t" r="r" b="b"/>
            <a:pathLst>
              <a:path w="17467783" h="914400">
                <a:moveTo>
                  <a:pt x="684652" y="0"/>
                </a:moveTo>
                <a:lnTo>
                  <a:pt x="17467783" y="0"/>
                </a:lnTo>
                <a:lnTo>
                  <a:pt x="17467783" y="914400"/>
                </a:lnTo>
                <a:lnTo>
                  <a:pt x="0" y="914400"/>
                </a:lnTo>
                <a:lnTo>
                  <a:pt x="0" y="604782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8" name="Shape 228"/>
          <p:cNvSpPr/>
          <p:nvPr/>
        </p:nvSpPr>
        <p:spPr>
          <a:xfrm>
            <a:off x="17914925" y="6675120"/>
            <a:ext cx="85954" cy="9144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TextBox 229"/>
          <p:cNvSpPr txBox="1"/>
          <p:nvPr/>
        </p:nvSpPr>
        <p:spPr>
          <a:xfrm>
            <a:off x="1356055" y="6675120"/>
            <a:ext cx="16324783" cy="91440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3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الخلاصة   </a:t>
            </a:r>
            <a:r>
              <a:rPr lang="ar-SA" sz="24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بداية تكمّل كتب السيرة، وتقدّم محتواها المعتمد في تجربة تفاعلية مرتبة وموثقة</a:t>
            </a:r>
          </a:p>
        </p:txBody>
      </p:sp>
      <p:sp>
        <p:nvSpPr>
          <p:cNvPr id="230" name="Shape 230"/>
          <p:cNvSpPr/>
          <p:nvPr/>
        </p:nvSpPr>
        <p:spPr>
          <a:xfrm>
            <a:off x="17914925" y="7909560"/>
            <a:ext cx="85954" cy="118872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1"/>
          <p:cNvSpPr txBox="1"/>
          <p:nvPr/>
        </p:nvSpPr>
        <p:spPr>
          <a:xfrm>
            <a:off x="533095" y="7909560"/>
            <a:ext cx="17147743" cy="11887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400" noProof="0" dirty="0">
                <a:solidFill>
                  <a:srgbClr val="B49641"/>
                </a:solidFill>
                <a:latin typeface="Saudi Bold" panose="020B0604020202020204" charset="-78"/>
                <a:cs typeface="Saudi Bold" panose="020B0604020202020204" charset="-78"/>
              </a:rPr>
              <a:t>كيف نتحقق من ذلك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4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نجرّب الخريطة مع عدد من المستخدمين من الفئة المستهدفة، ونستمع إلى آرائهم: هل صارت السيرة أوضح لهم؟ وهل وجدوا إجابات أسئلتهم بسهولة؟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14434718" y="301752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rtlCol="1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2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الإضافة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D0821-FA45-3C37-7AB6-97594F1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1BFD07-2233-A549-2665-37E8B1EDAB42}"/>
              </a:ext>
            </a:extLst>
          </p:cNvPr>
          <p:cNvGrpSpPr/>
          <p:nvPr/>
        </p:nvGrpSpPr>
        <p:grpSpPr>
          <a:xfrm>
            <a:off x="533400" y="389594"/>
            <a:ext cx="1524000" cy="633084"/>
            <a:chOff x="95880" y="3430932"/>
            <a:chExt cx="5892801" cy="2447924"/>
          </a:xfrm>
          <a:solidFill>
            <a:srgbClr val="331B0D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11D3E-4B5C-2E8C-850C-7447289C892D}"/>
                </a:ext>
              </a:extLst>
            </p:cNvPr>
            <p:cNvSpPr/>
            <p:nvPr/>
          </p:nvSpPr>
          <p:spPr>
            <a:xfrm>
              <a:off x="5556881" y="3940326"/>
              <a:ext cx="431800" cy="1436880"/>
            </a:xfrm>
            <a:custGeom>
              <a:avLst/>
              <a:gdLst>
                <a:gd name="csX0" fmla="*/ 431800 w 431800"/>
                <a:gd name="csY0" fmla="*/ 0 h 1436880"/>
                <a:gd name="csX1" fmla="*/ 431800 w 431800"/>
                <a:gd name="csY1" fmla="*/ 1436880 h 1436880"/>
                <a:gd name="csX2" fmla="*/ 0 w 431800"/>
                <a:gd name="csY2" fmla="*/ 1436880 h 1436880"/>
                <a:gd name="csX3" fmla="*/ 0 w 431800"/>
                <a:gd name="csY3" fmla="*/ 410108 h 143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36880">
                  <a:moveTo>
                    <a:pt x="431800" y="0"/>
                  </a:moveTo>
                  <a:lnTo>
                    <a:pt x="431800" y="1436880"/>
                  </a:lnTo>
                  <a:lnTo>
                    <a:pt x="0" y="1436880"/>
                  </a:lnTo>
                  <a:lnTo>
                    <a:pt x="0" y="4101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480EE-A17A-2D48-EED7-3D522EA63B23}"/>
                </a:ext>
              </a:extLst>
            </p:cNvPr>
            <p:cNvSpPr/>
            <p:nvPr/>
          </p:nvSpPr>
          <p:spPr>
            <a:xfrm rot="16200000">
              <a:off x="4369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20D14-A3ED-B612-9BB1-43582B09E0E2}"/>
                </a:ext>
              </a:extLst>
            </p:cNvPr>
            <p:cNvSpPr/>
            <p:nvPr/>
          </p:nvSpPr>
          <p:spPr>
            <a:xfrm rot="16200000">
              <a:off x="5556881" y="5447056"/>
              <a:ext cx="431800" cy="431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347578-1FB3-BD19-8033-0A377AEC68F3}"/>
                </a:ext>
              </a:extLst>
            </p:cNvPr>
            <p:cNvSpPr/>
            <p:nvPr/>
          </p:nvSpPr>
          <p:spPr>
            <a:xfrm rot="19947114">
              <a:off x="3843794" y="3948999"/>
              <a:ext cx="431800" cy="1307141"/>
            </a:xfrm>
            <a:custGeom>
              <a:avLst/>
              <a:gdLst>
                <a:gd name="csX0" fmla="*/ 431800 w 431800"/>
                <a:gd name="csY0" fmla="*/ 0 h 1307141"/>
                <a:gd name="csX1" fmla="*/ 431800 w 431800"/>
                <a:gd name="csY1" fmla="*/ 1307141 h 1307141"/>
                <a:gd name="csX2" fmla="*/ 0 w 431800"/>
                <a:gd name="csY2" fmla="*/ 1307141 h 1307141"/>
                <a:gd name="csX3" fmla="*/ 0 w 431800"/>
                <a:gd name="csY3" fmla="*/ 123621 h 1307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307141">
                  <a:moveTo>
                    <a:pt x="431800" y="0"/>
                  </a:moveTo>
                  <a:lnTo>
                    <a:pt x="431800" y="1307141"/>
                  </a:lnTo>
                  <a:lnTo>
                    <a:pt x="0" y="1307141"/>
                  </a:lnTo>
                  <a:lnTo>
                    <a:pt x="0" y="1236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2C7C7-2C78-27DE-A2B4-D2120D8481B0}"/>
                </a:ext>
              </a:extLst>
            </p:cNvPr>
            <p:cNvSpPr/>
            <p:nvPr/>
          </p:nvSpPr>
          <p:spPr>
            <a:xfrm>
              <a:off x="2826381" y="3935756"/>
              <a:ext cx="431800" cy="1441450"/>
            </a:xfrm>
            <a:custGeom>
              <a:avLst/>
              <a:gdLst>
                <a:gd name="csX0" fmla="*/ 428457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398205 h 1441450"/>
                <a:gd name="csX5" fmla="*/ 611 w 431800"/>
                <a:gd name="csY5" fmla="*/ 406354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31800" h="1441450">
                  <a:moveTo>
                    <a:pt x="428457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398205"/>
                  </a:lnTo>
                  <a:lnTo>
                    <a:pt x="611" y="40635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9C3A31-E1D3-FA6C-6721-32805D4B6E1F}"/>
                </a:ext>
              </a:extLst>
            </p:cNvPr>
            <p:cNvSpPr/>
            <p:nvPr/>
          </p:nvSpPr>
          <p:spPr>
            <a:xfrm>
              <a:off x="2254881" y="3935756"/>
              <a:ext cx="431800" cy="1441450"/>
            </a:xfrm>
            <a:custGeom>
              <a:avLst/>
              <a:gdLst>
                <a:gd name="csX0" fmla="*/ 422089 w 431800"/>
                <a:gd name="csY0" fmla="*/ 0 h 1441450"/>
                <a:gd name="csX1" fmla="*/ 431800 w 431800"/>
                <a:gd name="csY1" fmla="*/ 0 h 1441450"/>
                <a:gd name="csX2" fmla="*/ 431800 w 431800"/>
                <a:gd name="csY2" fmla="*/ 1441450 h 1441450"/>
                <a:gd name="csX3" fmla="*/ 0 w 431800"/>
                <a:gd name="csY3" fmla="*/ 1441450 h 1441450"/>
                <a:gd name="csX4" fmla="*/ 0 w 431800"/>
                <a:gd name="csY4" fmla="*/ 400885 h 144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441450">
                  <a:moveTo>
                    <a:pt x="422089" y="0"/>
                  </a:moveTo>
                  <a:lnTo>
                    <a:pt x="431800" y="0"/>
                  </a:lnTo>
                  <a:lnTo>
                    <a:pt x="431800" y="1441450"/>
                  </a:lnTo>
                  <a:lnTo>
                    <a:pt x="0" y="1441450"/>
                  </a:lnTo>
                  <a:lnTo>
                    <a:pt x="0" y="40088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359F46-8BFC-EB66-1DC5-258D0990393A}"/>
                </a:ext>
              </a:extLst>
            </p:cNvPr>
            <p:cNvSpPr/>
            <p:nvPr/>
          </p:nvSpPr>
          <p:spPr>
            <a:xfrm rot="16200000">
              <a:off x="1067431" y="3973856"/>
              <a:ext cx="431800" cy="2374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108037-C60E-0130-B32F-32D7C4CE4CF1}"/>
                </a:ext>
              </a:extLst>
            </p:cNvPr>
            <p:cNvSpPr/>
            <p:nvPr/>
          </p:nvSpPr>
          <p:spPr>
            <a:xfrm>
              <a:off x="959481" y="3935756"/>
              <a:ext cx="431800" cy="131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EAF295-D7D9-2458-B54F-9D221C93355C}"/>
                </a:ext>
              </a:extLst>
            </p:cNvPr>
            <p:cNvSpPr/>
            <p:nvPr/>
          </p:nvSpPr>
          <p:spPr>
            <a:xfrm>
              <a:off x="95881" y="3963120"/>
              <a:ext cx="431800" cy="1414087"/>
            </a:xfrm>
            <a:custGeom>
              <a:avLst/>
              <a:gdLst>
                <a:gd name="csX0" fmla="*/ 431800 w 431800"/>
                <a:gd name="csY0" fmla="*/ 0 h 1414087"/>
                <a:gd name="csX1" fmla="*/ 431800 w 431800"/>
                <a:gd name="csY1" fmla="*/ 1414087 h 1414087"/>
                <a:gd name="csX2" fmla="*/ 0 w 431800"/>
                <a:gd name="csY2" fmla="*/ 1414087 h 1414087"/>
                <a:gd name="csX3" fmla="*/ 0 w 431800"/>
                <a:gd name="csY3" fmla="*/ 378706 h 1414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800" h="1414087">
                  <a:moveTo>
                    <a:pt x="431800" y="0"/>
                  </a:moveTo>
                  <a:lnTo>
                    <a:pt x="431800" y="1414087"/>
                  </a:lnTo>
                  <a:lnTo>
                    <a:pt x="0" y="1414087"/>
                  </a:lnTo>
                  <a:lnTo>
                    <a:pt x="0" y="3787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E152D4-AF7C-1AED-8663-3B6469D81924}"/>
                </a:ext>
              </a:extLst>
            </p:cNvPr>
            <p:cNvSpPr/>
            <p:nvPr/>
          </p:nvSpPr>
          <p:spPr>
            <a:xfrm rot="16200000">
              <a:off x="527681" y="3503955"/>
              <a:ext cx="431800" cy="1295401"/>
            </a:xfrm>
            <a:custGeom>
              <a:avLst/>
              <a:gdLst>
                <a:gd name="csX0" fmla="*/ 431800 w 431800"/>
                <a:gd name="csY0" fmla="*/ 458888 h 1295400"/>
                <a:gd name="csX1" fmla="*/ 431800 w 431800"/>
                <a:gd name="csY1" fmla="*/ 1295400 h 1295400"/>
                <a:gd name="csX2" fmla="*/ 0 w 431800"/>
                <a:gd name="csY2" fmla="*/ 1295400 h 1295400"/>
                <a:gd name="csX3" fmla="*/ 0 w 431800"/>
                <a:gd name="csY3" fmla="*/ 0 h 1295400"/>
                <a:gd name="csX4" fmla="*/ 29337 w 431800"/>
                <a:gd name="csY4" fmla="*/ 0 h 129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1800" h="1295400">
                  <a:moveTo>
                    <a:pt x="431800" y="458888"/>
                  </a:moveTo>
                  <a:lnTo>
                    <a:pt x="431800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2933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ar-S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EE0924-0191-EADD-319A-095FB0BC8DC8}"/>
                </a:ext>
              </a:extLst>
            </p:cNvPr>
            <p:cNvSpPr/>
            <p:nvPr/>
          </p:nvSpPr>
          <p:spPr>
            <a:xfrm rot="16200000">
              <a:off x="527681" y="3002307"/>
              <a:ext cx="431800" cy="1295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66BCFE-E421-19B4-93E9-0DDCBEC6CA02}"/>
                </a:ext>
              </a:extLst>
            </p:cNvPr>
            <p:cNvSpPr/>
            <p:nvPr/>
          </p:nvSpPr>
          <p:spPr>
            <a:xfrm rot="16200000">
              <a:off x="1953256" y="5145431"/>
              <a:ext cx="431800" cy="1035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58692A-CD9E-290F-129B-1BE5E3FB713B}"/>
                </a:ext>
              </a:extLst>
            </p:cNvPr>
            <p:cNvSpPr/>
            <p:nvPr/>
          </p:nvSpPr>
          <p:spPr>
            <a:xfrm rot="16200000">
              <a:off x="594356" y="4948581"/>
              <a:ext cx="431800" cy="14287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A839CF-81FD-890C-8985-9957360CF642}"/>
                </a:ext>
              </a:extLst>
            </p:cNvPr>
            <p:cNvSpPr/>
            <p:nvPr/>
          </p:nvSpPr>
          <p:spPr>
            <a:xfrm rot="16200000">
              <a:off x="3924931" y="4348506"/>
              <a:ext cx="431800" cy="2628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4BF04-9F53-A046-E6F6-4B2A92E49728}"/>
                </a:ext>
              </a:extLst>
            </p:cNvPr>
            <p:cNvSpPr/>
            <p:nvPr/>
          </p:nvSpPr>
          <p:spPr>
            <a:xfrm rot="16200000">
              <a:off x="3540756" y="1414807"/>
              <a:ext cx="431800" cy="4464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r-SA" noProof="0" dirty="0"/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7315200" y="1636776"/>
            <a:ext cx="10685678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4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تكوين الفريق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572000" y="2029968"/>
            <a:ext cx="13428878" cy="73152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40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فريق من ثلاثة أعضاء يغطي التقنية والمحتوى والاختبار</a:t>
            </a:r>
          </a:p>
        </p:txBody>
      </p:sp>
      <p:sp>
        <p:nvSpPr>
          <p:cNvPr id="203" name="Shape 203"/>
          <p:cNvSpPr/>
          <p:nvPr/>
        </p:nvSpPr>
        <p:spPr>
          <a:xfrm>
            <a:off x="12605918" y="3063240"/>
            <a:ext cx="5394960" cy="251460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4"/>
          <p:cNvSpPr txBox="1"/>
          <p:nvPr/>
        </p:nvSpPr>
        <p:spPr>
          <a:xfrm>
            <a:off x="12834518" y="329184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الذكاء الاصطناعي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</a:pPr>
            <a:r>
              <a:rPr lang="ar-SA" sz="28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عمر بن طالب</a:t>
            </a:r>
          </a:p>
          <a:p>
            <a:pPr algn="r" rtl="0">
              <a:spcBef>
                <a:spcPct val="0"/>
              </a:spcBef>
            </a:pPr>
            <a:r>
              <a:rPr lang="ar-SA" sz="16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omarbintalib.vercel.app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مسؤولياته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المساعد الذكي، والتبسيط والترجمة، وأسئلة الاختبار ودقة الإجابات</a:t>
            </a:r>
          </a:p>
        </p:txBody>
      </p:sp>
      <p:sp>
        <p:nvSpPr>
          <p:cNvPr id="205" name="Shape 205"/>
          <p:cNvSpPr/>
          <p:nvPr/>
        </p:nvSpPr>
        <p:spPr>
          <a:xfrm>
            <a:off x="6570878" y="3063240"/>
            <a:ext cx="5394960" cy="251460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6"/>
          <p:cNvSpPr txBox="1"/>
          <p:nvPr/>
        </p:nvSpPr>
        <p:spPr>
          <a:xfrm>
            <a:off x="6799478" y="329184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الواجهة وتجربة المستخدم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</a:pPr>
            <a:r>
              <a:rPr lang="ar-SA" sz="28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الياس التركستاني</a:t>
            </a:r>
          </a:p>
          <a:p>
            <a:pPr algn="r" rtl="0">
              <a:spcBef>
                <a:spcPct val="0"/>
              </a:spcBef>
            </a:pPr>
            <a:r>
              <a:rPr lang="ar-SA" sz="16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elyasos.vercel.app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مسؤولياته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بناء الخريطة والخط الزمني، وتصميم رحلة التعلم، ونشر الخريطة</a:t>
            </a:r>
          </a:p>
        </p:txBody>
      </p:sp>
      <p:sp>
        <p:nvSpPr>
          <p:cNvPr id="207" name="Shape 207"/>
          <p:cNvSpPr/>
          <p:nvPr/>
        </p:nvSpPr>
        <p:spPr>
          <a:xfrm>
            <a:off x="535838" y="3063240"/>
            <a:ext cx="5394960" cy="2514600"/>
          </a:xfrm>
          <a:prstGeom prst="rect">
            <a:avLst/>
          </a:prstGeom>
          <a:noFill/>
          <a:ln>
            <a:solidFill>
              <a:srgbClr val="331B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TextBox 208"/>
          <p:cNvSpPr txBox="1"/>
          <p:nvPr/>
        </p:nvSpPr>
        <p:spPr>
          <a:xfrm>
            <a:off x="764438" y="329184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1800" b="1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المحتوى والمراجعة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</a:pPr>
            <a:r>
              <a:rPr lang="ar-SA" sz="28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حسان الغامدي</a:t>
            </a:r>
          </a:p>
          <a:p>
            <a:pPr algn="r" rtl="0">
              <a:spcBef>
                <a:spcPct val="0"/>
              </a:spcBef>
            </a:pPr>
            <a:r>
              <a:rPr lang="ar-SA" sz="1600" noProof="0" dirty="0">
                <a:solidFill>
                  <a:srgbClr val="B49641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linkedin.com/in/hassan-algamdi-93890b290</a:t>
            </a:r>
          </a:p>
          <a:p>
            <a:pPr algn="r" rtl="1">
              <a:spcBef>
                <a:spcPct val="0"/>
              </a:spcBef>
            </a:pPr>
            <a:r>
              <a:rPr lang="ar-SA" sz="8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</a:pPr>
            <a:r>
              <a:rPr lang="ar-SA" sz="20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مسؤولياته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جمع المصادر، وإدخال الأحداث ومراجعتها، وقائمة المصطلحات ومراجعة الترجمة</a:t>
            </a:r>
          </a:p>
        </p:txBody>
      </p:sp>
      <p:sp>
        <p:nvSpPr>
          <p:cNvPr id="209" name="Band 209"/>
          <p:cNvSpPr/>
          <p:nvPr/>
        </p:nvSpPr>
        <p:spPr>
          <a:xfrm>
            <a:off x="533095" y="6172200"/>
            <a:ext cx="17467783" cy="2286000"/>
          </a:xfrm>
          <a:custGeom>
            <a:avLst/>
            <a:gdLst/>
            <a:ahLst/>
            <a:cxnLst/>
            <a:rect l="l" t="t" r="r" b="b"/>
            <a:pathLst>
              <a:path w="17467783" h="2286000">
                <a:moveTo>
                  <a:pt x="855816" y="0"/>
                </a:moveTo>
                <a:lnTo>
                  <a:pt x="17467783" y="0"/>
                </a:lnTo>
                <a:lnTo>
                  <a:pt x="17467783" y="2286000"/>
                </a:lnTo>
                <a:lnTo>
                  <a:pt x="0" y="2286000"/>
                </a:lnTo>
                <a:lnTo>
                  <a:pt x="0" y="1511956"/>
                </a:lnTo>
                <a:close/>
              </a:path>
            </a:pathLst>
          </a:custGeom>
          <a:solidFill>
            <a:srgbClr val="8C775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7914925" y="6172200"/>
            <a:ext cx="85954" cy="228600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1"/>
          <p:cNvSpPr txBox="1"/>
          <p:nvPr/>
        </p:nvSpPr>
        <p:spPr>
          <a:xfrm>
            <a:off x="1356055" y="6355080"/>
            <a:ext cx="16324783" cy="45720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2800" noProof="0" dirty="0">
                <a:solidFill>
                  <a:srgbClr val="B49641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طريقة العمل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3942543" y="6949440"/>
            <a:ext cx="3738296" cy="1325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التكامل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دمج الأجزاء في نهاية كل يوم لتبقى الخريطة تعمل</a:t>
            </a:r>
          </a:p>
        </p:txBody>
      </p:sp>
      <p:sp>
        <p:nvSpPr>
          <p:cNvPr id="213" name="Shape 213"/>
          <p:cNvSpPr/>
          <p:nvPr/>
        </p:nvSpPr>
        <p:spPr>
          <a:xfrm>
            <a:off x="13670966" y="6949440"/>
            <a:ext cx="85954" cy="123444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TextBox 214"/>
          <p:cNvSpPr txBox="1"/>
          <p:nvPr/>
        </p:nvSpPr>
        <p:spPr>
          <a:xfrm>
            <a:off x="9747047" y="6949440"/>
            <a:ext cx="3738296" cy="1325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المتابعة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لقاء يومي قصير لمراجعة التقدم وتوزيع المهام</a:t>
            </a:r>
          </a:p>
        </p:txBody>
      </p:sp>
      <p:sp>
        <p:nvSpPr>
          <p:cNvPr id="215" name="Shape 215"/>
          <p:cNvSpPr/>
          <p:nvPr/>
        </p:nvSpPr>
        <p:spPr>
          <a:xfrm>
            <a:off x="9475470" y="6949440"/>
            <a:ext cx="85954" cy="123444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6"/>
          <p:cNvSpPr txBox="1"/>
          <p:nvPr/>
        </p:nvSpPr>
        <p:spPr>
          <a:xfrm>
            <a:off x="5551551" y="6949440"/>
            <a:ext cx="3738296" cy="1325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الاختبار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كل عضو يختبر جزء</a:t>
            </a:r>
            <a:r>
              <a:rPr lang="ar-SA" sz="2000" noProof="0" dirty="0">
                <a:solidFill>
                  <a:srgbClr val="331B0D"/>
                </a:solidFill>
                <a:latin typeface="Dubai" panose="020B0503030403030204" pitchFamily="34" charset="-78"/>
                <a:ea typeface="Calibri" panose="020F0502020204030204" pitchFamily="34" charset="0"/>
                <a:cs typeface="Dubai" panose="020B0503030403030204" pitchFamily="34" charset="-78"/>
              </a:rPr>
              <a:t>ه</a:t>
            </a: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، ثم يختبر الفريق الخريطة كاملة</a:t>
            </a:r>
          </a:p>
        </p:txBody>
      </p:sp>
      <p:sp>
        <p:nvSpPr>
          <p:cNvPr id="217" name="Shape 217"/>
          <p:cNvSpPr/>
          <p:nvPr/>
        </p:nvSpPr>
        <p:spPr>
          <a:xfrm>
            <a:off x="5279974" y="6949440"/>
            <a:ext cx="85954" cy="1234440"/>
          </a:xfrm>
          <a:prstGeom prst="rect">
            <a:avLst/>
          </a:prstGeom>
          <a:solidFill>
            <a:srgbClr val="B496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TextBox 218"/>
          <p:cNvSpPr txBox="1"/>
          <p:nvPr/>
        </p:nvSpPr>
        <p:spPr>
          <a:xfrm>
            <a:off x="1356055" y="6949440"/>
            <a:ext cx="3738296" cy="132588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</a:pPr>
            <a:r>
              <a:rPr lang="ar-SA" sz="2200" b="1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ضبط الجودة</a:t>
            </a:r>
          </a:p>
          <a:p>
            <a:pPr algn="r" rtl="1">
              <a:lnSpc>
                <a:spcPct val="100000"/>
              </a:lnSpc>
              <a:spcBef>
                <a:spcPct val="0"/>
              </a:spcBef>
            </a:pPr>
            <a:r>
              <a:rPr lang="ar-SA" sz="2000" noProof="0" dirty="0">
                <a:solidFill>
                  <a:srgbClr val="331B0D"/>
                </a:solidFill>
                <a:latin typeface="Saudi" panose="020B0504010101010102" pitchFamily="34" charset="-78"/>
                <a:cs typeface="Saudi" panose="020B0504010101010102" pitchFamily="34" charset="-78"/>
              </a:rPr>
              <a:t>مطابقة كل معلومة بمصدرها المعتمد ومراجعتها قبل نشر</a:t>
            </a:r>
            <a:r>
              <a:rPr lang="ar-SA" sz="2000" noProof="0" dirty="0">
                <a:solidFill>
                  <a:srgbClr val="331B0D"/>
                </a:solidFill>
                <a:latin typeface="Dubai" panose="020B0503030403030204" pitchFamily="34" charset="-78"/>
                <a:ea typeface="Calibri" panose="020F0502020204030204" pitchFamily="34" charset="0"/>
                <a:cs typeface="Dubai" panose="020B0503030403030204" pitchFamily="34" charset="-78"/>
              </a:rPr>
              <a:t>ه</a:t>
            </a:r>
            <a:endParaRPr lang="ar-SA" sz="2000" noProof="0" dirty="0">
              <a:solidFill>
                <a:srgbClr val="331B0D"/>
              </a:solidFill>
              <a:latin typeface="Saudi" panose="020B0504010101010102" pitchFamily="34" charset="-78"/>
              <a:cs typeface="Saudi" panose="020B0504010101010102" pitchFamily="34" charset="-78"/>
            </a:endParaRPr>
          </a:p>
        </p:txBody>
      </p:sp>
      <p:sp>
        <p:nvSpPr>
          <p:cNvPr id="901" name="TextBox 901"/>
          <p:cNvSpPr txBox="1"/>
          <p:nvPr/>
        </p:nvSpPr>
        <p:spPr>
          <a:xfrm>
            <a:off x="17086478" y="940003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1" anchor="t">
            <a:noAutofit/>
          </a:bodyPr>
          <a:lstStyle/>
          <a:p>
            <a:pPr algn="r" rtl="1">
              <a:spcBef>
                <a:spcPct val="0"/>
              </a:spcBef>
            </a:pPr>
            <a:r>
              <a:rPr lang="ar-SA" sz="1800" noProof="0" dirty="0">
                <a:solidFill>
                  <a:srgbClr val="331B0D"/>
                </a:solidFill>
                <a:latin typeface="Saudi Bold" panose="020B0804010101010102" pitchFamily="34" charset="-78"/>
                <a:cs typeface="Saudi Bold" panose="020B0804010101010102" pitchFamily="34" charset="-78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13148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1293</Words>
  <Application>Microsoft Office PowerPoint</Application>
  <PresentationFormat>Custom</PresentationFormat>
  <Paragraphs>229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Saudi Bold</vt:lpstr>
      <vt:lpstr>Dubai</vt:lpstr>
      <vt:lpstr>Arial</vt:lpstr>
      <vt:lpstr>Saudi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Beige and Brown Simple Minimalist Clean Final Project Presentation</dc:title>
  <dc:creator>Elyas Turkistani</dc:creator>
  <cp:lastModifiedBy>HASAN BANDER AHMED ALGAMDI</cp:lastModifiedBy>
  <cp:revision>12</cp:revision>
  <dcterms:created xsi:type="dcterms:W3CDTF">2006-08-16T00:00:00Z</dcterms:created>
  <dcterms:modified xsi:type="dcterms:W3CDTF">2026-09-28T17:55:37Z</dcterms:modified>
  <dc:identifier>DAHWOksbpds</dc:identifier>
</cp:coreProperties>
</file>